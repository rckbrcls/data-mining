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2" r:id="rId3"/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7559675" cx="10080625"/>
  <p:notesSz cx="7772400" cy="10058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2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 . . . Isto é, como a natureza pode ajudar a resolver problemas do mundo real de uma forma geral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Possibilita por exemplo modelar automatica/te um sistema a partir de uma planilha de dados de exames médicos de pacientes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Essa é uma imagem feita por um fotógrafo que a apresenta como  ”a vida que cobre a Terra com uma pele”</a:t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Eu diria que a Natureza </a:t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veste ou enfeita a Terra, </a:t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Com uma Beleza que nos incentiva a cultivá-la, a criar jardins</a:t>
            </a:r>
            <a:br>
              <a:rPr lang="en-US"/>
            </a:br>
            <a:endParaRPr b="0" sz="2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Beleza que nos dá curiosidade de descobrir como a Natureza consegue fazer isso, de descobrir como a Natureza funciona</a:t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365760" y="4601160"/>
            <a:ext cx="72237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Na busca por esse entendimento uma série de curiosos e pesquisadores tem estudado Natureza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Mas os mecanimos mais intrincados exigiram trabalhos minuciosos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	Ao longo da vida de Darwin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	De duas gerações, pai e filho, os Braggs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	De trabablho em conjunto de Watson, Crick, Rosalind Franklin e Wilkins, que não se davam muito bem 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Descrever o processo evolutivo representado neste slide ...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777240" y="4777560"/>
            <a:ext cx="6217560" cy="4871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Lineu (Linaeu) foi teve grande destaque categorizando uma série de espécies (nomenclatura binomial), com grande contribuição na botânica, zoologia, 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A  ciência de classificação das espécies, chama-se SISTEMÁTICA, o trabalho de Lineu é a base da taxonomia moderna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Mas não a evolução das espécies . . 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Darwin, demais etapas do processo, outros pesquisadores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Prova estatisticamente de o processo é possível a partir de uma diversidade genética – Fisher – Teorema de Fisher – Teorema fundamental da Seleção Natural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Sociedades humanas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Diferente formas de vida e de pensar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Aprendem com diferentes anbientesde dif:erentes maneiras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 nomes sugestivos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Dar 1 exemplo de solução de EA e de ACO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5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5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6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7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5" name="Google Shape;385;p17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Semente de cajueiro 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Represeta uma forma/princípio báisca(o)/germinal de sistematizar a aquisição de conhecimento da Natureza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Essa forma de fazer Comp. Natural, explorando os elementos essências dos sistemas é apresentada a seguir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Primeiro apresento como nosso grupo de pesquisa tem feito isso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Depois apresento uma forma de sistematizar esse processo para o desenvolvimento de Algoritmos Evolutivos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8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8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9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9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0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0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1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1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2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1" name="Google Shape;461;p22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Retornando à investigação dos aspectos essênciais dos sistemas Naturais e algoritmos a partir deles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Desenvolvi um procedimento que possui dois elementos principais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3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3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4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4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5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5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6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0" name="Google Shape;530;p26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é o Passo entre roscas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- Espessura do filete / rosca 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7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0" name="Google Shape;550;p27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Essa é uma das formas de modelar o Mundo Real de projeto de Extrusoras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Limita-se o comprimento total da extrusora a um valor L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Não há um limite para a Temperatura Máxima da  Extrusora com um todo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	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8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6" name="Google Shape;556;p28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O modelo, grafo, 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Pode ser conhecimento a priori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Pode ser determinado automaticamente a partir de amostras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Isso depende do problema e da disponibilidade de informações sobre o mesmo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Em geral é determinado automaticamente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9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9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0:notes"/>
          <p:cNvSpPr/>
          <p:nvPr>
            <p:ph idx="2" type="sldImg"/>
          </p:nvPr>
        </p:nvSpPr>
        <p:spPr>
          <a:xfrm>
            <a:off x="1371600" y="764280"/>
            <a:ext cx="50286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6" name="Google Shape;626;p30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latin typeface="Arial"/>
                <a:ea typeface="Arial"/>
                <a:cs typeface="Arial"/>
                <a:sym typeface="Arial"/>
              </a:rPr>
              <a:t>Essa é a ideia básica do funcionamento de um AED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1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1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2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2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3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3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4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6" name="Google Shape;726;p34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latin typeface="Arial"/>
                <a:ea typeface="Arial"/>
                <a:cs typeface="Arial"/>
                <a:sym typeface="Arial"/>
              </a:rPr>
              <a:t>Dados embaralhados/ misturados e enroscados /  cheios de nós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35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6" name="Google Shape;736;p35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DAMICORE é o procedimento desenvolvido para </a:t>
            </a:r>
            <a:r>
              <a:rPr b="1" lang="en-US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sistematizar o processo de exploração da Natureza,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direto de dados Crus, se for preciso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Usa-se um arquivo para cada elemento do sistema em análise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6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6" name="Google Shape;756;p36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latin typeface="Arial"/>
                <a:ea typeface="Arial"/>
                <a:cs typeface="Arial"/>
                <a:sym typeface="Arial"/>
              </a:rPr>
              <a:t>Não obrigatoriamente tem que se usar a NCD</a:t>
            </a:r>
            <a:endParaRPr b="0" sz="13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latin typeface="Arial"/>
                <a:ea typeface="Arial"/>
                <a:cs typeface="Arial"/>
                <a:sym typeface="Arial"/>
              </a:rPr>
              <a:t>Ela é uma forma simples de tornar o procedimento genérico, para qualquer tipo de dado</a:t>
            </a:r>
            <a:endParaRPr b="0" sz="13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latin typeface="Arial"/>
                <a:ea typeface="Arial"/>
                <a:cs typeface="Arial"/>
                <a:sym typeface="Arial"/>
              </a:rPr>
              <a:t>Outras métricas podem ser usado no mesmo fluxo de processamento do DAMICORE</a:t>
            </a:r>
            <a:endParaRPr b="0" sz="13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latin typeface="Arial"/>
                <a:ea typeface="Arial"/>
                <a:cs typeface="Arial"/>
                <a:sym typeface="Arial"/>
              </a:rPr>
              <a:t>É até possível combinar o resultado de métricas diferentes a nível do grupos encontrados pelo DAMICORE, verificando o consenso dos grupos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37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7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38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8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39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8" name="Google Shape;828;p39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latin typeface="Arial"/>
                <a:ea typeface="Arial"/>
                <a:cs typeface="Arial"/>
                <a:sym typeface="Arial"/>
              </a:rPr>
              <a:t>Tab. Prob. ↔ Indica indica core mais adequado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latin typeface="Arial"/>
                <a:ea typeface="Arial"/>
                <a:cs typeface="Arial"/>
                <a:sym typeface="Arial"/>
              </a:rPr>
              <a:t>Evoluir os cores (variar caches) atualizando a Tab. Prob.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40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40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41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41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42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7" name="Google Shape;947;p42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latin typeface="Arial"/>
                <a:ea typeface="Arial"/>
                <a:cs typeface="Arial"/>
                <a:sym typeface="Arial"/>
              </a:rPr>
              <a:t>Nem sempre chegamos a um EDA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latin typeface="Arial"/>
                <a:ea typeface="Arial"/>
                <a:cs typeface="Arial"/>
                <a:sym typeface="Arial"/>
              </a:rPr>
              <a:t>Por exemplo na seleçãod e grupos de forma multiobjetiva 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latin typeface="Arial"/>
                <a:ea typeface="Arial"/>
                <a:cs typeface="Arial"/>
                <a:sym typeface="Arial"/>
              </a:rPr>
              <a:t>Veja este exemplo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43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43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44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7" name="Google Shape;1027;p44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Exemplo multibojetivo dos controladores para estabilidade de tensão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45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2" name="Google Shape;1092;p45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Comentar que o Teorema Fundamental da Seleção Natural de Fisher ajuda nessa formalização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46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5" name="Google Shape;1115;p46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Pode-se gerar modelo iniciais, só com Informações conforme disponível, sem ferramentas para pré-processar, etc 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Modelos simples como a organização dessas imagens de desertos e florestas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Que podem ser modelo úteis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47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3" name="Google Shape;1123;p47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Resumindo em outra linguagem as ideias desta apresentação pode-se dizer que . . . 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48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48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49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49:notes"/>
          <p:cNvSpPr/>
          <p:nvPr>
            <p:ph idx="2" type="sldImg"/>
          </p:nvPr>
        </p:nvSpPr>
        <p:spPr>
          <a:xfrm>
            <a:off x="1371600" y="764280"/>
            <a:ext cx="502848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504000" y="13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504000" y="13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504000" y="13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504000" y="1769040"/>
            <a:ext cx="432828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5049000" y="1769040"/>
            <a:ext cx="432828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504000" y="13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idx="1" type="subTitle"/>
          </p:nvPr>
        </p:nvSpPr>
        <p:spPr>
          <a:xfrm>
            <a:off x="504000" y="13320"/>
            <a:ext cx="9071640" cy="58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504000" y="13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504000" y="1769040"/>
            <a:ext cx="432828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5049000" y="1769040"/>
            <a:ext cx="432828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504000" y="4059360"/>
            <a:ext cx="432828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504000" y="13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504000" y="1769040"/>
            <a:ext cx="432828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5049000" y="1769040"/>
            <a:ext cx="432828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3" type="body"/>
          </p:nvPr>
        </p:nvSpPr>
        <p:spPr>
          <a:xfrm>
            <a:off x="5049000" y="4059360"/>
            <a:ext cx="432828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504000" y="13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04000" y="1769040"/>
            <a:ext cx="432828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5049000" y="1769040"/>
            <a:ext cx="432828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504000" y="4059360"/>
            <a:ext cx="887004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04000" y="13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504000" y="1769040"/>
            <a:ext cx="887004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504000" y="4059360"/>
            <a:ext cx="887004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504000" y="13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504000" y="1769040"/>
            <a:ext cx="432828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2" type="body"/>
          </p:nvPr>
        </p:nvSpPr>
        <p:spPr>
          <a:xfrm>
            <a:off x="5049000" y="1769040"/>
            <a:ext cx="432828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3" type="body"/>
          </p:nvPr>
        </p:nvSpPr>
        <p:spPr>
          <a:xfrm>
            <a:off x="504000" y="4059360"/>
            <a:ext cx="432828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4" type="body"/>
          </p:nvPr>
        </p:nvSpPr>
        <p:spPr>
          <a:xfrm>
            <a:off x="5049000" y="4059360"/>
            <a:ext cx="432828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504000" y="13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504000" y="1769040"/>
            <a:ext cx="285588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3503160" y="1769040"/>
            <a:ext cx="285588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6501960" y="1769040"/>
            <a:ext cx="285588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4" type="body"/>
          </p:nvPr>
        </p:nvSpPr>
        <p:spPr>
          <a:xfrm>
            <a:off x="504000" y="4059360"/>
            <a:ext cx="285588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5" type="body"/>
          </p:nvPr>
        </p:nvSpPr>
        <p:spPr>
          <a:xfrm>
            <a:off x="3503160" y="4059360"/>
            <a:ext cx="285588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6" type="body"/>
          </p:nvPr>
        </p:nvSpPr>
        <p:spPr>
          <a:xfrm>
            <a:off x="6501960" y="4059360"/>
            <a:ext cx="2855880" cy="209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504000" y="13320"/>
            <a:ext cx="9071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subTitle"/>
          </p:nvPr>
        </p:nvSpPr>
        <p:spPr>
          <a:xfrm>
            <a:off x="504000" y="1769040"/>
            <a:ext cx="8870100" cy="43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504000" y="13320"/>
            <a:ext cx="9071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504000" y="1769040"/>
            <a:ext cx="8870100" cy="4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>
            <a:off x="504000" y="13320"/>
            <a:ext cx="9071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504000" y="1769040"/>
            <a:ext cx="4328400" cy="4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2" type="body"/>
          </p:nvPr>
        </p:nvSpPr>
        <p:spPr>
          <a:xfrm>
            <a:off x="5049000" y="1769040"/>
            <a:ext cx="4328400" cy="4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504000" y="13320"/>
            <a:ext cx="9071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idx="1" type="subTitle"/>
          </p:nvPr>
        </p:nvSpPr>
        <p:spPr>
          <a:xfrm>
            <a:off x="504000" y="13320"/>
            <a:ext cx="9071700" cy="58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/>
          <p:nvPr>
            <p:ph type="title"/>
          </p:nvPr>
        </p:nvSpPr>
        <p:spPr>
          <a:xfrm>
            <a:off x="504000" y="13320"/>
            <a:ext cx="9071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" type="body"/>
          </p:nvPr>
        </p:nvSpPr>
        <p:spPr>
          <a:xfrm>
            <a:off x="504000" y="1769040"/>
            <a:ext cx="43284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2" type="body"/>
          </p:nvPr>
        </p:nvSpPr>
        <p:spPr>
          <a:xfrm>
            <a:off x="5049000" y="1769040"/>
            <a:ext cx="4328400" cy="4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3" type="body"/>
          </p:nvPr>
        </p:nvSpPr>
        <p:spPr>
          <a:xfrm>
            <a:off x="504000" y="4059360"/>
            <a:ext cx="43284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type="title"/>
          </p:nvPr>
        </p:nvSpPr>
        <p:spPr>
          <a:xfrm>
            <a:off x="504000" y="13320"/>
            <a:ext cx="9071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504000" y="1769040"/>
            <a:ext cx="4328400" cy="4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2" type="body"/>
          </p:nvPr>
        </p:nvSpPr>
        <p:spPr>
          <a:xfrm>
            <a:off x="5049000" y="1769040"/>
            <a:ext cx="43284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3" type="body"/>
          </p:nvPr>
        </p:nvSpPr>
        <p:spPr>
          <a:xfrm>
            <a:off x="5049000" y="4059360"/>
            <a:ext cx="43284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/>
          <p:nvPr>
            <p:ph type="title"/>
          </p:nvPr>
        </p:nvSpPr>
        <p:spPr>
          <a:xfrm>
            <a:off x="504000" y="13320"/>
            <a:ext cx="9071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1" type="body"/>
          </p:nvPr>
        </p:nvSpPr>
        <p:spPr>
          <a:xfrm>
            <a:off x="504000" y="1769040"/>
            <a:ext cx="43284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2" type="body"/>
          </p:nvPr>
        </p:nvSpPr>
        <p:spPr>
          <a:xfrm>
            <a:off x="5049000" y="1769040"/>
            <a:ext cx="43284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3" type="body"/>
          </p:nvPr>
        </p:nvSpPr>
        <p:spPr>
          <a:xfrm>
            <a:off x="504000" y="4059360"/>
            <a:ext cx="88701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type="title"/>
          </p:nvPr>
        </p:nvSpPr>
        <p:spPr>
          <a:xfrm>
            <a:off x="504000" y="13320"/>
            <a:ext cx="9071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1" type="body"/>
          </p:nvPr>
        </p:nvSpPr>
        <p:spPr>
          <a:xfrm>
            <a:off x="504000" y="1769040"/>
            <a:ext cx="88701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2" type="body"/>
          </p:nvPr>
        </p:nvSpPr>
        <p:spPr>
          <a:xfrm>
            <a:off x="504000" y="4059360"/>
            <a:ext cx="88701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504000" y="13320"/>
            <a:ext cx="9071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504000" y="1769040"/>
            <a:ext cx="43284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2" type="body"/>
          </p:nvPr>
        </p:nvSpPr>
        <p:spPr>
          <a:xfrm>
            <a:off x="5049000" y="1769040"/>
            <a:ext cx="43284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3" type="body"/>
          </p:nvPr>
        </p:nvSpPr>
        <p:spPr>
          <a:xfrm>
            <a:off x="504000" y="4059360"/>
            <a:ext cx="43284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4" type="body"/>
          </p:nvPr>
        </p:nvSpPr>
        <p:spPr>
          <a:xfrm>
            <a:off x="5049000" y="4059360"/>
            <a:ext cx="43284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504000" y="13320"/>
            <a:ext cx="9071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1" type="body"/>
          </p:nvPr>
        </p:nvSpPr>
        <p:spPr>
          <a:xfrm>
            <a:off x="504000" y="1769040"/>
            <a:ext cx="28560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2" type="body"/>
          </p:nvPr>
        </p:nvSpPr>
        <p:spPr>
          <a:xfrm>
            <a:off x="3503160" y="1769040"/>
            <a:ext cx="28560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3" type="body"/>
          </p:nvPr>
        </p:nvSpPr>
        <p:spPr>
          <a:xfrm>
            <a:off x="6501960" y="1769040"/>
            <a:ext cx="28560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4" type="body"/>
          </p:nvPr>
        </p:nvSpPr>
        <p:spPr>
          <a:xfrm>
            <a:off x="504000" y="4059360"/>
            <a:ext cx="28560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5" type="body"/>
          </p:nvPr>
        </p:nvSpPr>
        <p:spPr>
          <a:xfrm>
            <a:off x="3503160" y="4059360"/>
            <a:ext cx="28560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6" type="body"/>
          </p:nvPr>
        </p:nvSpPr>
        <p:spPr>
          <a:xfrm>
            <a:off x="6501960" y="4059360"/>
            <a:ext cx="28560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504000" y="13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02920" y="301320"/>
            <a:ext cx="90708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502920" y="1768320"/>
            <a:ext cx="9070800" cy="4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14"/>
          <p:cNvSpPr txBox="1"/>
          <p:nvPr>
            <p:ph idx="10" type="dt"/>
          </p:nvPr>
        </p:nvSpPr>
        <p:spPr>
          <a:xfrm>
            <a:off x="502920" y="6886080"/>
            <a:ext cx="2346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7" name="Google Shape;67;p14"/>
          <p:cNvSpPr txBox="1"/>
          <p:nvPr>
            <p:ph idx="11" type="ftr"/>
          </p:nvPr>
        </p:nvSpPr>
        <p:spPr>
          <a:xfrm>
            <a:off x="3448080" y="6886080"/>
            <a:ext cx="31938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7226280" y="6886080"/>
            <a:ext cx="23466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buNone/>
              <a:defRPr b="0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buNone/>
              <a:defRPr b="0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buNone/>
              <a:defRPr b="0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buNone/>
              <a:defRPr b="0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buNone/>
              <a:defRPr b="0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buNone/>
              <a:defRPr b="0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buNone/>
              <a:defRPr b="0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buNone/>
              <a:defRPr b="0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buNone/>
              <a:defRPr b="0" sz="14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11.png"/><Relationship Id="rId13" Type="http://schemas.openxmlformats.org/officeDocument/2006/relationships/image" Target="../media/image6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9" Type="http://schemas.openxmlformats.org/officeDocument/2006/relationships/image" Target="../media/image3.png"/><Relationship Id="rId14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27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0.png"/><Relationship Id="rId10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5.png"/><Relationship Id="rId4" Type="http://schemas.openxmlformats.org/officeDocument/2006/relationships/image" Target="../media/image15.png"/><Relationship Id="rId9" Type="http://schemas.openxmlformats.org/officeDocument/2006/relationships/image" Target="../media/image14.png"/><Relationship Id="rId5" Type="http://schemas.openxmlformats.org/officeDocument/2006/relationships/image" Target="../media/image32.png"/><Relationship Id="rId6" Type="http://schemas.openxmlformats.org/officeDocument/2006/relationships/image" Target="../media/image12.png"/><Relationship Id="rId7" Type="http://schemas.openxmlformats.org/officeDocument/2006/relationships/image" Target="../media/image23.png"/><Relationship Id="rId8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35.png"/><Relationship Id="rId13" Type="http://schemas.openxmlformats.org/officeDocument/2006/relationships/image" Target="../media/image30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7.png"/><Relationship Id="rId4" Type="http://schemas.openxmlformats.org/officeDocument/2006/relationships/image" Target="../media/image21.png"/><Relationship Id="rId9" Type="http://schemas.openxmlformats.org/officeDocument/2006/relationships/image" Target="../media/image63.png"/><Relationship Id="rId14" Type="http://schemas.openxmlformats.org/officeDocument/2006/relationships/image" Target="../media/image41.png"/><Relationship Id="rId5" Type="http://schemas.openxmlformats.org/officeDocument/2006/relationships/image" Target="../media/image25.png"/><Relationship Id="rId6" Type="http://schemas.openxmlformats.org/officeDocument/2006/relationships/image" Target="../media/image20.png"/><Relationship Id="rId7" Type="http://schemas.openxmlformats.org/officeDocument/2006/relationships/image" Target="../media/image36.png"/><Relationship Id="rId8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Relationship Id="rId4" Type="http://schemas.openxmlformats.org/officeDocument/2006/relationships/image" Target="../media/image4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6.png"/></Relationships>
</file>

<file path=ppt/slides/_rels/slide16.xml.rels><?xml version="1.0" encoding="UTF-8" standalone="yes"?><Relationships xmlns="http://schemas.openxmlformats.org/package/2006/relationships"><Relationship Id="rId10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5.png"/><Relationship Id="rId4" Type="http://schemas.openxmlformats.org/officeDocument/2006/relationships/image" Target="../media/image72.png"/><Relationship Id="rId9" Type="http://schemas.openxmlformats.org/officeDocument/2006/relationships/image" Target="../media/image65.png"/><Relationship Id="rId5" Type="http://schemas.openxmlformats.org/officeDocument/2006/relationships/image" Target="../media/image54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9.jpg"/><Relationship Id="rId4" Type="http://schemas.openxmlformats.org/officeDocument/2006/relationships/image" Target="../media/image53.jpg"/><Relationship Id="rId5" Type="http://schemas.openxmlformats.org/officeDocument/2006/relationships/image" Target="../media/image52.jpg"/><Relationship Id="rId6" Type="http://schemas.openxmlformats.org/officeDocument/2006/relationships/image" Target="../media/image68.png"/><Relationship Id="rId7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3.jpg"/><Relationship Id="rId4" Type="http://schemas.openxmlformats.org/officeDocument/2006/relationships/image" Target="../media/image52.jpg"/><Relationship Id="rId5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1.png"/><Relationship Id="rId4" Type="http://schemas.openxmlformats.org/officeDocument/2006/relationships/image" Target="../media/image48.png"/><Relationship Id="rId5" Type="http://schemas.openxmlformats.org/officeDocument/2006/relationships/image" Target="../media/image56.png"/><Relationship Id="rId6" Type="http://schemas.openxmlformats.org/officeDocument/2006/relationships/image" Target="../media/image6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0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73.png"/><Relationship Id="rId5" Type="http://schemas.openxmlformats.org/officeDocument/2006/relationships/image" Target="../media/image57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7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7.png"/><Relationship Id="rId4" Type="http://schemas.openxmlformats.org/officeDocument/2006/relationships/image" Target="../media/image6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2.png"/><Relationship Id="rId4" Type="http://schemas.openxmlformats.org/officeDocument/2006/relationships/image" Target="../media/image7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6.png"/><Relationship Id="rId4" Type="http://schemas.openxmlformats.org/officeDocument/2006/relationships/image" Target="../media/image75.png"/><Relationship Id="rId5" Type="http://schemas.openxmlformats.org/officeDocument/2006/relationships/image" Target="../media/image80.png"/><Relationship Id="rId6" Type="http://schemas.openxmlformats.org/officeDocument/2006/relationships/image" Target="../media/image7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9.png"/><Relationship Id="rId4" Type="http://schemas.openxmlformats.org/officeDocument/2006/relationships/image" Target="../media/image79.png"/><Relationship Id="rId5" Type="http://schemas.openxmlformats.org/officeDocument/2006/relationships/image" Target="../media/image93.png"/></Relationships>
</file>

<file path=ppt/slides/_rels/slide39.xml.rels><?xml version="1.0" encoding="UTF-8" standalone="yes"?><Relationships xmlns="http://schemas.openxmlformats.org/package/2006/relationships"><Relationship Id="rId10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9.png"/><Relationship Id="rId4" Type="http://schemas.openxmlformats.org/officeDocument/2006/relationships/image" Target="../media/image79.png"/><Relationship Id="rId9" Type="http://schemas.openxmlformats.org/officeDocument/2006/relationships/image" Target="../media/image87.png"/><Relationship Id="rId5" Type="http://schemas.openxmlformats.org/officeDocument/2006/relationships/image" Target="../media/image93.png"/><Relationship Id="rId6" Type="http://schemas.openxmlformats.org/officeDocument/2006/relationships/image" Target="../media/image84.png"/><Relationship Id="rId7" Type="http://schemas.openxmlformats.org/officeDocument/2006/relationships/image" Target="../media/image81.png"/><Relationship Id="rId8" Type="http://schemas.openxmlformats.org/officeDocument/2006/relationships/image" Target="../media/image8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5.png"/><Relationship Id="rId4" Type="http://schemas.openxmlformats.org/officeDocument/2006/relationships/image" Target="../media/image9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0.png"/><Relationship Id="rId4" Type="http://schemas.openxmlformats.org/officeDocument/2006/relationships/image" Target="../media/image8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/>
        </p:nvSpPr>
        <p:spPr>
          <a:xfrm>
            <a:off x="504000" y="358920"/>
            <a:ext cx="9071640" cy="193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latin typeface="Arial"/>
                <a:ea typeface="Arial"/>
                <a:cs typeface="Arial"/>
                <a:sym typeface="Arial"/>
              </a:rPr>
              <a:t>Algoritmo de Estimação de Distribuição de Propósito Geral: </a:t>
            </a:r>
            <a:r>
              <a:rPr b="1" i="0" lang="en-US" sz="2400" u="none" cap="none" strike="noStrike">
                <a:latin typeface="Arial"/>
                <a:ea typeface="Arial"/>
                <a:cs typeface="Arial"/>
                <a:sym typeface="Arial"/>
              </a:rPr>
              <a:t>como inspirações na natureza podem ajudar com qualquer tipo de problema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468000" y="3657600"/>
            <a:ext cx="887004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Alexandre Delbem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Universidade de São Paulo - USP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latin typeface="Arial"/>
                <a:ea typeface="Arial"/>
                <a:cs typeface="Arial"/>
                <a:sym typeface="Arial"/>
              </a:rPr>
              <a:t>São Carlos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latin typeface="Arial"/>
                <a:ea typeface="Arial"/>
                <a:cs typeface="Arial"/>
                <a:sym typeface="Arial"/>
              </a:rPr>
              <a:t>São Carlos – SP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latin typeface="Arial"/>
                <a:ea typeface="Arial"/>
                <a:cs typeface="Arial"/>
                <a:sym typeface="Arial"/>
              </a:rPr>
              <a:t>Fevereiro, 2017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/>
          <p:nvPr/>
        </p:nvSpPr>
        <p:spPr>
          <a:xfrm>
            <a:off x="504000" y="13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latin typeface="Arial"/>
                <a:ea typeface="Arial"/>
                <a:cs typeface="Arial"/>
                <a:sym typeface="Arial"/>
              </a:rPr>
              <a:t>Sumário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8"/>
          <p:cNvSpPr txBox="1"/>
          <p:nvPr/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A Natureza 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Inspiração para uma infinidade de algoritmos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A relevância dos algoritmos que têm sido gerados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Apresentar uma forma sintética de modelagem de Algoritmos de Estimação de Distribuição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Para situações práticas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8000" lvl="2" marL="1296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latin typeface="Arial"/>
                <a:ea typeface="Arial"/>
                <a:cs typeface="Arial"/>
                <a:sym typeface="Arial"/>
              </a:rPr>
              <a:t>qualquer tipo de dado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9420" lvl="2" marL="1296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Aplicações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Conclusões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5440" y="1662840"/>
            <a:ext cx="10171440" cy="5905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9"/>
          <p:cNvSpPr txBox="1"/>
          <p:nvPr/>
        </p:nvSpPr>
        <p:spPr>
          <a:xfrm>
            <a:off x="504000" y="337320"/>
            <a:ext cx="937152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latin typeface="Arial"/>
                <a:ea typeface="Arial"/>
                <a:cs typeface="Arial"/>
                <a:sym typeface="Arial"/>
              </a:rPr>
              <a:t>Natureza: beleza exuberante, </a:t>
            </a:r>
            <a:br>
              <a:rPr b="0" i="0" lang="en-US" sz="1800" u="none" cap="none" strike="noStrike"/>
            </a:br>
            <a:r>
              <a:rPr b="1" i="0" lang="en-US" sz="4400" u="none" cap="none" strike="noStrike">
                <a:latin typeface="Arial"/>
                <a:ea typeface="Arial"/>
                <a:cs typeface="Arial"/>
                <a:sym typeface="Arial"/>
              </a:rPr>
              <a:t>fonte de motivação e curiosidades 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9"/>
          <p:cNvSpPr txBox="1"/>
          <p:nvPr/>
        </p:nvSpPr>
        <p:spPr>
          <a:xfrm>
            <a:off x="8534520" y="6965640"/>
            <a:ext cx="189684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Fonte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TED Talks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Frans Lanting, 2005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00" y="4699800"/>
            <a:ext cx="2437920" cy="274284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0"/>
          <p:cNvSpPr txBox="1"/>
          <p:nvPr/>
        </p:nvSpPr>
        <p:spPr>
          <a:xfrm>
            <a:off x="504000" y="3600"/>
            <a:ext cx="9071640" cy="626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Natureza: ciência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4160" y="1956240"/>
            <a:ext cx="3047760" cy="1761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0640" y="1410840"/>
            <a:ext cx="1983600" cy="2432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4840" y="3635640"/>
            <a:ext cx="2530440" cy="1981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3600" y="5633280"/>
            <a:ext cx="3283920" cy="160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0"/>
          <p:cNvSpPr txBox="1"/>
          <p:nvPr/>
        </p:nvSpPr>
        <p:spPr>
          <a:xfrm>
            <a:off x="110880" y="70768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Watson e Crick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200" y="2769840"/>
            <a:ext cx="1036080" cy="1192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6720" y="2769840"/>
            <a:ext cx="1008720" cy="1192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0"/>
          <p:cNvSpPr txBox="1"/>
          <p:nvPr/>
        </p:nvSpPr>
        <p:spPr>
          <a:xfrm>
            <a:off x="55440" y="3981600"/>
            <a:ext cx="2011680" cy="602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Braggs, pai e filho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1912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0"/>
          <p:cNvSpPr txBox="1"/>
          <p:nvPr/>
        </p:nvSpPr>
        <p:spPr>
          <a:xfrm>
            <a:off x="6492240" y="7076880"/>
            <a:ext cx="3587760" cy="3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Peixe    Galinha  Porco Humano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43760" y="4918320"/>
            <a:ext cx="640080" cy="62352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0"/>
          <p:cNvSpPr txBox="1"/>
          <p:nvPr/>
        </p:nvSpPr>
        <p:spPr>
          <a:xfrm>
            <a:off x="3491280" y="4957200"/>
            <a:ext cx="1097280" cy="111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RosalindFranklin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1953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43760" y="4918320"/>
            <a:ext cx="640080" cy="623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07760" y="4735440"/>
            <a:ext cx="91152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507760" y="5671440"/>
            <a:ext cx="914400" cy="1774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0"/>
          <p:cNvSpPr txBox="1"/>
          <p:nvPr/>
        </p:nvSpPr>
        <p:spPr>
          <a:xfrm>
            <a:off x="3495960" y="7081560"/>
            <a:ext cx="1097280" cy="39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Wilkins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" name="Google Shape;157;p30"/>
          <p:cNvGrpSpPr/>
          <p:nvPr/>
        </p:nvGrpSpPr>
        <p:grpSpPr>
          <a:xfrm>
            <a:off x="3551040" y="4043160"/>
            <a:ext cx="1935360" cy="914400"/>
            <a:chOff x="3551040" y="4043160"/>
            <a:chExt cx="1935360" cy="914400"/>
          </a:xfrm>
        </p:grpSpPr>
        <p:sp>
          <p:nvSpPr>
            <p:cNvPr id="158" name="Google Shape;158;p30"/>
            <p:cNvSpPr/>
            <p:nvPr/>
          </p:nvSpPr>
          <p:spPr>
            <a:xfrm>
              <a:off x="3551040" y="4043160"/>
              <a:ext cx="1898640" cy="914400"/>
            </a:xfrm>
            <a:custGeom>
              <a:rect b="b" l="l" r="r" t="t"/>
              <a:pathLst>
                <a:path extrusionOk="0" h="2540" w="5274">
                  <a:moveTo>
                    <a:pt x="114" y="2539"/>
                  </a:moveTo>
                  <a:cubicBezTo>
                    <a:pt x="99" y="2178"/>
                    <a:pt x="0" y="1816"/>
                    <a:pt x="62" y="1454"/>
                  </a:cubicBezTo>
                  <a:cubicBezTo>
                    <a:pt x="147" y="951"/>
                    <a:pt x="703" y="606"/>
                    <a:pt x="1204" y="342"/>
                  </a:cubicBezTo>
                  <a:cubicBezTo>
                    <a:pt x="1650" y="109"/>
                    <a:pt x="2222" y="63"/>
                    <a:pt x="2759" y="43"/>
                  </a:cubicBezTo>
                  <a:cubicBezTo>
                    <a:pt x="3273" y="22"/>
                    <a:pt x="3791" y="0"/>
                    <a:pt x="4297" y="70"/>
                  </a:cubicBezTo>
                  <a:lnTo>
                    <a:pt x="4776" y="80"/>
                  </a:lnTo>
                  <a:lnTo>
                    <a:pt x="5270" y="236"/>
                  </a:lnTo>
                  <a:lnTo>
                    <a:pt x="5273" y="27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9" name="Google Shape;159;p30"/>
            <p:cNvCxnSpPr/>
            <p:nvPr/>
          </p:nvCxnSpPr>
          <p:spPr>
            <a:xfrm rot="10800000">
              <a:off x="5296320" y="4166280"/>
              <a:ext cx="190080" cy="288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30"/>
            <p:cNvCxnSpPr/>
            <p:nvPr/>
          </p:nvCxnSpPr>
          <p:spPr>
            <a:xfrm rot="10800000">
              <a:off x="5474880" y="4048200"/>
              <a:ext cx="11160" cy="11664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1" name="Google Shape;161;p30"/>
          <p:cNvSpPr txBox="1"/>
          <p:nvPr/>
        </p:nvSpPr>
        <p:spPr>
          <a:xfrm>
            <a:off x="2086560" y="1061280"/>
            <a:ext cx="2468880" cy="602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Kendrew, Perutz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1958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" name="Google Shape;162;p30"/>
          <p:cNvGrpSpPr/>
          <p:nvPr/>
        </p:nvGrpSpPr>
        <p:grpSpPr>
          <a:xfrm>
            <a:off x="8768880" y="4845960"/>
            <a:ext cx="1198080" cy="711000"/>
            <a:chOff x="8768880" y="4845960"/>
            <a:chExt cx="1198080" cy="711000"/>
          </a:xfrm>
        </p:grpSpPr>
        <p:sp>
          <p:nvSpPr>
            <p:cNvPr id="163" name="Google Shape;163;p30"/>
            <p:cNvSpPr/>
            <p:nvPr/>
          </p:nvSpPr>
          <p:spPr>
            <a:xfrm>
              <a:off x="8768880" y="4845960"/>
              <a:ext cx="1175760" cy="711000"/>
            </a:xfrm>
            <a:custGeom>
              <a:rect b="b" l="l" r="r" t="t"/>
              <a:pathLst>
                <a:path extrusionOk="0" h="1975" w="3266">
                  <a:moveTo>
                    <a:pt x="71" y="0"/>
                  </a:moveTo>
                  <a:cubicBezTo>
                    <a:pt x="61" y="281"/>
                    <a:pt x="0" y="563"/>
                    <a:pt x="39" y="844"/>
                  </a:cubicBezTo>
                  <a:cubicBezTo>
                    <a:pt x="91" y="1234"/>
                    <a:pt x="435" y="1502"/>
                    <a:pt x="746" y="1708"/>
                  </a:cubicBezTo>
                  <a:cubicBezTo>
                    <a:pt x="1021" y="1889"/>
                    <a:pt x="1376" y="1925"/>
                    <a:pt x="1708" y="1941"/>
                  </a:cubicBezTo>
                  <a:cubicBezTo>
                    <a:pt x="2026" y="1957"/>
                    <a:pt x="2347" y="1974"/>
                    <a:pt x="2660" y="1920"/>
                  </a:cubicBezTo>
                  <a:lnTo>
                    <a:pt x="2957" y="1911"/>
                  </a:lnTo>
                  <a:lnTo>
                    <a:pt x="3263" y="1790"/>
                  </a:lnTo>
                  <a:lnTo>
                    <a:pt x="3265" y="176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4" name="Google Shape;164;p30"/>
            <p:cNvCxnSpPr/>
            <p:nvPr/>
          </p:nvCxnSpPr>
          <p:spPr>
            <a:xfrm flipH="1">
              <a:off x="9849240" y="5458680"/>
              <a:ext cx="117720" cy="21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30"/>
            <p:cNvCxnSpPr/>
            <p:nvPr/>
          </p:nvCxnSpPr>
          <p:spPr>
            <a:xfrm flipH="1">
              <a:off x="9959760" y="5461920"/>
              <a:ext cx="6840" cy="9072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66" name="Google Shape;166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1560" y="1005840"/>
            <a:ext cx="1035720" cy="13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6160" y="1005840"/>
            <a:ext cx="989280" cy="13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3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197440" y="1920240"/>
            <a:ext cx="2103120" cy="2031120"/>
          </a:xfrm>
          <a:prstGeom prst="rect">
            <a:avLst/>
          </a:prstGeom>
          <a:noFill/>
          <a:ln cap="flat" cmpd="sng" w="183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69" name="Google Shape;169;p30"/>
          <p:cNvCxnSpPr/>
          <p:nvPr/>
        </p:nvCxnSpPr>
        <p:spPr>
          <a:xfrm rot="10800000">
            <a:off x="1097280" y="2373840"/>
            <a:ext cx="0" cy="27792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" name="Google Shape;170;p30"/>
          <p:cNvCxnSpPr/>
          <p:nvPr/>
        </p:nvCxnSpPr>
        <p:spPr>
          <a:xfrm>
            <a:off x="1077840" y="4333680"/>
            <a:ext cx="0" cy="286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1" name="Google Shape;171;p30"/>
          <p:cNvSpPr txBox="1"/>
          <p:nvPr/>
        </p:nvSpPr>
        <p:spPr>
          <a:xfrm>
            <a:off x="8364240" y="1373400"/>
            <a:ext cx="1145520" cy="602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Darwin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1859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8520" y="2712240"/>
            <a:ext cx="6733800" cy="39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1"/>
          <p:cNvSpPr txBox="1"/>
          <p:nvPr/>
        </p:nvSpPr>
        <p:spPr>
          <a:xfrm>
            <a:off x="7104960" y="6599160"/>
            <a:ext cx="1920240" cy="77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(Soares, AHM, 2013) a partir das sequencias do conjunto rbcL_55 (Cancino &amp; Delbem 2007)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1"/>
          <p:cNvSpPr txBox="1"/>
          <p:nvPr/>
        </p:nvSpPr>
        <p:spPr>
          <a:xfrm>
            <a:off x="504000" y="49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Natureza: evolução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p31"/>
          <p:cNvGrpSpPr/>
          <p:nvPr/>
        </p:nvGrpSpPr>
        <p:grpSpPr>
          <a:xfrm>
            <a:off x="521280" y="1239840"/>
            <a:ext cx="2194560" cy="3991680"/>
            <a:chOff x="521280" y="1239840"/>
            <a:chExt cx="2194560" cy="3991680"/>
          </a:xfrm>
        </p:grpSpPr>
        <p:pic>
          <p:nvPicPr>
            <p:cNvPr id="180" name="Google Shape;18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1280" y="1239840"/>
              <a:ext cx="1188720" cy="14378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31"/>
            <p:cNvSpPr txBox="1"/>
            <p:nvPr/>
          </p:nvSpPr>
          <p:spPr>
            <a:xfrm>
              <a:off x="1710000" y="2102400"/>
              <a:ext cx="1005840" cy="6022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Lineu 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1735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2" name="Google Shape;182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1280" y="2713680"/>
              <a:ext cx="1587240" cy="251784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3" name="Google Shape;183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0720" y="1296720"/>
            <a:ext cx="1174320" cy="144648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1"/>
          <p:cNvSpPr txBox="1"/>
          <p:nvPr/>
        </p:nvSpPr>
        <p:spPr>
          <a:xfrm>
            <a:off x="3657600" y="2140560"/>
            <a:ext cx="1005840" cy="602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Darwin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1859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" name="Google Shape;185;p31"/>
          <p:cNvGrpSpPr/>
          <p:nvPr/>
        </p:nvGrpSpPr>
        <p:grpSpPr>
          <a:xfrm>
            <a:off x="7583760" y="1299600"/>
            <a:ext cx="1911600" cy="1441800"/>
            <a:chOff x="7583760" y="1299600"/>
            <a:chExt cx="1911600" cy="1441800"/>
          </a:xfrm>
        </p:grpSpPr>
        <p:pic>
          <p:nvPicPr>
            <p:cNvPr id="186" name="Google Shape;186;p3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412480" y="1299600"/>
              <a:ext cx="1082880" cy="14241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" name="Google Shape;187;p31"/>
            <p:cNvSpPr txBox="1"/>
            <p:nvPr/>
          </p:nvSpPr>
          <p:spPr>
            <a:xfrm>
              <a:off x="7583760" y="2139120"/>
              <a:ext cx="814680" cy="602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Fisher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1930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32"/>
          <p:cNvGrpSpPr/>
          <p:nvPr/>
        </p:nvGrpSpPr>
        <p:grpSpPr>
          <a:xfrm>
            <a:off x="180000" y="473760"/>
            <a:ext cx="10110960" cy="7316640"/>
            <a:chOff x="180000" y="473760"/>
            <a:chExt cx="10110960" cy="7316640"/>
          </a:xfrm>
        </p:grpSpPr>
        <p:pic>
          <p:nvPicPr>
            <p:cNvPr id="193" name="Google Shape;193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0640" y="473760"/>
              <a:ext cx="7252560" cy="7316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32"/>
            <p:cNvSpPr txBox="1"/>
            <p:nvPr/>
          </p:nvSpPr>
          <p:spPr>
            <a:xfrm>
              <a:off x="404640" y="1936800"/>
              <a:ext cx="2194560" cy="433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 strike="noStrike">
                  <a:latin typeface="Arial"/>
                  <a:ea typeface="Arial"/>
                  <a:cs typeface="Arial"/>
                  <a:sym typeface="Arial"/>
                </a:rPr>
                <a:t>Você está aqui</a:t>
              </a:r>
              <a:endParaRPr b="0" sz="24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5" name="Google Shape;195;p32"/>
            <p:cNvCxnSpPr/>
            <p:nvPr/>
          </p:nvCxnSpPr>
          <p:spPr>
            <a:xfrm flipH="1" rot="10800000">
              <a:off x="2579760" y="1787040"/>
              <a:ext cx="822960" cy="4017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96" name="Google Shape;196;p32"/>
            <p:cNvSpPr txBox="1"/>
            <p:nvPr/>
          </p:nvSpPr>
          <p:spPr>
            <a:xfrm>
              <a:off x="8961120" y="6777720"/>
              <a:ext cx="1329840" cy="6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 strike="noStrike">
                  <a:solidFill>
                    <a:srgbClr val="B3B3B3"/>
                  </a:solidFill>
                  <a:latin typeface="Arial"/>
                  <a:ea typeface="Arial"/>
                  <a:cs typeface="Arial"/>
                  <a:sym typeface="Arial"/>
                </a:rPr>
                <a:t>Fonte:</a:t>
              </a:r>
              <a:endParaRPr b="0" sz="1200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 strike="noStrike">
                  <a:solidFill>
                    <a:srgbClr val="B3B3B3"/>
                  </a:solidFill>
                  <a:latin typeface="Arial"/>
                  <a:ea typeface="Arial"/>
                  <a:cs typeface="Arial"/>
                  <a:sym typeface="Arial"/>
                </a:rPr>
                <a:t>Hillis et al.</a:t>
              </a:r>
              <a:endParaRPr b="0" sz="1200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 strike="noStrike">
                  <a:solidFill>
                    <a:srgbClr val="B3B3B3"/>
                  </a:solidFill>
                  <a:latin typeface="Arial"/>
                  <a:ea typeface="Arial"/>
                  <a:cs typeface="Arial"/>
                  <a:sym typeface="Arial"/>
                </a:rPr>
                <a:t>Science, 2003</a:t>
              </a:r>
              <a:endParaRPr b="0" sz="1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32"/>
            <p:cNvSpPr txBox="1"/>
            <p:nvPr/>
          </p:nvSpPr>
          <p:spPr>
            <a:xfrm>
              <a:off x="180000" y="6583680"/>
              <a:ext cx="329184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solidFill>
                    <a:srgbClr val="B3B3B3"/>
                  </a:solidFill>
                  <a:latin typeface="Arial"/>
                  <a:ea typeface="Arial"/>
                  <a:cs typeface="Arial"/>
                  <a:sym typeface="Arial"/>
                </a:rPr>
                <a:t>~3000 seq de rRNA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32"/>
            <p:cNvSpPr txBox="1"/>
            <p:nvPr/>
          </p:nvSpPr>
          <p:spPr>
            <a:xfrm>
              <a:off x="3072960" y="951480"/>
              <a:ext cx="1097280" cy="3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Animais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32"/>
            <p:cNvSpPr txBox="1"/>
            <p:nvPr/>
          </p:nvSpPr>
          <p:spPr>
            <a:xfrm>
              <a:off x="8670240" y="1149840"/>
              <a:ext cx="1097280" cy="3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Plantas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32"/>
            <p:cNvSpPr txBox="1"/>
            <p:nvPr/>
          </p:nvSpPr>
          <p:spPr>
            <a:xfrm>
              <a:off x="9072000" y="6217925"/>
              <a:ext cx="1008600" cy="346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000" lIns="0" spcFirstLastPara="1" rIns="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Protistas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32"/>
            <p:cNvSpPr txBox="1"/>
            <p:nvPr/>
          </p:nvSpPr>
          <p:spPr>
            <a:xfrm>
              <a:off x="3291840" y="6930000"/>
              <a:ext cx="1097280" cy="4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32"/>
            <p:cNvSpPr txBox="1"/>
            <p:nvPr/>
          </p:nvSpPr>
          <p:spPr>
            <a:xfrm>
              <a:off x="2355840" y="6282000"/>
              <a:ext cx="1097280" cy="346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Fungi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p32"/>
          <p:cNvSpPr txBox="1"/>
          <p:nvPr/>
        </p:nvSpPr>
        <p:spPr>
          <a:xfrm>
            <a:off x="72000" y="-310680"/>
            <a:ext cx="86508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Natureza: diversidade da vida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/>
        </p:nvSpPr>
        <p:spPr>
          <a:xfrm>
            <a:off x="0" y="13320"/>
            <a:ext cx="10080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Natureza: diversidade no oceano</a:t>
            </a:r>
            <a:br>
              <a:rPr lang="en-US" sz="1800"/>
            </a:br>
            <a:r>
              <a:rPr b="1" lang="en-US" sz="1800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~5% do Oceano (NOAA – U.S. Dep. of Commerce)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80160"/>
            <a:ext cx="10080000" cy="627984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3"/>
          <p:cNvSpPr txBox="1"/>
          <p:nvPr/>
        </p:nvSpPr>
        <p:spPr>
          <a:xfrm>
            <a:off x="8138160" y="6965280"/>
            <a:ext cx="189684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Fonte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TED Talks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Alejandro Alvarado, 2016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/>
        </p:nvSpPr>
        <p:spPr>
          <a:xfrm>
            <a:off x="504000" y="49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Natureza: sistemas complexos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17520" y="5120640"/>
            <a:ext cx="2286000" cy="2194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2080" y="5120640"/>
            <a:ext cx="2259000" cy="21945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8" name="Google Shape;218;p34"/>
          <p:cNvGrpSpPr/>
          <p:nvPr/>
        </p:nvGrpSpPr>
        <p:grpSpPr>
          <a:xfrm>
            <a:off x="443880" y="1983600"/>
            <a:ext cx="8060040" cy="5259600"/>
            <a:chOff x="443880" y="1983600"/>
            <a:chExt cx="8060040" cy="5259600"/>
          </a:xfrm>
        </p:grpSpPr>
        <p:pic>
          <p:nvPicPr>
            <p:cNvPr id="219" name="Google Shape;219;p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376160" y="2029680"/>
              <a:ext cx="1841760" cy="1599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3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57200" y="3675600"/>
              <a:ext cx="1920240" cy="1599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3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468880" y="2029680"/>
              <a:ext cx="1828800" cy="1599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3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65120" y="1983600"/>
              <a:ext cx="1912320" cy="1620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3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309360" y="2058120"/>
              <a:ext cx="2194560" cy="1571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3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504880" y="5329080"/>
              <a:ext cx="1828800" cy="1914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3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43880" y="5322960"/>
              <a:ext cx="1969560" cy="19202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6" name="Google Shape;226;p34"/>
          <p:cNvSpPr txBox="1"/>
          <p:nvPr/>
        </p:nvSpPr>
        <p:spPr>
          <a:xfrm>
            <a:off x="8595360" y="2377440"/>
            <a:ext cx="640080" cy="80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000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sz="5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/>
        </p:nvSpPr>
        <p:spPr>
          <a:xfrm>
            <a:off x="504000" y="49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Natureza: experiências humanas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2" name="Google Shape;232;p35"/>
          <p:cNvGrpSpPr/>
          <p:nvPr/>
        </p:nvGrpSpPr>
        <p:grpSpPr>
          <a:xfrm>
            <a:off x="1053360" y="1275480"/>
            <a:ext cx="8517600" cy="6282720"/>
            <a:chOff x="1053360" y="1275480"/>
            <a:chExt cx="8517600" cy="6282720"/>
          </a:xfrm>
        </p:grpSpPr>
        <p:pic>
          <p:nvPicPr>
            <p:cNvPr id="233" name="Google Shape;233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40080" y="1275480"/>
              <a:ext cx="1657080" cy="1329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11280" y="1383480"/>
              <a:ext cx="1802160" cy="1661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66640" y="2664000"/>
              <a:ext cx="1804320" cy="1729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3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640640" y="4506840"/>
              <a:ext cx="1786320" cy="1319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3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266880" y="5932800"/>
              <a:ext cx="1709640" cy="1600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3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55640" y="5940720"/>
              <a:ext cx="1769040" cy="1451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3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53360" y="3423240"/>
              <a:ext cx="2153520" cy="1649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3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064240" y="5180400"/>
              <a:ext cx="2178360" cy="1616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3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545640" y="2671560"/>
              <a:ext cx="3230280" cy="2002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3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418400" y="1897200"/>
              <a:ext cx="1922760" cy="1372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3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426840" y="1428840"/>
              <a:ext cx="1632600" cy="1158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3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141160" y="4540320"/>
              <a:ext cx="2395080" cy="13341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35"/>
            <p:cNvSpPr txBox="1"/>
            <p:nvPr/>
          </p:nvSpPr>
          <p:spPr>
            <a:xfrm>
              <a:off x="6608520" y="6951600"/>
              <a:ext cx="1531080" cy="6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 strike="noStrike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Fonte</a:t>
              </a:r>
              <a:endParaRPr b="0" sz="1200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 strike="noStrike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TED Talks</a:t>
              </a:r>
              <a:endParaRPr b="0" sz="1200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 strike="noStrike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Wade Davis, 2003</a:t>
              </a:r>
              <a:endParaRPr b="0" sz="1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35"/>
          <p:cNvSpPr txBox="1"/>
          <p:nvPr/>
        </p:nvSpPr>
        <p:spPr>
          <a:xfrm>
            <a:off x="8869680" y="1645920"/>
            <a:ext cx="640080" cy="80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000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sz="5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/>
          <p:nvPr/>
        </p:nvSpPr>
        <p:spPr>
          <a:xfrm>
            <a:off x="504000" y="62280"/>
            <a:ext cx="9071640" cy="1879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Algoritmos Inspirados na Natureza</a:t>
            </a:r>
            <a:br>
              <a:rPr lang="en-US" sz="1800"/>
            </a:b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6"/>
          <p:cNvSpPr txBox="1"/>
          <p:nvPr/>
        </p:nvSpPr>
        <p:spPr>
          <a:xfrm>
            <a:off x="861495" y="2062368"/>
            <a:ext cx="5029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Algoritmos Genéticos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6"/>
          <p:cNvSpPr txBox="1"/>
          <p:nvPr/>
        </p:nvSpPr>
        <p:spPr>
          <a:xfrm>
            <a:off x="861495" y="1372607"/>
            <a:ext cx="5029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Estratégias Evolutivas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6"/>
          <p:cNvSpPr txBox="1"/>
          <p:nvPr/>
        </p:nvSpPr>
        <p:spPr>
          <a:xfrm>
            <a:off x="2810160" y="5577120"/>
            <a:ext cx="5301360" cy="43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Otimização de Enxame de Partículas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6"/>
          <p:cNvSpPr txBox="1"/>
          <p:nvPr/>
        </p:nvSpPr>
        <p:spPr>
          <a:xfrm>
            <a:off x="842049" y="2384200"/>
            <a:ext cx="5698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Otimização de Colônias de Formigas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6"/>
          <p:cNvSpPr txBox="1"/>
          <p:nvPr/>
        </p:nvSpPr>
        <p:spPr>
          <a:xfrm>
            <a:off x="2529351" y="5237975"/>
            <a:ext cx="4686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Colônias de Abelhas Artificiais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6"/>
          <p:cNvSpPr txBox="1"/>
          <p:nvPr/>
        </p:nvSpPr>
        <p:spPr>
          <a:xfrm>
            <a:off x="3633852" y="6303600"/>
            <a:ext cx="41739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Algoritmo de Vagalumes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6"/>
          <p:cNvSpPr txBox="1"/>
          <p:nvPr/>
        </p:nvSpPr>
        <p:spPr>
          <a:xfrm>
            <a:off x="3225600" y="5934950"/>
            <a:ext cx="53991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Algoritmo de Busca por Cardumes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6"/>
          <p:cNvSpPr txBox="1"/>
          <p:nvPr/>
        </p:nvSpPr>
        <p:spPr>
          <a:xfrm>
            <a:off x="862935" y="1729728"/>
            <a:ext cx="5029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Programação Genética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6"/>
          <p:cNvSpPr txBox="1"/>
          <p:nvPr/>
        </p:nvSpPr>
        <p:spPr>
          <a:xfrm>
            <a:off x="863279" y="3152137"/>
            <a:ext cx="41739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Evolução Diferencial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6"/>
          <p:cNvSpPr txBox="1"/>
          <p:nvPr/>
        </p:nvSpPr>
        <p:spPr>
          <a:xfrm>
            <a:off x="917745" y="3532765"/>
            <a:ext cx="64728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Recozimento Simulado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Algoritmos de Estimação de Distribuição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2" name="Google Shape;262;p36"/>
          <p:cNvGrpSpPr/>
          <p:nvPr/>
        </p:nvGrpSpPr>
        <p:grpSpPr>
          <a:xfrm>
            <a:off x="6540860" y="2062375"/>
            <a:ext cx="3276360" cy="1904760"/>
            <a:chOff x="6309360" y="2322000"/>
            <a:chExt cx="3276360" cy="1904760"/>
          </a:xfrm>
        </p:grpSpPr>
        <p:pic>
          <p:nvPicPr>
            <p:cNvPr id="263" name="Google Shape;263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09360" y="2322000"/>
              <a:ext cx="1904760" cy="19047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p36"/>
            <p:cNvSpPr txBox="1"/>
            <p:nvPr/>
          </p:nvSpPr>
          <p:spPr>
            <a:xfrm>
              <a:off x="7939800" y="3586680"/>
              <a:ext cx="1645920" cy="6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 strike="noStrike">
                  <a:solidFill>
                    <a:srgbClr val="B3B3B3"/>
                  </a:solidFill>
                  <a:latin typeface="Arial"/>
                  <a:ea typeface="Arial"/>
                  <a:cs typeface="Arial"/>
                  <a:sym typeface="Arial"/>
                </a:rPr>
                <a:t>Fonte:</a:t>
              </a:r>
              <a:endParaRPr b="0" sz="1200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 strike="noStrike">
                  <a:solidFill>
                    <a:srgbClr val="B3B3B3"/>
                  </a:solidFill>
                  <a:latin typeface="Arial"/>
                  <a:ea typeface="Arial"/>
                  <a:cs typeface="Arial"/>
                  <a:sym typeface="Arial"/>
                </a:rPr>
                <a:t>Gaspar-Cunha et al., 2013</a:t>
              </a:r>
              <a:endParaRPr b="0" sz="1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5" name="Google Shape;265;p36"/>
          <p:cNvSpPr txBox="1"/>
          <p:nvPr/>
        </p:nvSpPr>
        <p:spPr>
          <a:xfrm>
            <a:off x="5490345" y="6639105"/>
            <a:ext cx="36864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 E muitos outros  .  .  .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6" name="Google Shape;266;p36"/>
          <p:cNvGrpSpPr/>
          <p:nvPr/>
        </p:nvGrpSpPr>
        <p:grpSpPr>
          <a:xfrm>
            <a:off x="7856640" y="4345200"/>
            <a:ext cx="2135520" cy="1390320"/>
            <a:chOff x="7856640" y="4345200"/>
            <a:chExt cx="2135520" cy="1390320"/>
          </a:xfrm>
        </p:grpSpPr>
        <p:cxnSp>
          <p:nvCxnSpPr>
            <p:cNvPr id="267" name="Google Shape;267;p36"/>
            <p:cNvCxnSpPr/>
            <p:nvPr/>
          </p:nvCxnSpPr>
          <p:spPr>
            <a:xfrm flipH="1" rot="10800000">
              <a:off x="7992720" y="4497120"/>
              <a:ext cx="548640" cy="27432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8" name="Google Shape;268;p36"/>
            <p:cNvCxnSpPr/>
            <p:nvPr/>
          </p:nvCxnSpPr>
          <p:spPr>
            <a:xfrm>
              <a:off x="8521920" y="4497120"/>
              <a:ext cx="667440" cy="3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9" name="Google Shape;269;p36"/>
            <p:cNvCxnSpPr/>
            <p:nvPr/>
          </p:nvCxnSpPr>
          <p:spPr>
            <a:xfrm rot="10800000">
              <a:off x="8001360" y="4749480"/>
              <a:ext cx="0" cy="4431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0" name="Google Shape;270;p36"/>
            <p:cNvCxnSpPr/>
            <p:nvPr/>
          </p:nvCxnSpPr>
          <p:spPr>
            <a:xfrm>
              <a:off x="9097920" y="4497480"/>
              <a:ext cx="667440" cy="3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71" name="Google Shape;271;p36"/>
            <p:cNvSpPr txBox="1"/>
            <p:nvPr/>
          </p:nvSpPr>
          <p:spPr>
            <a:xfrm>
              <a:off x="7953840" y="5389200"/>
              <a:ext cx="27432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6"/>
            <p:cNvSpPr txBox="1"/>
            <p:nvPr/>
          </p:nvSpPr>
          <p:spPr>
            <a:xfrm>
              <a:off x="9717840" y="4345200"/>
              <a:ext cx="27432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3" name="Google Shape;27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108000" y="4345200"/>
              <a:ext cx="694800" cy="304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88000" y="4417200"/>
              <a:ext cx="694800" cy="304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84000" y="4561200"/>
              <a:ext cx="694800" cy="304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-5400000">
              <a:off x="7661520" y="4958640"/>
              <a:ext cx="694800" cy="3045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36"/>
          <p:cNvSpPr txBox="1"/>
          <p:nvPr/>
        </p:nvSpPr>
        <p:spPr>
          <a:xfrm>
            <a:off x="842053" y="2731288"/>
            <a:ext cx="5029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Algoritmos Imunoinspirados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" name="Google Shape;278;p36"/>
          <p:cNvCxnSpPr/>
          <p:nvPr/>
        </p:nvCxnSpPr>
        <p:spPr>
          <a:xfrm flipH="1" rot="10800000">
            <a:off x="756720" y="4605120"/>
            <a:ext cx="548640" cy="27432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9" name="Google Shape;279;p36"/>
          <p:cNvCxnSpPr/>
          <p:nvPr/>
        </p:nvCxnSpPr>
        <p:spPr>
          <a:xfrm>
            <a:off x="1285920" y="4605120"/>
            <a:ext cx="667440" cy="36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0" name="Google Shape;280;p36"/>
          <p:cNvCxnSpPr/>
          <p:nvPr/>
        </p:nvCxnSpPr>
        <p:spPr>
          <a:xfrm rot="10800000">
            <a:off x="765360" y="4857480"/>
            <a:ext cx="0" cy="44316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1" name="Google Shape;281;p36"/>
          <p:cNvCxnSpPr/>
          <p:nvPr/>
        </p:nvCxnSpPr>
        <p:spPr>
          <a:xfrm>
            <a:off x="1861920" y="4605480"/>
            <a:ext cx="667440" cy="36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2" name="Google Shape;282;p36"/>
          <p:cNvSpPr txBox="1"/>
          <p:nvPr/>
        </p:nvSpPr>
        <p:spPr>
          <a:xfrm>
            <a:off x="609840" y="5281200"/>
            <a:ext cx="2743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O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6"/>
          <p:cNvSpPr txBox="1"/>
          <p:nvPr/>
        </p:nvSpPr>
        <p:spPr>
          <a:xfrm>
            <a:off x="2445840" y="4453200"/>
            <a:ext cx="2743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D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" name="Google Shape;284;p36"/>
          <p:cNvCxnSpPr/>
          <p:nvPr/>
        </p:nvCxnSpPr>
        <p:spPr>
          <a:xfrm flipH="1" rot="10800000">
            <a:off x="842040" y="5118480"/>
            <a:ext cx="548640" cy="27432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5" name="Google Shape;285;p36"/>
          <p:cNvCxnSpPr/>
          <p:nvPr/>
        </p:nvCxnSpPr>
        <p:spPr>
          <a:xfrm>
            <a:off x="1371240" y="5118480"/>
            <a:ext cx="667440" cy="36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" name="Google Shape;286;p36"/>
          <p:cNvCxnSpPr/>
          <p:nvPr/>
        </p:nvCxnSpPr>
        <p:spPr>
          <a:xfrm rot="10800000">
            <a:off x="2621520" y="4677120"/>
            <a:ext cx="0" cy="44316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" name="Google Shape;287;p36"/>
          <p:cNvCxnSpPr/>
          <p:nvPr/>
        </p:nvCxnSpPr>
        <p:spPr>
          <a:xfrm>
            <a:off x="1983240" y="5118840"/>
            <a:ext cx="667440" cy="36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 txBox="1"/>
          <p:nvPr/>
        </p:nvSpPr>
        <p:spPr>
          <a:xfrm>
            <a:off x="504000" y="49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Contribuições relevantes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7"/>
          <p:cNvSpPr txBox="1"/>
          <p:nvPr/>
        </p:nvSpPr>
        <p:spPr>
          <a:xfrm>
            <a:off x="1000080" y="1884240"/>
            <a:ext cx="6858000" cy="4659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latin typeface="Arial"/>
                <a:ea typeface="Arial"/>
                <a:cs typeface="Arial"/>
                <a:sym typeface="Arial"/>
              </a:rPr>
              <a:t>Aplicados a uma diversidade de áreas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	Jogos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	Otimização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	Aprendizado de máquina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	Problemas de engenharia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	Simulação de processos naturais e sociais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	Etc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/>
          <p:nvPr/>
        </p:nvSpPr>
        <p:spPr>
          <a:xfrm>
            <a:off x="504000" y="49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Contribuições relevantes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8"/>
          <p:cNvSpPr txBox="1"/>
          <p:nvPr/>
        </p:nvSpPr>
        <p:spPr>
          <a:xfrm>
            <a:off x="389160" y="3584160"/>
            <a:ext cx="7406640" cy="43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O reprojeto dada uma nova especificação foi rápido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p38"/>
          <p:cNvGrpSpPr/>
          <p:nvPr/>
        </p:nvGrpSpPr>
        <p:grpSpPr>
          <a:xfrm>
            <a:off x="365760" y="1485000"/>
            <a:ext cx="9418320" cy="1630080"/>
            <a:chOff x="365760" y="1485000"/>
            <a:chExt cx="9418320" cy="1630080"/>
          </a:xfrm>
        </p:grpSpPr>
        <p:sp>
          <p:nvSpPr>
            <p:cNvPr id="301" name="Google Shape;301;p38"/>
            <p:cNvSpPr txBox="1"/>
            <p:nvPr/>
          </p:nvSpPr>
          <p:spPr>
            <a:xfrm>
              <a:off x="365760" y="1485000"/>
              <a:ext cx="8412480" cy="488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 strike="noStrike">
                  <a:latin typeface="Arial"/>
                  <a:ea typeface="Arial"/>
                  <a:cs typeface="Arial"/>
                  <a:sym typeface="Arial"/>
                </a:rPr>
                <a:t>Antena da “</a:t>
              </a:r>
              <a:r>
                <a:rPr b="1" lang="en-US" sz="2800" strike="noStrike">
                  <a:latin typeface="Arial"/>
                  <a:ea typeface="Arial"/>
                  <a:cs typeface="Arial"/>
                  <a:sym typeface="Arial"/>
                </a:rPr>
                <a:t>NASA</a:t>
              </a:r>
              <a:r>
                <a:rPr b="0" lang="en-US" sz="2800" strike="noStrike">
                  <a:latin typeface="Arial"/>
                  <a:ea typeface="Arial"/>
                  <a:cs typeface="Arial"/>
                  <a:sym typeface="Arial"/>
                </a:rPr>
                <a:t>'s Space Technology 5 mission”</a:t>
              </a:r>
              <a:endParaRPr b="0" sz="2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8"/>
            <p:cNvSpPr txBox="1"/>
            <p:nvPr/>
          </p:nvSpPr>
          <p:spPr>
            <a:xfrm>
              <a:off x="1005840" y="1862280"/>
              <a:ext cx="8778240" cy="9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 strike="noStrike">
                  <a:latin typeface="Arial"/>
                  <a:ea typeface="Arial"/>
                  <a:cs typeface="Arial"/>
                  <a:sym typeface="Arial"/>
                </a:rPr>
                <a:t>“. . . better and less costly antennas, faster than before.</a:t>
              </a:r>
              <a:endParaRPr b="0" sz="2400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 strike="noStrike">
                  <a:latin typeface="Arial"/>
                  <a:ea typeface="Arial"/>
                  <a:cs typeface="Arial"/>
                  <a:sym typeface="Arial"/>
                </a:rPr>
                <a:t>. . . the first evolved object to fly in space”</a:t>
              </a:r>
              <a:endParaRPr b="0" sz="24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8"/>
            <p:cNvSpPr txBox="1"/>
            <p:nvPr/>
          </p:nvSpPr>
          <p:spPr>
            <a:xfrm>
              <a:off x="953280" y="2796120"/>
              <a:ext cx="8503920" cy="318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https://www.nasa.gov/centers/ames/news/releases/2004/antenna/video.html</a:t>
              </a:r>
              <a:endParaRPr b="0" sz="16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38"/>
          <p:cNvSpPr txBox="1"/>
          <p:nvPr/>
        </p:nvSpPr>
        <p:spPr>
          <a:xfrm>
            <a:off x="893160" y="5989320"/>
            <a:ext cx="2468880" cy="146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(a)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A melhor para o padrão de ganho inicial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8"/>
          <p:cNvSpPr txBox="1"/>
          <p:nvPr/>
        </p:nvSpPr>
        <p:spPr>
          <a:xfrm>
            <a:off x="3485160" y="5989320"/>
            <a:ext cx="2468880" cy="146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(b)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A melhor para a especificação revisada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360" y="3989520"/>
            <a:ext cx="4686120" cy="19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8"/>
          <p:cNvSpPr txBox="1"/>
          <p:nvPr/>
        </p:nvSpPr>
        <p:spPr>
          <a:xfrm>
            <a:off x="5672160" y="5358960"/>
            <a:ext cx="2139120" cy="689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Winner of Human-Competitive results – Humies - GECCO 2004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/>
          <p:nvPr/>
        </p:nvSpPr>
        <p:spPr>
          <a:xfrm>
            <a:off x="504000" y="49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Contribuições relevantes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9"/>
          <p:cNvSpPr txBox="1"/>
          <p:nvPr/>
        </p:nvSpPr>
        <p:spPr>
          <a:xfrm>
            <a:off x="404640" y="1509840"/>
            <a:ext cx="9748080" cy="192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Problemas do mundo real frequentemente requerem um compromisso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	Custo e Qualidade 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	Retorno Financeiro e Sustentabilidade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Explorar o Espaço dos Objetivos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	Algoritmos Evolutivos Multiobjetivos – </a:t>
            </a:r>
            <a:r>
              <a:rPr b="1" lang="en-US" sz="2000" strike="noStrike">
                <a:latin typeface="Arial"/>
                <a:ea typeface="Arial"/>
                <a:cs typeface="Arial"/>
                <a:sym typeface="Arial"/>
              </a:rPr>
              <a:t>AEMO</a:t>
            </a: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s – conseguem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9"/>
          <p:cNvSpPr txBox="1"/>
          <p:nvPr/>
        </p:nvSpPr>
        <p:spPr>
          <a:xfrm>
            <a:off x="7534080" y="5970960"/>
            <a:ext cx="2490480" cy="95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Há mais de uma 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solução eficiente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e podem ser úteis !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5" name="Google Shape;315;p39"/>
          <p:cNvGrpSpPr/>
          <p:nvPr/>
        </p:nvGrpSpPr>
        <p:grpSpPr>
          <a:xfrm>
            <a:off x="87840" y="3817440"/>
            <a:ext cx="7464240" cy="3638160"/>
            <a:chOff x="87840" y="3817440"/>
            <a:chExt cx="7464240" cy="3638160"/>
          </a:xfrm>
        </p:grpSpPr>
        <p:cxnSp>
          <p:nvCxnSpPr>
            <p:cNvPr id="316" name="Google Shape;316;p39"/>
            <p:cNvCxnSpPr/>
            <p:nvPr/>
          </p:nvCxnSpPr>
          <p:spPr>
            <a:xfrm>
              <a:off x="419760" y="6926400"/>
              <a:ext cx="649224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7" name="Google Shape;317;p39"/>
            <p:cNvCxnSpPr/>
            <p:nvPr/>
          </p:nvCxnSpPr>
          <p:spPr>
            <a:xfrm rot="10800000">
              <a:off x="876960" y="4183200"/>
              <a:ext cx="0" cy="301752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18" name="Google Shape;318;p39"/>
            <p:cNvSpPr txBox="1"/>
            <p:nvPr/>
          </p:nvSpPr>
          <p:spPr>
            <a:xfrm>
              <a:off x="87840" y="3892320"/>
              <a:ext cx="77652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Custo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9"/>
            <p:cNvSpPr txBox="1"/>
            <p:nvPr/>
          </p:nvSpPr>
          <p:spPr>
            <a:xfrm>
              <a:off x="6271920" y="7109280"/>
              <a:ext cx="12801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Qualidade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9"/>
            <p:cNvSpPr txBox="1"/>
            <p:nvPr/>
          </p:nvSpPr>
          <p:spPr>
            <a:xfrm>
              <a:off x="2065680" y="4935600"/>
              <a:ext cx="18288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9"/>
            <p:cNvSpPr txBox="1"/>
            <p:nvPr/>
          </p:nvSpPr>
          <p:spPr>
            <a:xfrm>
              <a:off x="2431440" y="5189040"/>
              <a:ext cx="29520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9"/>
            <p:cNvSpPr txBox="1"/>
            <p:nvPr/>
          </p:nvSpPr>
          <p:spPr>
            <a:xfrm>
              <a:off x="2157120" y="5829120"/>
              <a:ext cx="29520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39"/>
            <p:cNvSpPr txBox="1"/>
            <p:nvPr/>
          </p:nvSpPr>
          <p:spPr>
            <a:xfrm>
              <a:off x="5482080" y="4640400"/>
              <a:ext cx="30708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39"/>
            <p:cNvSpPr txBox="1"/>
            <p:nvPr/>
          </p:nvSpPr>
          <p:spPr>
            <a:xfrm>
              <a:off x="5266080" y="5554800"/>
              <a:ext cx="3207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39"/>
            <p:cNvSpPr txBox="1"/>
            <p:nvPr/>
          </p:nvSpPr>
          <p:spPr>
            <a:xfrm>
              <a:off x="4828320" y="5904000"/>
              <a:ext cx="30708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9"/>
            <p:cNvSpPr txBox="1"/>
            <p:nvPr/>
          </p:nvSpPr>
          <p:spPr>
            <a:xfrm>
              <a:off x="4279680" y="6269760"/>
              <a:ext cx="3207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39"/>
            <p:cNvSpPr txBox="1"/>
            <p:nvPr/>
          </p:nvSpPr>
          <p:spPr>
            <a:xfrm>
              <a:off x="2888640" y="6652080"/>
              <a:ext cx="180720" cy="43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9"/>
            <p:cNvSpPr txBox="1"/>
            <p:nvPr/>
          </p:nvSpPr>
          <p:spPr>
            <a:xfrm>
              <a:off x="3675600" y="6397200"/>
              <a:ext cx="30708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strike="noStrike"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9"/>
            <p:cNvSpPr txBox="1"/>
            <p:nvPr/>
          </p:nvSpPr>
          <p:spPr>
            <a:xfrm>
              <a:off x="3437280" y="5097600"/>
              <a:ext cx="3657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9"/>
            <p:cNvSpPr txBox="1"/>
            <p:nvPr/>
          </p:nvSpPr>
          <p:spPr>
            <a:xfrm>
              <a:off x="3071520" y="6194880"/>
              <a:ext cx="3657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9"/>
            <p:cNvSpPr/>
            <p:nvPr/>
          </p:nvSpPr>
          <p:spPr>
            <a:xfrm>
              <a:off x="1298160" y="4457520"/>
              <a:ext cx="2468880" cy="2103120"/>
            </a:xfrm>
            <a:prstGeom prst="rect">
              <a:avLst/>
            </a:prstGeom>
            <a:solidFill>
              <a:srgbClr val="CFE7F5">
                <a:alpha val="35686"/>
              </a:srgbClr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9"/>
            <p:cNvSpPr txBox="1"/>
            <p:nvPr/>
          </p:nvSpPr>
          <p:spPr>
            <a:xfrm>
              <a:off x="4626000" y="5446800"/>
              <a:ext cx="30708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9"/>
            <p:cNvSpPr txBox="1"/>
            <p:nvPr/>
          </p:nvSpPr>
          <p:spPr>
            <a:xfrm>
              <a:off x="4351680" y="5097600"/>
              <a:ext cx="29520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9"/>
            <p:cNvSpPr txBox="1"/>
            <p:nvPr/>
          </p:nvSpPr>
          <p:spPr>
            <a:xfrm>
              <a:off x="4991760" y="4953600"/>
              <a:ext cx="34524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9"/>
            <p:cNvSpPr/>
            <p:nvPr/>
          </p:nvSpPr>
          <p:spPr>
            <a:xfrm>
              <a:off x="1298160" y="3817440"/>
              <a:ext cx="4039920" cy="1920240"/>
            </a:xfrm>
            <a:prstGeom prst="rect">
              <a:avLst/>
            </a:prstGeom>
            <a:solidFill>
              <a:srgbClr val="FFFF99">
                <a:alpha val="29804"/>
              </a:srgbClr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6" name="Google Shape;336;p39"/>
          <p:cNvSpPr txBox="1"/>
          <p:nvPr/>
        </p:nvSpPr>
        <p:spPr>
          <a:xfrm>
            <a:off x="8595360" y="2377440"/>
            <a:ext cx="640080" cy="80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000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 b="0" sz="5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0"/>
          <p:cNvSpPr txBox="1"/>
          <p:nvPr/>
        </p:nvSpPr>
        <p:spPr>
          <a:xfrm>
            <a:off x="504000" y="64800"/>
            <a:ext cx="9071640" cy="1879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Risco</a:t>
            </a:r>
            <a:br>
              <a:rPr lang="en-US" sz="1800"/>
            </a:b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Princípios similares com nomes diferentes inspirados na natureza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40"/>
          <p:cNvSpPr txBox="1"/>
          <p:nvPr/>
        </p:nvSpPr>
        <p:spPr>
          <a:xfrm>
            <a:off x="504000" y="2201040"/>
            <a:ext cx="88700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●"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Iniciativa dos colegas Felipe Campello e Claus Aranha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2651760"/>
            <a:ext cx="6126480" cy="466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2743200"/>
            <a:ext cx="4023360" cy="4663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1"/>
          <p:cNvSpPr txBox="1"/>
          <p:nvPr/>
        </p:nvSpPr>
        <p:spPr>
          <a:xfrm>
            <a:off x="504000" y="2201040"/>
            <a:ext cx="88700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Outras iniciativas ...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4480" y="2651760"/>
            <a:ext cx="627660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1"/>
          <p:cNvSpPr txBox="1"/>
          <p:nvPr/>
        </p:nvSpPr>
        <p:spPr>
          <a:xfrm>
            <a:off x="504360" y="65160"/>
            <a:ext cx="9071640" cy="1879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Risco</a:t>
            </a:r>
            <a:br>
              <a:rPr lang="en-US" sz="1800"/>
            </a:b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Princípios similares com nomes diferentes inspirados na natureza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2"/>
          <p:cNvSpPr txBox="1"/>
          <p:nvPr/>
        </p:nvSpPr>
        <p:spPr>
          <a:xfrm>
            <a:off x="504000" y="49320"/>
            <a:ext cx="9188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Revistas criteriosas podem ajudar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7" name="Google Shape;357;p42"/>
          <p:cNvGrpSpPr/>
          <p:nvPr/>
        </p:nvGrpSpPr>
        <p:grpSpPr>
          <a:xfrm>
            <a:off x="74880" y="1460160"/>
            <a:ext cx="4754880" cy="6059520"/>
            <a:chOff x="74880" y="1460160"/>
            <a:chExt cx="4754880" cy="6059520"/>
          </a:xfrm>
        </p:grpSpPr>
        <p:grpSp>
          <p:nvGrpSpPr>
            <p:cNvPr id="358" name="Google Shape;358;p42"/>
            <p:cNvGrpSpPr/>
            <p:nvPr/>
          </p:nvGrpSpPr>
          <p:grpSpPr>
            <a:xfrm>
              <a:off x="74880" y="1460160"/>
              <a:ext cx="2400840" cy="2744640"/>
              <a:chOff x="74880" y="1460160"/>
              <a:chExt cx="2400840" cy="2744640"/>
            </a:xfrm>
          </p:grpSpPr>
          <p:pic>
            <p:nvPicPr>
              <p:cNvPr id="359" name="Google Shape;359;p4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4880" y="1460160"/>
                <a:ext cx="2400840" cy="274464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0" name="Google Shape;360;p42"/>
              <p:cNvSpPr/>
              <p:nvPr/>
            </p:nvSpPr>
            <p:spPr>
              <a:xfrm>
                <a:off x="1032120" y="3691800"/>
                <a:ext cx="646200" cy="246960"/>
              </a:xfrm>
              <a:prstGeom prst="ellipse">
                <a:avLst/>
              </a:prstGeom>
              <a:noFill/>
              <a:ln cap="flat" cmpd="sng" w="730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1" name="Google Shape;361;p42"/>
            <p:cNvGrpSpPr/>
            <p:nvPr/>
          </p:nvGrpSpPr>
          <p:grpSpPr>
            <a:xfrm>
              <a:off x="2561040" y="1481040"/>
              <a:ext cx="2184480" cy="2561760"/>
              <a:chOff x="2561040" y="1481040"/>
              <a:chExt cx="2184480" cy="2561760"/>
            </a:xfrm>
          </p:grpSpPr>
          <p:pic>
            <p:nvPicPr>
              <p:cNvPr id="362" name="Google Shape;362;p4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561040" y="1481040"/>
                <a:ext cx="2184480" cy="256176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63" name="Google Shape;363;p42"/>
              <p:cNvCxnSpPr/>
              <p:nvPr/>
            </p:nvCxnSpPr>
            <p:spPr>
              <a:xfrm>
                <a:off x="3726720" y="3647880"/>
                <a:ext cx="320760" cy="0"/>
              </a:xfrm>
              <a:prstGeom prst="straightConnector1">
                <a:avLst/>
              </a:prstGeom>
              <a:noFill/>
              <a:ln cap="flat" cmpd="sng" w="730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4" name="Google Shape;364;p42"/>
              <p:cNvCxnSpPr/>
              <p:nvPr/>
            </p:nvCxnSpPr>
            <p:spPr>
              <a:xfrm>
                <a:off x="3975840" y="3732840"/>
                <a:ext cx="408240" cy="0"/>
              </a:xfrm>
              <a:prstGeom prst="straightConnector1">
                <a:avLst/>
              </a:prstGeom>
              <a:noFill/>
              <a:ln cap="flat" cmpd="sng" w="730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65" name="Google Shape;365;p42"/>
            <p:cNvGrpSpPr/>
            <p:nvPr/>
          </p:nvGrpSpPr>
          <p:grpSpPr>
            <a:xfrm>
              <a:off x="109800" y="4204800"/>
              <a:ext cx="2365920" cy="3200400"/>
              <a:chOff x="109800" y="4204800"/>
              <a:chExt cx="2365920" cy="3200400"/>
            </a:xfrm>
          </p:grpSpPr>
          <p:pic>
            <p:nvPicPr>
              <p:cNvPr id="366" name="Google Shape;366;p4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09800" y="4204800"/>
                <a:ext cx="2365920" cy="3200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7" name="Google Shape;367;p42"/>
              <p:cNvSpPr/>
              <p:nvPr/>
            </p:nvSpPr>
            <p:spPr>
              <a:xfrm>
                <a:off x="903600" y="6575040"/>
                <a:ext cx="815400" cy="293400"/>
              </a:xfrm>
              <a:prstGeom prst="ellipse">
                <a:avLst/>
              </a:prstGeom>
              <a:noFill/>
              <a:ln cap="flat" cmpd="sng" w="730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8" name="Google Shape;368;p42"/>
            <p:cNvGrpSpPr/>
            <p:nvPr/>
          </p:nvGrpSpPr>
          <p:grpSpPr>
            <a:xfrm>
              <a:off x="2566440" y="4296240"/>
              <a:ext cx="2263320" cy="3223440"/>
              <a:chOff x="2566440" y="4296240"/>
              <a:chExt cx="2263320" cy="3223440"/>
            </a:xfrm>
          </p:grpSpPr>
          <p:pic>
            <p:nvPicPr>
              <p:cNvPr id="369" name="Google Shape;369;p42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566440" y="4296240"/>
                <a:ext cx="2263320" cy="322344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70" name="Google Shape;370;p42"/>
              <p:cNvCxnSpPr/>
              <p:nvPr/>
            </p:nvCxnSpPr>
            <p:spPr>
              <a:xfrm>
                <a:off x="4622400" y="7101720"/>
                <a:ext cx="199080" cy="0"/>
              </a:xfrm>
              <a:prstGeom prst="straightConnector1">
                <a:avLst/>
              </a:prstGeom>
              <a:noFill/>
              <a:ln cap="flat" cmpd="sng" w="730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1" name="Google Shape;371;p42"/>
              <p:cNvCxnSpPr/>
              <p:nvPr/>
            </p:nvCxnSpPr>
            <p:spPr>
              <a:xfrm>
                <a:off x="3435480" y="7218360"/>
                <a:ext cx="505440" cy="0"/>
              </a:xfrm>
              <a:prstGeom prst="straightConnector1">
                <a:avLst/>
              </a:prstGeom>
              <a:noFill/>
              <a:ln cap="flat" cmpd="sng" w="730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372" name="Google Shape;372;p42"/>
          <p:cNvGrpSpPr/>
          <p:nvPr/>
        </p:nvGrpSpPr>
        <p:grpSpPr>
          <a:xfrm>
            <a:off x="4973760" y="1460160"/>
            <a:ext cx="5029559" cy="6037920"/>
            <a:chOff x="4973760" y="1460160"/>
            <a:chExt cx="5029559" cy="6037920"/>
          </a:xfrm>
        </p:grpSpPr>
        <p:grpSp>
          <p:nvGrpSpPr>
            <p:cNvPr id="373" name="Google Shape;373;p42"/>
            <p:cNvGrpSpPr/>
            <p:nvPr/>
          </p:nvGrpSpPr>
          <p:grpSpPr>
            <a:xfrm>
              <a:off x="4973760" y="1460160"/>
              <a:ext cx="2468880" cy="2710080"/>
              <a:chOff x="4973760" y="1460160"/>
              <a:chExt cx="2468880" cy="2710080"/>
            </a:xfrm>
          </p:grpSpPr>
          <p:pic>
            <p:nvPicPr>
              <p:cNvPr id="374" name="Google Shape;374;p42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4973760" y="1460160"/>
                <a:ext cx="2468880" cy="27100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5" name="Google Shape;375;p42"/>
              <p:cNvSpPr/>
              <p:nvPr/>
            </p:nvSpPr>
            <p:spPr>
              <a:xfrm>
                <a:off x="5932080" y="3698280"/>
                <a:ext cx="667080" cy="346320"/>
              </a:xfrm>
              <a:prstGeom prst="ellipse">
                <a:avLst/>
              </a:prstGeom>
              <a:noFill/>
              <a:ln cap="flat" cmpd="sng" w="730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6" name="Google Shape;376;p42"/>
            <p:cNvSpPr/>
            <p:nvPr/>
          </p:nvSpPr>
          <p:spPr>
            <a:xfrm>
              <a:off x="7534080" y="1549800"/>
              <a:ext cx="2469240" cy="2839680"/>
            </a:xfrm>
            <a:custGeom>
              <a:rect b="b" l="l" r="r" t="t"/>
              <a:pathLst>
                <a:path extrusionOk="0" h="7888" w="6859">
                  <a:moveTo>
                    <a:pt x="0" y="7887"/>
                  </a:moveTo>
                  <a:lnTo>
                    <a:pt x="0" y="0"/>
                  </a:lnTo>
                  <a:lnTo>
                    <a:pt x="6858" y="0"/>
                  </a:lnTo>
                  <a:lnTo>
                    <a:pt x="6858" y="7887"/>
                  </a:lnTo>
                  <a:lnTo>
                    <a:pt x="0" y="7887"/>
                  </a:lnTo>
                  <a:moveTo>
                    <a:pt x="3110" y="5275"/>
                  </a:moveTo>
                  <a:lnTo>
                    <a:pt x="6719" y="5275"/>
                  </a:lnTo>
                  <a:lnTo>
                    <a:pt x="3110" y="5275"/>
                  </a:lnTo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377" name="Google Shape;377;p42"/>
            <p:cNvGrpSpPr/>
            <p:nvPr/>
          </p:nvGrpSpPr>
          <p:grpSpPr>
            <a:xfrm>
              <a:off x="5017320" y="4389120"/>
              <a:ext cx="2425320" cy="3017520"/>
              <a:chOff x="5017320" y="4389120"/>
              <a:chExt cx="2425320" cy="3017520"/>
            </a:xfrm>
          </p:grpSpPr>
          <p:pic>
            <p:nvPicPr>
              <p:cNvPr id="378" name="Google Shape;378;p42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5017320" y="4389120"/>
                <a:ext cx="2425320" cy="301752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79" name="Google Shape;379;p42"/>
              <p:cNvCxnSpPr/>
              <p:nvPr/>
            </p:nvCxnSpPr>
            <p:spPr>
              <a:xfrm>
                <a:off x="6283080" y="6338160"/>
                <a:ext cx="374040" cy="0"/>
              </a:xfrm>
              <a:prstGeom prst="straightConnector1">
                <a:avLst/>
              </a:prstGeom>
              <a:noFill/>
              <a:ln cap="flat" cmpd="sng" w="730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80" name="Google Shape;380;p42"/>
            <p:cNvGrpSpPr/>
            <p:nvPr/>
          </p:nvGrpSpPr>
          <p:grpSpPr>
            <a:xfrm>
              <a:off x="7534080" y="4389120"/>
              <a:ext cx="2468880" cy="3108960"/>
              <a:chOff x="7534080" y="4389120"/>
              <a:chExt cx="2468880" cy="3108960"/>
            </a:xfrm>
          </p:grpSpPr>
          <p:pic>
            <p:nvPicPr>
              <p:cNvPr id="381" name="Google Shape;381;p42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7534080" y="4389120"/>
                <a:ext cx="2468880" cy="310896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2" name="Google Shape;382;p42"/>
              <p:cNvSpPr/>
              <p:nvPr/>
            </p:nvSpPr>
            <p:spPr>
              <a:xfrm>
                <a:off x="8796600" y="5872320"/>
                <a:ext cx="574200" cy="275760"/>
              </a:xfrm>
              <a:prstGeom prst="ellipse">
                <a:avLst/>
              </a:prstGeom>
              <a:noFill/>
              <a:ln cap="flat" cmpd="sng" w="730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"/>
          <p:cNvSpPr txBox="1"/>
          <p:nvPr/>
        </p:nvSpPr>
        <p:spPr>
          <a:xfrm>
            <a:off x="504000" y="49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Fazer algo a mais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3"/>
          <p:cNvSpPr txBox="1"/>
          <p:nvPr/>
        </p:nvSpPr>
        <p:spPr>
          <a:xfrm>
            <a:off x="272160" y="2158560"/>
            <a:ext cx="7744320" cy="88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latin typeface="Arial"/>
                <a:ea typeface="Arial"/>
                <a:cs typeface="Arial"/>
                <a:sym typeface="Arial"/>
              </a:rPr>
              <a:t>Sistematizar o aprendizado a partir da Natureza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lang="en-US" sz="2800" strike="noStrike">
                <a:latin typeface="Arial"/>
                <a:ea typeface="Arial"/>
                <a:cs typeface="Arial"/>
                <a:sym typeface="Arial"/>
              </a:rPr>
              <a:t>Essência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3"/>
          <p:cNvSpPr txBox="1"/>
          <p:nvPr/>
        </p:nvSpPr>
        <p:spPr>
          <a:xfrm>
            <a:off x="740160" y="2950560"/>
            <a:ext cx="7012800" cy="488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latin typeface="Arial"/>
                <a:ea typeface="Arial"/>
                <a:cs typeface="Arial"/>
                <a:sym typeface="Arial"/>
              </a:rPr>
              <a:t>Produzir algoritmos a partir dessa essência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43"/>
          <p:cNvSpPr txBox="1"/>
          <p:nvPr/>
        </p:nvSpPr>
        <p:spPr>
          <a:xfrm>
            <a:off x="272160" y="4210560"/>
            <a:ext cx="9798480" cy="229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latin typeface="Arial"/>
                <a:ea typeface="Arial"/>
                <a:cs typeface="Arial"/>
                <a:sym typeface="Arial"/>
              </a:rPr>
              <a:t>Há uma </a:t>
            </a:r>
            <a:r>
              <a:rPr b="1" lang="en-US" sz="2800" strike="noStrike">
                <a:latin typeface="Arial"/>
                <a:ea typeface="Arial"/>
                <a:cs typeface="Arial"/>
                <a:sym typeface="Arial"/>
              </a:rPr>
              <a:t>forma sistemática</a:t>
            </a:r>
            <a:r>
              <a:rPr b="0" lang="en-US" sz="2800" strike="noStrike">
                <a:latin typeface="Arial"/>
                <a:ea typeface="Arial"/>
                <a:cs typeface="Arial"/>
                <a:sym typeface="Arial"/>
              </a:rPr>
              <a:t> de fazer isso para Alg Evolutivos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	Um Método Genérico de Construção de Modelos Probabilísticos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		Algoritmos de Estimação de Distribuição de Propósito Geral	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                Para diversos contextos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	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" name="Google Shape;39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8400" y="2103120"/>
            <a:ext cx="1280160" cy="143208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3"/>
          <p:cNvSpPr txBox="1"/>
          <p:nvPr/>
        </p:nvSpPr>
        <p:spPr>
          <a:xfrm>
            <a:off x="-36000" y="6913440"/>
            <a:ext cx="7991280" cy="60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Seguir: 1o. Grupo → 2o. Forma sistematizada para Alg Evol → Seleç Natural etc.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3"/>
          <p:cNvSpPr txBox="1"/>
          <p:nvPr/>
        </p:nvSpPr>
        <p:spPr>
          <a:xfrm>
            <a:off x="8869680" y="1280160"/>
            <a:ext cx="1005840" cy="77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 strike="noStrike">
                <a:latin typeface="Arial"/>
                <a:ea typeface="Arial"/>
                <a:cs typeface="Arial"/>
                <a:sym typeface="Arial"/>
              </a:rPr>
              <a:t>*</a:t>
            </a:r>
            <a:endParaRPr b="0" sz="4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4"/>
          <p:cNvSpPr txBox="1"/>
          <p:nvPr/>
        </p:nvSpPr>
        <p:spPr>
          <a:xfrm>
            <a:off x="504000" y="85320"/>
            <a:ext cx="9188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A busca pela essência</a:t>
            </a:r>
            <a:br>
              <a:rPr lang="en-US" sz="1800"/>
            </a:br>
            <a:r>
              <a:rPr b="0" lang="en-US" sz="3800" strike="noStrike">
                <a:latin typeface="Arial"/>
                <a:ea typeface="Arial"/>
                <a:cs typeface="Arial"/>
                <a:sym typeface="Arial"/>
              </a:rPr>
              <a:t>a partir Mundo Real no grupo de pesquisa</a:t>
            </a:r>
            <a:endParaRPr b="0" sz="3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44"/>
          <p:cNvSpPr txBox="1"/>
          <p:nvPr/>
        </p:nvSpPr>
        <p:spPr>
          <a:xfrm>
            <a:off x="0" y="4595100"/>
            <a:ext cx="8547600" cy="19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Modelagem do Sistema 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Char char="●"/>
            </a:pPr>
            <a:r>
              <a:rPr b="1" lang="en-US" sz="200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0" sz="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Escolha de Técnicas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23256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Investigação de Melhorias por Demanda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23256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0" name="Google Shape;400;p44"/>
          <p:cNvCxnSpPr/>
          <p:nvPr/>
        </p:nvCxnSpPr>
        <p:spPr>
          <a:xfrm>
            <a:off x="3193920" y="4269600"/>
            <a:ext cx="0" cy="429840"/>
          </a:xfrm>
          <a:prstGeom prst="straightConnector1">
            <a:avLst/>
          </a:prstGeom>
          <a:noFill/>
          <a:ln cap="flat" cmpd="sng" w="36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401" name="Google Shape;40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20" y="2365920"/>
            <a:ext cx="2039040" cy="183996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44"/>
          <p:cNvSpPr txBox="1"/>
          <p:nvPr/>
        </p:nvSpPr>
        <p:spPr>
          <a:xfrm>
            <a:off x="-79920" y="3873600"/>
            <a:ext cx="237744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Sistemas Elétricos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520" y="2391120"/>
            <a:ext cx="175176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68000" y="2412000"/>
            <a:ext cx="1919880" cy="1829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4600" y="2377080"/>
            <a:ext cx="178992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1600" y="2391120"/>
            <a:ext cx="1809360" cy="1803600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7" name="Google Shape;407;p44"/>
          <p:cNvSpPr txBox="1"/>
          <p:nvPr/>
        </p:nvSpPr>
        <p:spPr>
          <a:xfrm>
            <a:off x="5896080" y="3873600"/>
            <a:ext cx="237744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L. de Produção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4"/>
          <p:cNvSpPr txBox="1"/>
          <p:nvPr/>
        </p:nvSpPr>
        <p:spPr>
          <a:xfrm>
            <a:off x="430980" y="6077175"/>
            <a:ext cx="47811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0" lang="en-US" sz="1600" strike="noStrike">
                <a:latin typeface="Arial"/>
                <a:ea typeface="Arial"/>
                <a:cs typeface="Arial"/>
                <a:sym typeface="Arial"/>
              </a:rPr>
              <a:t>Algoritmos Sequencias/Paralelos mais eficientes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0" lang="en-US" sz="1600" strike="noStrike">
                <a:latin typeface="Arial"/>
                <a:ea typeface="Arial"/>
                <a:cs typeface="Arial"/>
                <a:sym typeface="Arial"/>
              </a:rPr>
              <a:t>Arquiteturas mais eficientes para computar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0" lang="en-US" sz="1600" strike="noStrike">
                <a:latin typeface="Arial"/>
                <a:ea typeface="Arial"/>
                <a:cs typeface="Arial"/>
                <a:sym typeface="Arial"/>
              </a:rPr>
              <a:t>AEMOs específicos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44"/>
          <p:cNvCxnSpPr/>
          <p:nvPr/>
        </p:nvCxnSpPr>
        <p:spPr>
          <a:xfrm>
            <a:off x="3193920" y="4944600"/>
            <a:ext cx="0" cy="429840"/>
          </a:xfrm>
          <a:prstGeom prst="straightConnector1">
            <a:avLst/>
          </a:prstGeom>
          <a:noFill/>
          <a:ln cap="flat" cmpd="sng" w="36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0" name="Google Shape;410;p44"/>
          <p:cNvCxnSpPr/>
          <p:nvPr/>
        </p:nvCxnSpPr>
        <p:spPr>
          <a:xfrm>
            <a:off x="3193920" y="5655600"/>
            <a:ext cx="0" cy="429840"/>
          </a:xfrm>
          <a:prstGeom prst="straightConnector1">
            <a:avLst/>
          </a:prstGeom>
          <a:noFill/>
          <a:ln cap="flat" cmpd="sng" w="36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1" name="Google Shape;411;p44"/>
          <p:cNvSpPr txBox="1"/>
          <p:nvPr/>
        </p:nvSpPr>
        <p:spPr>
          <a:xfrm>
            <a:off x="2044080" y="3873600"/>
            <a:ext cx="237744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Bioinformática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44"/>
          <p:cNvSpPr txBox="1"/>
          <p:nvPr/>
        </p:nvSpPr>
        <p:spPr>
          <a:xfrm>
            <a:off x="4024080" y="3873600"/>
            <a:ext cx="237744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Agricultura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44"/>
          <p:cNvSpPr txBox="1"/>
          <p:nvPr/>
        </p:nvSpPr>
        <p:spPr>
          <a:xfrm>
            <a:off x="7876080" y="3873600"/>
            <a:ext cx="237744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Filogenia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4"/>
          <p:cNvSpPr txBox="1"/>
          <p:nvPr/>
        </p:nvSpPr>
        <p:spPr>
          <a:xfrm>
            <a:off x="110880" y="1501920"/>
            <a:ext cx="10149840" cy="831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Mundo Real 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	Natureza com as experiências humanas / perspectiva humana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5" name="Google Shape;415;p44"/>
          <p:cNvCxnSpPr/>
          <p:nvPr/>
        </p:nvCxnSpPr>
        <p:spPr>
          <a:xfrm>
            <a:off x="5212080" y="4846320"/>
            <a:ext cx="173736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6" name="Google Shape;416;p44"/>
          <p:cNvSpPr txBox="1"/>
          <p:nvPr/>
        </p:nvSpPr>
        <p:spPr>
          <a:xfrm>
            <a:off x="6949440" y="4480560"/>
            <a:ext cx="2377440" cy="85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Modelos com estruturas similares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lang="en-US" sz="1800" strike="noStrike">
                <a:latin typeface="Arial"/>
                <a:ea typeface="Arial"/>
                <a:cs typeface="Arial"/>
                <a:sym typeface="Arial"/>
              </a:rPr>
              <a:t>Essências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5"/>
          <p:cNvSpPr txBox="1"/>
          <p:nvPr/>
        </p:nvSpPr>
        <p:spPr>
          <a:xfrm>
            <a:off x="504000" y="49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Exemplo de inspiração na Natureza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2" name="Google Shape;42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8160" y="1962000"/>
            <a:ext cx="1142640" cy="1055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8480" y="1962000"/>
            <a:ext cx="1152720" cy="1055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88840" y="3066480"/>
            <a:ext cx="2432520" cy="1854720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5" name="Google Shape;425;p45"/>
          <p:cNvSpPr txBox="1"/>
          <p:nvPr/>
        </p:nvSpPr>
        <p:spPr>
          <a:xfrm>
            <a:off x="302400" y="4954320"/>
            <a:ext cx="6189840" cy="1032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Exemplo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Otimização baseada em Análises de Filogramas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6" name="Google Shape;426;p45"/>
          <p:cNvGrpSpPr/>
          <p:nvPr/>
        </p:nvGrpSpPr>
        <p:grpSpPr>
          <a:xfrm>
            <a:off x="6035040" y="4941000"/>
            <a:ext cx="4258800" cy="1969560"/>
            <a:chOff x="6035040" y="4941000"/>
            <a:chExt cx="4258800" cy="1969560"/>
          </a:xfrm>
        </p:grpSpPr>
        <p:sp>
          <p:nvSpPr>
            <p:cNvPr id="427" name="Google Shape;427;p45"/>
            <p:cNvSpPr txBox="1"/>
            <p:nvPr/>
          </p:nvSpPr>
          <p:spPr>
            <a:xfrm>
              <a:off x="6035040" y="5796720"/>
              <a:ext cx="17373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Alg. Evolutivos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45"/>
            <p:cNvSpPr txBox="1"/>
            <p:nvPr/>
          </p:nvSpPr>
          <p:spPr>
            <a:xfrm>
              <a:off x="7370640" y="4993200"/>
              <a:ext cx="118872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Biologia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45"/>
            <p:cNvSpPr txBox="1"/>
            <p:nvPr/>
          </p:nvSpPr>
          <p:spPr>
            <a:xfrm>
              <a:off x="7387200" y="6528240"/>
              <a:ext cx="1280160" cy="346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Filogenia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45"/>
            <p:cNvSpPr txBox="1"/>
            <p:nvPr/>
          </p:nvSpPr>
          <p:spPr>
            <a:xfrm>
              <a:off x="7899840" y="5560200"/>
              <a:ext cx="2394000" cy="602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Melhores Filogenias 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Mais rapidamente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45"/>
            <p:cNvSpPr/>
            <p:nvPr/>
          </p:nvSpPr>
          <p:spPr>
            <a:xfrm>
              <a:off x="6783120" y="6184440"/>
              <a:ext cx="640080" cy="726120"/>
            </a:xfrm>
            <a:custGeom>
              <a:rect b="b" l="l" r="r" t="t"/>
              <a:pathLst>
                <a:path extrusionOk="0" h="854" w="841">
                  <a:moveTo>
                    <a:pt x="517" y="247"/>
                  </a:moveTo>
                  <a:lnTo>
                    <a:pt x="517" y="415"/>
                  </a:lnTo>
                  <a:lnTo>
                    <a:pt x="264" y="415"/>
                  </a:lnTo>
                  <a:lnTo>
                    <a:pt x="264" y="0"/>
                  </a:lnTo>
                  <a:lnTo>
                    <a:pt x="0" y="0"/>
                  </a:lnTo>
                  <a:lnTo>
                    <a:pt x="0" y="680"/>
                  </a:lnTo>
                  <a:lnTo>
                    <a:pt x="517" y="680"/>
                  </a:lnTo>
                  <a:lnTo>
                    <a:pt x="517" y="854"/>
                  </a:lnTo>
                  <a:lnTo>
                    <a:pt x="841" y="547"/>
                  </a:lnTo>
                  <a:lnTo>
                    <a:pt x="517" y="247"/>
                  </a:lnTo>
                  <a:close/>
                </a:path>
              </a:pathLst>
            </a:cu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32" name="Google Shape;432;p45"/>
            <p:cNvSpPr/>
            <p:nvPr/>
          </p:nvSpPr>
          <p:spPr>
            <a:xfrm rot="5400000">
              <a:off x="6694560" y="5084640"/>
              <a:ext cx="640080" cy="640080"/>
            </a:xfrm>
            <a:custGeom>
              <a:rect b="b" l="l" r="r" t="t"/>
              <a:pathLst>
                <a:path extrusionOk="0" h="854" w="841">
                  <a:moveTo>
                    <a:pt x="517" y="247"/>
                  </a:moveTo>
                  <a:lnTo>
                    <a:pt x="517" y="415"/>
                  </a:lnTo>
                  <a:lnTo>
                    <a:pt x="264" y="415"/>
                  </a:lnTo>
                  <a:lnTo>
                    <a:pt x="264" y="0"/>
                  </a:lnTo>
                  <a:lnTo>
                    <a:pt x="0" y="0"/>
                  </a:lnTo>
                  <a:lnTo>
                    <a:pt x="0" y="680"/>
                  </a:lnTo>
                  <a:lnTo>
                    <a:pt x="517" y="680"/>
                  </a:lnTo>
                  <a:lnTo>
                    <a:pt x="517" y="854"/>
                  </a:lnTo>
                  <a:lnTo>
                    <a:pt x="841" y="547"/>
                  </a:lnTo>
                  <a:lnTo>
                    <a:pt x="517" y="247"/>
                  </a:lnTo>
                  <a:close/>
                </a:path>
              </a:pathLst>
            </a:cu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33" name="Google Shape;433;p45"/>
            <p:cNvSpPr/>
            <p:nvPr/>
          </p:nvSpPr>
          <p:spPr>
            <a:xfrm rot="-5521800">
              <a:off x="8407080" y="6174360"/>
              <a:ext cx="731880" cy="613800"/>
            </a:xfrm>
            <a:custGeom>
              <a:rect b="b" l="l" r="r" t="t"/>
              <a:pathLst>
                <a:path extrusionOk="0" h="854" w="841">
                  <a:moveTo>
                    <a:pt x="517" y="247"/>
                  </a:moveTo>
                  <a:lnTo>
                    <a:pt x="517" y="415"/>
                  </a:lnTo>
                  <a:lnTo>
                    <a:pt x="264" y="415"/>
                  </a:lnTo>
                  <a:lnTo>
                    <a:pt x="264" y="0"/>
                  </a:lnTo>
                  <a:lnTo>
                    <a:pt x="0" y="0"/>
                  </a:lnTo>
                  <a:lnTo>
                    <a:pt x="0" y="680"/>
                  </a:lnTo>
                  <a:lnTo>
                    <a:pt x="517" y="680"/>
                  </a:lnTo>
                  <a:lnTo>
                    <a:pt x="517" y="854"/>
                  </a:lnTo>
                  <a:lnTo>
                    <a:pt x="841" y="547"/>
                  </a:lnTo>
                  <a:lnTo>
                    <a:pt x="517" y="247"/>
                  </a:lnTo>
                  <a:close/>
                </a:path>
              </a:pathLst>
            </a:cu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34" name="Google Shape;434;p45"/>
            <p:cNvSpPr/>
            <p:nvPr/>
          </p:nvSpPr>
          <p:spPr>
            <a:xfrm rot="10800000">
              <a:off x="8308080" y="4941000"/>
              <a:ext cx="640080" cy="640080"/>
            </a:xfrm>
            <a:custGeom>
              <a:rect b="b" l="l" r="r" t="t"/>
              <a:pathLst>
                <a:path extrusionOk="0" h="854" w="841">
                  <a:moveTo>
                    <a:pt x="517" y="247"/>
                  </a:moveTo>
                  <a:lnTo>
                    <a:pt x="517" y="415"/>
                  </a:lnTo>
                  <a:lnTo>
                    <a:pt x="264" y="415"/>
                  </a:lnTo>
                  <a:lnTo>
                    <a:pt x="264" y="0"/>
                  </a:lnTo>
                  <a:lnTo>
                    <a:pt x="0" y="0"/>
                  </a:lnTo>
                  <a:lnTo>
                    <a:pt x="0" y="680"/>
                  </a:lnTo>
                  <a:lnTo>
                    <a:pt x="517" y="680"/>
                  </a:lnTo>
                  <a:lnTo>
                    <a:pt x="517" y="854"/>
                  </a:lnTo>
                  <a:lnTo>
                    <a:pt x="841" y="547"/>
                  </a:lnTo>
                  <a:lnTo>
                    <a:pt x="517" y="247"/>
                  </a:lnTo>
                  <a:close/>
                </a:path>
              </a:pathLst>
            </a:cu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435" name="Google Shape;435;p45"/>
          <p:cNvSpPr txBox="1"/>
          <p:nvPr/>
        </p:nvSpPr>
        <p:spPr>
          <a:xfrm>
            <a:off x="689760" y="6276600"/>
            <a:ext cx="3400920" cy="489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(Soares, AHM et al., 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Expert Systems With  Applications 2017)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5"/>
          <p:cNvSpPr txBox="1"/>
          <p:nvPr/>
        </p:nvSpPr>
        <p:spPr>
          <a:xfrm>
            <a:off x="731520" y="5963040"/>
            <a:ext cx="50292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Modelo Probabilístico baseado em Filogramas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760" y="4266720"/>
            <a:ext cx="2831760" cy="321192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46"/>
          <p:cNvSpPr txBox="1"/>
          <p:nvPr/>
        </p:nvSpPr>
        <p:spPr>
          <a:xfrm>
            <a:off x="504000" y="49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Soluções relevantes na exploração do Mundo Real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6"/>
          <p:cNvSpPr txBox="1"/>
          <p:nvPr/>
        </p:nvSpPr>
        <p:spPr>
          <a:xfrm>
            <a:off x="515520" y="1828800"/>
            <a:ext cx="8229600" cy="12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latin typeface="Arial"/>
                <a:ea typeface="Arial"/>
                <a:cs typeface="Arial"/>
                <a:sym typeface="Arial"/>
              </a:rPr>
              <a:t>O grupo de Sistemas Embarcados e Evolutivos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latin typeface="Arial"/>
                <a:ea typeface="Arial"/>
                <a:cs typeface="Arial"/>
                <a:sym typeface="Arial"/>
              </a:rPr>
              <a:t>e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latin typeface="Arial"/>
                <a:ea typeface="Arial"/>
                <a:cs typeface="Arial"/>
                <a:sym typeface="Arial"/>
              </a:rPr>
              <a:t>Colegas de outros Institutos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6"/>
          <p:cNvSpPr txBox="1"/>
          <p:nvPr/>
        </p:nvSpPr>
        <p:spPr>
          <a:xfrm>
            <a:off x="972720" y="3002040"/>
            <a:ext cx="8293680" cy="776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Têm contribuído (</a:t>
            </a:r>
            <a:r>
              <a:rPr b="0" lang="en-US" sz="2400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orient./coorient.</a:t>
            </a: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) com algoritmos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e aplicações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6"/>
          <p:cNvSpPr txBox="1"/>
          <p:nvPr/>
        </p:nvSpPr>
        <p:spPr>
          <a:xfrm>
            <a:off x="493920" y="4266720"/>
            <a:ext cx="9370080" cy="233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    Destaco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latin typeface="Arial"/>
                <a:ea typeface="Arial"/>
                <a:cs typeface="Arial"/>
                <a:sym typeface="Arial"/>
              </a:rPr>
              <a:t>      Critérios de Escolha de Estruturas no </a:t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latin typeface="Arial"/>
                <a:ea typeface="Arial"/>
                <a:cs typeface="Arial"/>
                <a:sym typeface="Arial"/>
              </a:rPr>
              <a:t>	projeto WeFold para o CASP10 (2012)</a:t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latin typeface="Arial"/>
                <a:ea typeface="Arial"/>
                <a:cs typeface="Arial"/>
                <a:sym typeface="Arial"/>
              </a:rPr>
              <a:t>		Com a participação do prêmio Nobel de 2013 </a:t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latin typeface="Arial"/>
                <a:ea typeface="Arial"/>
                <a:cs typeface="Arial"/>
                <a:sym typeface="Arial"/>
              </a:rPr>
              <a:t>		Michel Levitt</a:t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6"/>
          <p:cNvSpPr txBox="1"/>
          <p:nvPr/>
        </p:nvSpPr>
        <p:spPr>
          <a:xfrm>
            <a:off x="1383120" y="6632640"/>
            <a:ext cx="3008880" cy="3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(KHOURY, Proteins, 2014)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7" name="Google Shape;447;p46"/>
          <p:cNvGrpSpPr/>
          <p:nvPr/>
        </p:nvGrpSpPr>
        <p:grpSpPr>
          <a:xfrm>
            <a:off x="8246160" y="2014560"/>
            <a:ext cx="1727073" cy="2158402"/>
            <a:chOff x="8246160" y="2014560"/>
            <a:chExt cx="1727073" cy="2158402"/>
          </a:xfrm>
        </p:grpSpPr>
        <p:pic>
          <p:nvPicPr>
            <p:cNvPr id="448" name="Google Shape;448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46160" y="2180880"/>
              <a:ext cx="822960" cy="1188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9" name="Google Shape;449;p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105120" y="2014560"/>
              <a:ext cx="861840" cy="1080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0" name="Google Shape;450;p4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200">
              <a:off x="9106200" y="3096360"/>
              <a:ext cx="865440" cy="107532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7"/>
          <p:cNvSpPr txBox="1"/>
          <p:nvPr/>
        </p:nvSpPr>
        <p:spPr>
          <a:xfrm>
            <a:off x="274320" y="1985040"/>
            <a:ext cx="4023360" cy="280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Destaco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    O primeiro dobramento puramente “</a:t>
            </a:r>
            <a:r>
              <a:rPr b="1" lang="en-US" sz="2000" strike="noStrike">
                <a:latin typeface="Arial"/>
                <a:ea typeface="Arial"/>
                <a:cs typeface="Arial"/>
                <a:sym typeface="Arial"/>
              </a:rPr>
              <a:t>ab initio</a:t>
            </a: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” de  </a:t>
            </a:r>
            <a:r>
              <a:rPr b="1" lang="en-US" sz="2000" strike="noStrike">
                <a:latin typeface="Arial"/>
                <a:ea typeface="Arial"/>
                <a:cs typeface="Arial"/>
                <a:sym typeface="Arial"/>
              </a:rPr>
              <a:t>folhas betas</a:t>
            </a: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 em Predição de Estruturas de Proteínas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latin typeface="Arial"/>
                <a:ea typeface="Arial"/>
                <a:cs typeface="Arial"/>
                <a:sym typeface="Arial"/>
              </a:rPr>
              <a:t>    Capa do </a:t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latin typeface="Arial"/>
                <a:ea typeface="Arial"/>
                <a:cs typeface="Arial"/>
                <a:sym typeface="Arial"/>
              </a:rPr>
              <a:t>“Jounal of Computational Chemistry”</a:t>
            </a:r>
            <a:endParaRPr b="0" sz="2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7"/>
          <p:cNvSpPr txBox="1"/>
          <p:nvPr/>
        </p:nvSpPr>
        <p:spPr>
          <a:xfrm>
            <a:off x="8891280" y="6750000"/>
            <a:ext cx="1188720" cy="77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(Brasil et al,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J. of C. Chemistry, 2013)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7" name="Google Shape;45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0560" y="1371600"/>
            <a:ext cx="4680000" cy="613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7"/>
          <p:cNvSpPr txBox="1"/>
          <p:nvPr/>
        </p:nvSpPr>
        <p:spPr>
          <a:xfrm>
            <a:off x="504360" y="49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Soluções relevantes na exploração do Mundo Real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8"/>
          <p:cNvSpPr txBox="1"/>
          <p:nvPr/>
        </p:nvSpPr>
        <p:spPr>
          <a:xfrm>
            <a:off x="504000" y="49320"/>
            <a:ext cx="9188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Sistematização </a:t>
            </a:r>
            <a:br>
              <a:rPr lang="en-US" sz="1800"/>
            </a:b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do processo de modelagem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8"/>
          <p:cNvSpPr txBox="1"/>
          <p:nvPr/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2 áreas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Mineração de dados complexos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8000" lvl="2" marL="1296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latin typeface="Arial"/>
                <a:ea typeface="Arial"/>
                <a:cs typeface="Arial"/>
                <a:sym typeface="Arial"/>
              </a:rPr>
              <a:t>Em geral métodos para descobrirem novidades a partir de base de dados grandes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47420" lvl="5" marL="2592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Algoritmos de Estimação de Distribuição - AED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8000" lvl="2" marL="1296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latin typeface="Arial"/>
                <a:ea typeface="Arial"/>
                <a:cs typeface="Arial"/>
                <a:sym typeface="Arial"/>
              </a:rPr>
              <a:t>Uma técnica de otimização inspirada na Natureza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47420" lvl="4" marL="2160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55420" lvl="0" marL="432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5" name="Google Shape;46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484000"/>
            <a:ext cx="914400" cy="1082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9"/>
          <p:cNvSpPr txBox="1"/>
          <p:nvPr/>
        </p:nvSpPr>
        <p:spPr>
          <a:xfrm>
            <a:off x="504000" y="49320"/>
            <a:ext cx="9188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Aspectos fundamentais </a:t>
            </a:r>
            <a:br>
              <a:rPr lang="en-US" sz="1800"/>
            </a:b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desse processo de inspiração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49"/>
          <p:cNvSpPr txBox="1"/>
          <p:nvPr/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Questões a responder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Porque AEDs</a:t>
            </a: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 são relevantes para problemas do mundo real ?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82650" lvl="3" marL="1728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C0C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i="0" lang="en-US" sz="28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Como mineração de dados pode contribuir</a:t>
            </a:r>
            <a:r>
              <a:rPr b="0" i="0" lang="en-US" sz="28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no projeto de AEDs para problemas do mundo real ?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8000" lvl="2" marL="1296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1" i="0" lang="en-US" sz="2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Para uso de propósito geral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0"/>
          <p:cNvSpPr txBox="1"/>
          <p:nvPr/>
        </p:nvSpPr>
        <p:spPr>
          <a:xfrm>
            <a:off x="2880" y="85320"/>
            <a:ext cx="101498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Potencial Relativo de AEDs</a:t>
            </a:r>
            <a:br>
              <a:rPr lang="en-US" sz="1800"/>
            </a:br>
            <a:r>
              <a:rPr b="0" lang="en-US" sz="3400" strike="noStrike">
                <a:latin typeface="Arial"/>
                <a:ea typeface="Arial"/>
                <a:cs typeface="Arial"/>
                <a:sym typeface="Arial"/>
              </a:rPr>
              <a:t>Exemplo em Predição de Estruturas de Proteínas  </a:t>
            </a:r>
            <a:endParaRPr b="0" sz="3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50"/>
          <p:cNvSpPr txBox="1"/>
          <p:nvPr/>
        </p:nvSpPr>
        <p:spPr>
          <a:xfrm>
            <a:off x="545760" y="6747120"/>
            <a:ext cx="886968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Veja o video “What is a protein ?”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http://pdb101.rcsb.org/learn/resource/what-is-a-protein-video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8" name="Google Shape;478;p50"/>
          <p:cNvGrpSpPr/>
          <p:nvPr/>
        </p:nvGrpSpPr>
        <p:grpSpPr>
          <a:xfrm>
            <a:off x="460080" y="4599720"/>
            <a:ext cx="9103320" cy="1637640"/>
            <a:chOff x="460080" y="4599720"/>
            <a:chExt cx="9103320" cy="1637640"/>
          </a:xfrm>
        </p:grpSpPr>
        <p:sp>
          <p:nvSpPr>
            <p:cNvPr id="479" name="Google Shape;479;p50"/>
            <p:cNvSpPr txBox="1"/>
            <p:nvPr/>
          </p:nvSpPr>
          <p:spPr>
            <a:xfrm>
              <a:off x="460080" y="4599720"/>
              <a:ext cx="4175280" cy="602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1A11: GSEKMSTAISVLLAQAVFLLLTSQR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0" name="Google Shape;480;p50"/>
            <p:cNvGrpSpPr/>
            <p:nvPr/>
          </p:nvGrpSpPr>
          <p:grpSpPr>
            <a:xfrm>
              <a:off x="551520" y="5234400"/>
              <a:ext cx="9011880" cy="1002960"/>
              <a:chOff x="551520" y="5234400"/>
              <a:chExt cx="9011880" cy="1002960"/>
            </a:xfrm>
          </p:grpSpPr>
          <p:pic>
            <p:nvPicPr>
              <p:cNvPr id="481" name="Google Shape;481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115760" y="5325840"/>
                <a:ext cx="2447640" cy="7045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2" name="Google Shape;482;p5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51520" y="5399640"/>
                <a:ext cx="2028600" cy="83772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83" name="Google Shape;483;p50"/>
              <p:cNvGrpSpPr/>
              <p:nvPr/>
            </p:nvGrpSpPr>
            <p:grpSpPr>
              <a:xfrm>
                <a:off x="3627360" y="5234400"/>
                <a:ext cx="2504880" cy="931320"/>
                <a:chOff x="3627360" y="5234400"/>
                <a:chExt cx="2504880" cy="931320"/>
              </a:xfrm>
            </p:grpSpPr>
            <p:pic>
              <p:nvPicPr>
                <p:cNvPr id="484" name="Google Shape;484;p50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3627360" y="5234400"/>
                  <a:ext cx="2504880" cy="89496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485" name="Google Shape;485;p50"/>
                <p:cNvGrpSpPr/>
                <p:nvPr/>
              </p:nvGrpSpPr>
              <p:grpSpPr>
                <a:xfrm>
                  <a:off x="4126320" y="5820480"/>
                  <a:ext cx="203400" cy="345240"/>
                  <a:chOff x="4126320" y="5820480"/>
                  <a:chExt cx="203400" cy="345240"/>
                </a:xfrm>
              </p:grpSpPr>
              <p:sp>
                <p:nvSpPr>
                  <p:cNvPr id="486" name="Google Shape;486;p50"/>
                  <p:cNvSpPr/>
                  <p:nvPr/>
                </p:nvSpPr>
                <p:spPr>
                  <a:xfrm>
                    <a:off x="4126320" y="5820480"/>
                    <a:ext cx="203400" cy="345240"/>
                  </a:xfrm>
                  <a:custGeom>
                    <a:rect b="b" l="l" r="r" t="t"/>
                    <a:pathLst>
                      <a:path extrusionOk="0" h="959" w="565">
                        <a:moveTo>
                          <a:pt x="62" y="316"/>
                        </a:moveTo>
                        <a:cubicBezTo>
                          <a:pt x="0" y="85"/>
                          <a:pt x="212" y="0"/>
                          <a:pt x="328" y="24"/>
                        </a:cubicBezTo>
                        <a:cubicBezTo>
                          <a:pt x="486" y="57"/>
                          <a:pt x="490" y="321"/>
                          <a:pt x="521" y="491"/>
                        </a:cubicBezTo>
                        <a:cubicBezTo>
                          <a:pt x="549" y="644"/>
                          <a:pt x="564" y="889"/>
                          <a:pt x="388" y="944"/>
                        </a:cubicBezTo>
                        <a:lnTo>
                          <a:pt x="267" y="958"/>
                        </a:lnTo>
                        <a:lnTo>
                          <a:pt x="158" y="812"/>
                        </a:lnTo>
                        <a:lnTo>
                          <a:pt x="146" y="768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487" name="Google Shape;487;p50"/>
                  <p:cNvGrpSpPr/>
                  <p:nvPr/>
                </p:nvGrpSpPr>
                <p:grpSpPr>
                  <a:xfrm>
                    <a:off x="4169880" y="6053400"/>
                    <a:ext cx="58320" cy="94680"/>
                    <a:chOff x="4169880" y="6053400"/>
                    <a:chExt cx="58320" cy="94680"/>
                  </a:xfrm>
                </p:grpSpPr>
                <p:cxnSp>
                  <p:nvCxnSpPr>
                    <p:cNvPr id="488" name="Google Shape;488;p50"/>
                    <p:cNvCxnSpPr/>
                    <p:nvPr/>
                  </p:nvCxnSpPr>
                  <p:spPr>
                    <a:xfrm flipH="1">
                      <a:off x="4169880" y="6057360"/>
                      <a:ext cx="7200" cy="9072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489" name="Google Shape;489;p50"/>
                    <p:cNvCxnSpPr/>
                    <p:nvPr/>
                  </p:nvCxnSpPr>
                  <p:spPr>
                    <a:xfrm>
                      <a:off x="4176720" y="6053400"/>
                      <a:ext cx="51480" cy="5688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</p:grpSp>
            </p:grpSp>
          </p:grpSp>
          <p:cxnSp>
            <p:nvCxnSpPr>
              <p:cNvPr id="490" name="Google Shape;490;p50"/>
              <p:cNvCxnSpPr/>
              <p:nvPr/>
            </p:nvCxnSpPr>
            <p:spPr>
              <a:xfrm>
                <a:off x="2746080" y="5719680"/>
                <a:ext cx="73152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91" name="Google Shape;491;p50"/>
              <p:cNvCxnSpPr/>
              <p:nvPr/>
            </p:nvCxnSpPr>
            <p:spPr>
              <a:xfrm>
                <a:off x="6204240" y="5719680"/>
                <a:ext cx="73152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</p:grpSp>
      <p:grpSp>
        <p:nvGrpSpPr>
          <p:cNvPr id="492" name="Google Shape;492;p50"/>
          <p:cNvGrpSpPr/>
          <p:nvPr/>
        </p:nvGrpSpPr>
        <p:grpSpPr>
          <a:xfrm>
            <a:off x="1984320" y="1975680"/>
            <a:ext cx="6210720" cy="2222640"/>
            <a:chOff x="1984320" y="1975680"/>
            <a:chExt cx="6210720" cy="2222640"/>
          </a:xfrm>
        </p:grpSpPr>
        <p:grpSp>
          <p:nvGrpSpPr>
            <p:cNvPr id="493" name="Google Shape;493;p50"/>
            <p:cNvGrpSpPr/>
            <p:nvPr/>
          </p:nvGrpSpPr>
          <p:grpSpPr>
            <a:xfrm>
              <a:off x="2260080" y="1975680"/>
              <a:ext cx="5934960" cy="2222640"/>
              <a:chOff x="2260080" y="1975680"/>
              <a:chExt cx="5934960" cy="2222640"/>
            </a:xfrm>
          </p:grpSpPr>
          <p:grpSp>
            <p:nvGrpSpPr>
              <p:cNvPr id="494" name="Google Shape;494;p50"/>
              <p:cNvGrpSpPr/>
              <p:nvPr/>
            </p:nvGrpSpPr>
            <p:grpSpPr>
              <a:xfrm>
                <a:off x="2260080" y="1975680"/>
                <a:ext cx="3291840" cy="2097720"/>
                <a:chOff x="2260080" y="1975680"/>
                <a:chExt cx="3291840" cy="2097720"/>
              </a:xfrm>
            </p:grpSpPr>
            <p:pic>
              <p:nvPicPr>
                <p:cNvPr id="495" name="Google Shape;495;p50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2260080" y="1975680"/>
                  <a:ext cx="3291840" cy="209772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496" name="Google Shape;496;p50"/>
                <p:cNvGrpSpPr/>
                <p:nvPr/>
              </p:nvGrpSpPr>
              <p:grpSpPr>
                <a:xfrm>
                  <a:off x="4143960" y="2409480"/>
                  <a:ext cx="228960" cy="794520"/>
                  <a:chOff x="4143960" y="2409480"/>
                  <a:chExt cx="228960" cy="794520"/>
                </a:xfrm>
              </p:grpSpPr>
              <p:sp>
                <p:nvSpPr>
                  <p:cNvPr id="497" name="Google Shape;497;p50"/>
                  <p:cNvSpPr/>
                  <p:nvPr/>
                </p:nvSpPr>
                <p:spPr>
                  <a:xfrm>
                    <a:off x="4169520" y="2747880"/>
                    <a:ext cx="203400" cy="444600"/>
                  </a:xfrm>
                  <a:custGeom>
                    <a:rect b="b" l="l" r="r" t="t"/>
                    <a:pathLst>
                      <a:path extrusionOk="0" h="1235" w="565">
                        <a:moveTo>
                          <a:pt x="62" y="406"/>
                        </a:moveTo>
                        <a:cubicBezTo>
                          <a:pt x="0" y="110"/>
                          <a:pt x="212" y="0"/>
                          <a:pt x="327" y="31"/>
                        </a:cubicBezTo>
                        <a:cubicBezTo>
                          <a:pt x="485" y="73"/>
                          <a:pt x="490" y="414"/>
                          <a:pt x="521" y="633"/>
                        </a:cubicBezTo>
                        <a:cubicBezTo>
                          <a:pt x="548" y="830"/>
                          <a:pt x="564" y="1145"/>
                          <a:pt x="387" y="1215"/>
                        </a:cubicBezTo>
                        <a:lnTo>
                          <a:pt x="266" y="1234"/>
                        </a:lnTo>
                        <a:lnTo>
                          <a:pt x="158" y="1046"/>
                        </a:lnTo>
                        <a:lnTo>
                          <a:pt x="146" y="988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8" name="Google Shape;498;p50"/>
                  <p:cNvSpPr txBox="1"/>
                  <p:nvPr/>
                </p:nvSpPr>
                <p:spPr>
                  <a:xfrm>
                    <a:off x="4143960" y="2409480"/>
                    <a:ext cx="219240" cy="434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1" lang="en-US" sz="1800" strike="noStrike">
                        <a:latin typeface="Arial"/>
                        <a:ea typeface="Arial"/>
                        <a:cs typeface="Arial"/>
                        <a:sym typeface="Arial"/>
                      </a:rPr>
                      <a:t>Ф</a:t>
                    </a:r>
                    <a:endParaRPr b="0" sz="1800" strike="noStrike"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499" name="Google Shape;499;p50"/>
                  <p:cNvGrpSpPr/>
                  <p:nvPr/>
                </p:nvGrpSpPr>
                <p:grpSpPr>
                  <a:xfrm>
                    <a:off x="4213080" y="3082320"/>
                    <a:ext cx="58320" cy="121680"/>
                    <a:chOff x="4213080" y="3082320"/>
                    <a:chExt cx="58320" cy="121680"/>
                  </a:xfrm>
                </p:grpSpPr>
                <p:cxnSp>
                  <p:nvCxnSpPr>
                    <p:cNvPr id="500" name="Google Shape;500;p50"/>
                    <p:cNvCxnSpPr/>
                    <p:nvPr/>
                  </p:nvCxnSpPr>
                  <p:spPr>
                    <a:xfrm flipH="1">
                      <a:off x="4213080" y="3087360"/>
                      <a:ext cx="7200" cy="11664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501" name="Google Shape;501;p50"/>
                    <p:cNvCxnSpPr/>
                    <p:nvPr/>
                  </p:nvCxnSpPr>
                  <p:spPr>
                    <a:xfrm>
                      <a:off x="4219920" y="3082320"/>
                      <a:ext cx="51480" cy="7308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</p:grpSp>
            </p:grpSp>
            <p:grpSp>
              <p:nvGrpSpPr>
                <p:cNvPr id="502" name="Google Shape;502;p50"/>
                <p:cNvGrpSpPr/>
                <p:nvPr/>
              </p:nvGrpSpPr>
              <p:grpSpPr>
                <a:xfrm>
                  <a:off x="4631040" y="2409480"/>
                  <a:ext cx="280800" cy="881640"/>
                  <a:chOff x="4631040" y="2409480"/>
                  <a:chExt cx="280800" cy="881640"/>
                </a:xfrm>
              </p:grpSpPr>
              <p:sp>
                <p:nvSpPr>
                  <p:cNvPr id="503" name="Google Shape;503;p50"/>
                  <p:cNvSpPr/>
                  <p:nvPr/>
                </p:nvSpPr>
                <p:spPr>
                  <a:xfrm>
                    <a:off x="4631040" y="2784960"/>
                    <a:ext cx="232920" cy="493200"/>
                  </a:xfrm>
                  <a:custGeom>
                    <a:rect b="b" l="l" r="r" t="t"/>
                    <a:pathLst>
                      <a:path extrusionOk="0" h="1370" w="647">
                        <a:moveTo>
                          <a:pt x="71" y="451"/>
                        </a:moveTo>
                        <a:cubicBezTo>
                          <a:pt x="0" y="121"/>
                          <a:pt x="244" y="0"/>
                          <a:pt x="374" y="33"/>
                        </a:cubicBezTo>
                        <a:cubicBezTo>
                          <a:pt x="556" y="81"/>
                          <a:pt x="561" y="460"/>
                          <a:pt x="596" y="701"/>
                        </a:cubicBezTo>
                        <a:cubicBezTo>
                          <a:pt x="628" y="921"/>
                          <a:pt x="646" y="1270"/>
                          <a:pt x="444" y="1348"/>
                        </a:cubicBezTo>
                        <a:lnTo>
                          <a:pt x="306" y="1369"/>
                        </a:lnTo>
                        <a:lnTo>
                          <a:pt x="182" y="1160"/>
                        </a:lnTo>
                        <a:lnTo>
                          <a:pt x="168" y="1098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4" name="Google Shape;504;p50"/>
                  <p:cNvSpPr txBox="1"/>
                  <p:nvPr/>
                </p:nvSpPr>
                <p:spPr>
                  <a:xfrm>
                    <a:off x="4660920" y="2409480"/>
                    <a:ext cx="250920" cy="48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1" lang="en-US" sz="1800" strike="noStrike">
                        <a:latin typeface="Arial"/>
                        <a:ea typeface="Arial"/>
                        <a:cs typeface="Arial"/>
                        <a:sym typeface="Arial"/>
                      </a:rPr>
                      <a:t>Ψ</a:t>
                    </a:r>
                    <a:endParaRPr b="0" sz="1800" strike="noStrike"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505" name="Google Shape;505;p50"/>
                  <p:cNvGrpSpPr/>
                  <p:nvPr/>
                </p:nvGrpSpPr>
                <p:grpSpPr>
                  <a:xfrm>
                    <a:off x="4680720" y="3155760"/>
                    <a:ext cx="66600" cy="135360"/>
                    <a:chOff x="4680720" y="3155760"/>
                    <a:chExt cx="66600" cy="135360"/>
                  </a:xfrm>
                </p:grpSpPr>
                <p:cxnSp>
                  <p:nvCxnSpPr>
                    <p:cNvPr id="506" name="Google Shape;506;p50"/>
                    <p:cNvCxnSpPr/>
                    <p:nvPr/>
                  </p:nvCxnSpPr>
                  <p:spPr>
                    <a:xfrm flipH="1">
                      <a:off x="4680720" y="3161520"/>
                      <a:ext cx="8280" cy="129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507" name="Google Shape;507;p50"/>
                    <p:cNvCxnSpPr/>
                    <p:nvPr/>
                  </p:nvCxnSpPr>
                  <p:spPr>
                    <a:xfrm>
                      <a:off x="4688640" y="3155760"/>
                      <a:ext cx="58680" cy="8064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</p:grpSp>
            </p:grpSp>
            <p:sp>
              <p:nvSpPr>
                <p:cNvPr id="508" name="Google Shape;508;p50"/>
                <p:cNvSpPr txBox="1"/>
                <p:nvPr/>
              </p:nvSpPr>
              <p:spPr>
                <a:xfrm>
                  <a:off x="4363200" y="2508480"/>
                  <a:ext cx="180720" cy="43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09" name="Google Shape;509;p50"/>
              <p:cNvGrpSpPr/>
              <p:nvPr/>
            </p:nvGrpSpPr>
            <p:grpSpPr>
              <a:xfrm>
                <a:off x="5824080" y="1989360"/>
                <a:ext cx="2370960" cy="2208960"/>
                <a:chOff x="5824080" y="1989360"/>
                <a:chExt cx="2370960" cy="2208960"/>
              </a:xfrm>
            </p:grpSpPr>
            <p:pic>
              <p:nvPicPr>
                <p:cNvPr id="510" name="Google Shape;510;p50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6245280" y="1989360"/>
                  <a:ext cx="1949760" cy="186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11" name="Google Shape;511;p50"/>
                <p:cNvSpPr txBox="1"/>
                <p:nvPr/>
              </p:nvSpPr>
              <p:spPr>
                <a:xfrm>
                  <a:off x="7107840" y="3852000"/>
                  <a:ext cx="362160" cy="346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1" lang="en-US" sz="1800" strike="noStrike">
                      <a:latin typeface="Arial"/>
                      <a:ea typeface="Arial"/>
                      <a:cs typeface="Arial"/>
                      <a:sym typeface="Arial"/>
                    </a:rPr>
                    <a:t>Ф</a:t>
                  </a:r>
                  <a:endParaRPr b="0" sz="1800" strike="noStrike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2" name="Google Shape;512;p50"/>
                <p:cNvSpPr txBox="1"/>
                <p:nvPr/>
              </p:nvSpPr>
              <p:spPr>
                <a:xfrm>
                  <a:off x="5824080" y="2610720"/>
                  <a:ext cx="371160" cy="346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1" lang="en-US" sz="1800" strike="noStrike">
                      <a:latin typeface="Arial"/>
                      <a:ea typeface="Arial"/>
                      <a:cs typeface="Arial"/>
                      <a:sym typeface="Arial"/>
                    </a:rPr>
                    <a:t>Ψ</a:t>
                  </a:r>
                  <a:endParaRPr b="0" sz="1800" strike="noStrike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513" name="Google Shape;513;p50"/>
            <p:cNvSpPr/>
            <p:nvPr/>
          </p:nvSpPr>
          <p:spPr>
            <a:xfrm>
              <a:off x="1984320" y="2519640"/>
              <a:ext cx="3887280" cy="1367640"/>
            </a:xfrm>
            <a:custGeom>
              <a:rect b="b" l="l" r="r" t="t"/>
              <a:pathLst>
                <a:path extrusionOk="0" h="3799" w="10798">
                  <a:moveTo>
                    <a:pt x="0" y="3798"/>
                  </a:moveTo>
                  <a:cubicBezTo>
                    <a:pt x="67" y="3247"/>
                    <a:pt x="148" y="2663"/>
                    <a:pt x="470" y="2219"/>
                  </a:cubicBezTo>
                  <a:cubicBezTo>
                    <a:pt x="769" y="1806"/>
                    <a:pt x="1456" y="1791"/>
                    <a:pt x="1835" y="2048"/>
                  </a:cubicBezTo>
                  <a:cubicBezTo>
                    <a:pt x="2398" y="2429"/>
                    <a:pt x="2598" y="2149"/>
                    <a:pt x="3158" y="2475"/>
                  </a:cubicBezTo>
                  <a:cubicBezTo>
                    <a:pt x="3554" y="2706"/>
                    <a:pt x="4068" y="2569"/>
                    <a:pt x="4524" y="2518"/>
                  </a:cubicBezTo>
                  <a:cubicBezTo>
                    <a:pt x="5203" y="2442"/>
                    <a:pt x="5069" y="1505"/>
                    <a:pt x="5804" y="1493"/>
                  </a:cubicBezTo>
                  <a:cubicBezTo>
                    <a:pt x="6289" y="1485"/>
                    <a:pt x="6769" y="1397"/>
                    <a:pt x="7255" y="1365"/>
                  </a:cubicBezTo>
                  <a:cubicBezTo>
                    <a:pt x="7741" y="1333"/>
                    <a:pt x="8222" y="1306"/>
                    <a:pt x="8706" y="1323"/>
                  </a:cubicBezTo>
                  <a:cubicBezTo>
                    <a:pt x="9274" y="1343"/>
                    <a:pt x="9612" y="865"/>
                    <a:pt x="10029" y="597"/>
                  </a:cubicBezTo>
                  <a:lnTo>
                    <a:pt x="10498" y="298"/>
                  </a:lnTo>
                  <a:lnTo>
                    <a:pt x="10797" y="0"/>
                  </a:lnTo>
                </a:path>
              </a:pathLst>
            </a:custGeom>
            <a:noFill/>
            <a:ln cap="flat" cmpd="sng" w="36700">
              <a:solidFill>
                <a:srgbClr val="7DA6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50"/>
            <p:cNvSpPr txBox="1"/>
            <p:nvPr/>
          </p:nvSpPr>
          <p:spPr>
            <a:xfrm>
              <a:off x="4516560" y="3458160"/>
              <a:ext cx="457200" cy="290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2|</a:t>
              </a:r>
              <a:endParaRPr b="0" sz="14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50"/>
            <p:cNvSpPr txBox="1"/>
            <p:nvPr/>
          </p:nvSpPr>
          <p:spPr>
            <a:xfrm>
              <a:off x="3236400" y="3783600"/>
              <a:ext cx="457200" cy="290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sz="14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16" name="Google Shape;516;p5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97560" y="6035040"/>
            <a:ext cx="1155960" cy="822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5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71880" y="6030360"/>
            <a:ext cx="1209240" cy="827640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18" name="Google Shape;518;p5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33680" y="6035040"/>
            <a:ext cx="1210320" cy="822960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1"/>
          <p:cNvSpPr txBox="1"/>
          <p:nvPr/>
        </p:nvSpPr>
        <p:spPr>
          <a:xfrm>
            <a:off x="182880" y="49320"/>
            <a:ext cx="989712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Potencial Relativo de AEDs</a:t>
            </a:r>
            <a:br>
              <a:rPr lang="en-US" sz="1800"/>
            </a:br>
            <a:r>
              <a:rPr b="0" lang="en-US" sz="3400" strike="noStrike">
                <a:latin typeface="Arial"/>
                <a:ea typeface="Arial"/>
                <a:cs typeface="Arial"/>
                <a:sym typeface="Arial"/>
              </a:rPr>
              <a:t>Exemplo em Predição de Estruturas de Proteínas  </a:t>
            </a:r>
            <a:endParaRPr b="0" sz="3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4" name="Google Shape;52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0" y="2341440"/>
            <a:ext cx="8695800" cy="5162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30240" y="3657600"/>
            <a:ext cx="1949760" cy="195876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51"/>
          <p:cNvSpPr txBox="1"/>
          <p:nvPr/>
        </p:nvSpPr>
        <p:spPr>
          <a:xfrm>
            <a:off x="767520" y="6894000"/>
            <a:ext cx="7938720" cy="3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Busca Aleatória       M.C.                    Alg. Gen..           Evol. Dif.             AED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51"/>
          <p:cNvSpPr txBox="1"/>
          <p:nvPr/>
        </p:nvSpPr>
        <p:spPr>
          <a:xfrm>
            <a:off x="8226720" y="5639040"/>
            <a:ext cx="18532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Vol. P1 / P2 ~ 4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2"/>
          <p:cNvSpPr txBox="1"/>
          <p:nvPr/>
        </p:nvSpPr>
        <p:spPr>
          <a:xfrm>
            <a:off x="504000" y="49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Algoritmos de Estimação de Distribuição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2"/>
          <p:cNvSpPr txBox="1"/>
          <p:nvPr/>
        </p:nvSpPr>
        <p:spPr>
          <a:xfrm>
            <a:off x="108000" y="1697040"/>
            <a:ext cx="10083600" cy="168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Exemplo de problema de otimização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O projeto de um sistema de extrusão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8000" lvl="2" marL="1296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latin typeface="Arial"/>
                <a:ea typeface="Arial"/>
                <a:cs typeface="Arial"/>
                <a:sym typeface="Arial"/>
              </a:rPr>
              <a:t>Material plástico derretido e remodelado em forma de filamento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55420" lvl="0" marL="432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4" name="Google Shape;534;p52"/>
          <p:cNvGrpSpPr/>
          <p:nvPr/>
        </p:nvGrpSpPr>
        <p:grpSpPr>
          <a:xfrm>
            <a:off x="673920" y="3303360"/>
            <a:ext cx="8676720" cy="4067280"/>
            <a:chOff x="673920" y="3303360"/>
            <a:chExt cx="8676720" cy="4067280"/>
          </a:xfrm>
        </p:grpSpPr>
        <p:sp>
          <p:nvSpPr>
            <p:cNvPr id="535" name="Google Shape;535;p52"/>
            <p:cNvSpPr/>
            <p:nvPr/>
          </p:nvSpPr>
          <p:spPr>
            <a:xfrm>
              <a:off x="2375280" y="4882320"/>
              <a:ext cx="1645920" cy="1468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52"/>
            <p:cNvSpPr/>
            <p:nvPr/>
          </p:nvSpPr>
          <p:spPr>
            <a:xfrm>
              <a:off x="2411280" y="4738320"/>
              <a:ext cx="1645920" cy="1468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52"/>
            <p:cNvSpPr/>
            <p:nvPr/>
          </p:nvSpPr>
          <p:spPr>
            <a:xfrm>
              <a:off x="2519280" y="4480560"/>
              <a:ext cx="5469840" cy="5846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52"/>
            <p:cNvSpPr/>
            <p:nvPr/>
          </p:nvSpPr>
          <p:spPr>
            <a:xfrm>
              <a:off x="2591280" y="4738320"/>
              <a:ext cx="1645920" cy="1468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39" name="Google Shape;539;p52"/>
            <p:cNvCxnSpPr/>
            <p:nvPr/>
          </p:nvCxnSpPr>
          <p:spPr>
            <a:xfrm flipH="1">
              <a:off x="3600000" y="4480560"/>
              <a:ext cx="1463040" cy="54864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40" name="Google Shape;540;p52"/>
            <p:cNvCxnSpPr/>
            <p:nvPr/>
          </p:nvCxnSpPr>
          <p:spPr>
            <a:xfrm>
              <a:off x="5063400" y="4480560"/>
              <a:ext cx="182520" cy="58464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41" name="Google Shape;541;p52"/>
            <p:cNvCxnSpPr/>
            <p:nvPr/>
          </p:nvCxnSpPr>
          <p:spPr>
            <a:xfrm>
              <a:off x="5063400" y="4480560"/>
              <a:ext cx="1462680" cy="58464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542" name="Google Shape;542;p52"/>
            <p:cNvGrpSpPr/>
            <p:nvPr/>
          </p:nvGrpSpPr>
          <p:grpSpPr>
            <a:xfrm>
              <a:off x="673920" y="3303360"/>
              <a:ext cx="8321040" cy="4067280"/>
              <a:chOff x="673920" y="3303360"/>
              <a:chExt cx="8321040" cy="4067280"/>
            </a:xfrm>
          </p:grpSpPr>
          <p:grpSp>
            <p:nvGrpSpPr>
              <p:cNvPr id="543" name="Google Shape;543;p52"/>
              <p:cNvGrpSpPr/>
              <p:nvPr/>
            </p:nvGrpSpPr>
            <p:grpSpPr>
              <a:xfrm>
                <a:off x="673920" y="3303360"/>
                <a:ext cx="8321040" cy="4067280"/>
                <a:chOff x="673920" y="3303360"/>
                <a:chExt cx="8321040" cy="4067280"/>
              </a:xfrm>
            </p:grpSpPr>
            <p:pic>
              <p:nvPicPr>
                <p:cNvPr id="544" name="Google Shape;544;p5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673920" y="4181760"/>
                  <a:ext cx="8321040" cy="318888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45" name="Google Shape;545;p52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1247040" y="3303360"/>
                  <a:ext cx="2011680" cy="106128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546" name="Google Shape;546;p52"/>
              <p:cNvSpPr txBox="1"/>
              <p:nvPr/>
            </p:nvSpPr>
            <p:spPr>
              <a:xfrm>
                <a:off x="2275200" y="3597120"/>
                <a:ext cx="1097280" cy="346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 strike="noStrike">
                    <a:latin typeface="Arial"/>
                    <a:ea typeface="Arial"/>
                    <a:cs typeface="Arial"/>
                    <a:sym typeface="Arial"/>
                  </a:rPr>
                  <a:t>Plástico</a:t>
                </a:r>
                <a:endParaRPr b="0" sz="1800" strike="noStrike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47" name="Google Shape;547;p52"/>
            <p:cNvSpPr/>
            <p:nvPr/>
          </p:nvSpPr>
          <p:spPr>
            <a:xfrm>
              <a:off x="8961480" y="5324040"/>
              <a:ext cx="389160" cy="1243800"/>
            </a:xfrm>
            <a:custGeom>
              <a:rect b="b" l="l" r="r" t="t"/>
              <a:pathLst>
                <a:path extrusionOk="0" h="3455" w="1081">
                  <a:moveTo>
                    <a:pt x="99" y="210"/>
                  </a:moveTo>
                  <a:cubicBezTo>
                    <a:pt x="684" y="0"/>
                    <a:pt x="868" y="785"/>
                    <a:pt x="782" y="1192"/>
                  </a:cubicBezTo>
                  <a:cubicBezTo>
                    <a:pt x="676" y="1691"/>
                    <a:pt x="0" y="1941"/>
                    <a:pt x="227" y="2516"/>
                  </a:cubicBezTo>
                  <a:lnTo>
                    <a:pt x="312" y="3027"/>
                  </a:lnTo>
                  <a:lnTo>
                    <a:pt x="739" y="3411"/>
                  </a:lnTo>
                  <a:lnTo>
                    <a:pt x="1080" y="3454"/>
                  </a:lnTo>
                </a:path>
              </a:pathLst>
            </a:custGeom>
            <a:noFill/>
            <a:ln cap="flat" cmpd="sng" w="1461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3"/>
          <p:cNvSpPr txBox="1"/>
          <p:nvPr/>
        </p:nvSpPr>
        <p:spPr>
          <a:xfrm>
            <a:off x="504000" y="1769040"/>
            <a:ext cx="8870040" cy="344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b="0" lang="en-US" sz="4000" strike="noStrike">
                <a:latin typeface="Arial"/>
                <a:ea typeface="Arial"/>
                <a:cs typeface="Arial"/>
                <a:sym typeface="Arial"/>
              </a:rPr>
              <a:t>O problema</a:t>
            </a:r>
            <a:endParaRPr b="0" sz="40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Determinar valores de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8000" lvl="2" marL="1296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dimensões da extrusora  (</a:t>
            </a:r>
            <a:r>
              <a:rPr b="0" i="1" lang="en-US" sz="3200" u="none" cap="none" strike="noStrike"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baseline="-25000" i="1" lang="en-US" sz="3200" u="none" cap="none" strike="noStrike"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1" lang="en-US" sz="3200" u="none" cap="none" strike="noStrike">
                <a:latin typeface="Arial"/>
                <a:ea typeface="Arial"/>
                <a:cs typeface="Arial"/>
                <a:sym typeface="Arial"/>
              </a:rPr>
              <a:t>, D</a:t>
            </a:r>
            <a:r>
              <a:rPr b="0" baseline="-25000" i="1" lang="en-US" sz="3200" u="none" cap="none" strike="noStrike"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1" lang="en-US" sz="3200" u="none" cap="none" strike="noStrike">
                <a:latin typeface="Arial"/>
                <a:ea typeface="Arial"/>
                <a:cs typeface="Arial"/>
                <a:sym typeface="Arial"/>
              </a:rPr>
              <a:t>, L</a:t>
            </a:r>
            <a:r>
              <a:rPr b="0" baseline="-25000" i="1" lang="en-US" sz="3200" u="none" cap="none" strike="noStrike"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1" lang="en-US" sz="3200" u="none" cap="none" strike="noStrike">
                <a:latin typeface="Arial"/>
                <a:ea typeface="Arial"/>
                <a:cs typeface="Arial"/>
                <a:sym typeface="Arial"/>
              </a:rPr>
              <a:t>, L</a:t>
            </a:r>
            <a:r>
              <a:rPr b="0" baseline="-25000" i="1" lang="en-US" sz="3200" u="none" cap="none" strike="noStrike"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1" lang="en-US" sz="3200" u="none" cap="none" strike="noStrike">
                <a:latin typeface="Arial"/>
                <a:ea typeface="Arial"/>
                <a:cs typeface="Arial"/>
                <a:sym typeface="Arial"/>
              </a:rPr>
              <a:t>, e, P</a:t>
            </a: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) 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8000" lvl="2" marL="1296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parâmetros de operação (</a:t>
            </a:r>
            <a:r>
              <a:rPr b="0" i="1" lang="en-US" sz="3200" u="none" cap="none" strike="noStrike">
                <a:latin typeface="Arial"/>
                <a:ea typeface="Arial"/>
                <a:cs typeface="Arial"/>
                <a:sym typeface="Arial"/>
              </a:rPr>
              <a:t>N, Tb</a:t>
            </a:r>
            <a:r>
              <a:rPr b="0" baseline="-25000" i="1" lang="en-US" sz="3200" u="none" cap="none" strike="noStrike"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1" lang="en-US" sz="3200" u="none" cap="none" strike="noStrike">
                <a:latin typeface="Arial"/>
                <a:ea typeface="Arial"/>
                <a:cs typeface="Arial"/>
                <a:sym typeface="Arial"/>
              </a:rPr>
              <a:t>, Tb</a:t>
            </a:r>
            <a:r>
              <a:rPr b="0" baseline="-25000" i="1" lang="en-US" sz="3200" u="none" cap="none" strike="noStrike"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1" lang="en-US" sz="3200" u="none" cap="none" strike="noStrike">
                <a:latin typeface="Arial"/>
                <a:ea typeface="Arial"/>
                <a:cs typeface="Arial"/>
                <a:sym typeface="Arial"/>
              </a:rPr>
              <a:t>,Tb</a:t>
            </a:r>
            <a:r>
              <a:rPr b="0" baseline="-25000" i="1" lang="en-US" sz="3200" u="none" cap="none" strike="noStrike"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3200" u="none" cap="none" strike="noStrike"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5" marL="2592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Maximizar a quantidade de massa processada – </a:t>
            </a:r>
            <a:r>
              <a:rPr b="0" i="1" lang="en-US" sz="2800" u="none" cap="none" strike="noStrike"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35990" lvl="7" marL="3456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Minimizar a energia consumida pela máquina – </a:t>
            </a:r>
            <a:r>
              <a:rPr b="0" i="1" lang="en-US" sz="2800" u="none" cap="none" strike="noStrike"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8000" lvl="2" marL="1296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1" lang="en-US" sz="24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53"/>
          <p:cNvSpPr txBox="1"/>
          <p:nvPr/>
        </p:nvSpPr>
        <p:spPr>
          <a:xfrm>
            <a:off x="504720" y="85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Algoritmos de Estimação de Distribuição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4"/>
          <p:cNvSpPr txBox="1"/>
          <p:nvPr/>
        </p:nvSpPr>
        <p:spPr>
          <a:xfrm>
            <a:off x="504000" y="1755720"/>
            <a:ext cx="8870040" cy="528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Modelo de relações entre as variáveis da extrusora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Grafo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9065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9065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9065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9" name="Google Shape;559;p54"/>
          <p:cNvGrpSpPr/>
          <p:nvPr/>
        </p:nvGrpSpPr>
        <p:grpSpPr>
          <a:xfrm>
            <a:off x="2286000" y="3592080"/>
            <a:ext cx="2194560" cy="2625840"/>
            <a:chOff x="2286000" y="3592080"/>
            <a:chExt cx="2194560" cy="2625840"/>
          </a:xfrm>
        </p:grpSpPr>
        <p:sp>
          <p:nvSpPr>
            <p:cNvPr id="560" name="Google Shape;560;p54"/>
            <p:cNvSpPr/>
            <p:nvPr/>
          </p:nvSpPr>
          <p:spPr>
            <a:xfrm>
              <a:off x="2286000" y="3592080"/>
              <a:ext cx="596880" cy="578160"/>
            </a:xfrm>
            <a:prstGeom prst="ellipse">
              <a:avLst/>
            </a:pr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54"/>
            <p:cNvSpPr/>
            <p:nvPr/>
          </p:nvSpPr>
          <p:spPr>
            <a:xfrm>
              <a:off x="2286000" y="4957200"/>
              <a:ext cx="596880" cy="578160"/>
            </a:xfrm>
            <a:prstGeom prst="ellipse">
              <a:avLst/>
            </a:prstGeom>
            <a:solidFill>
              <a:srgbClr val="E6FF0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L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54"/>
            <p:cNvSpPr/>
            <p:nvPr/>
          </p:nvSpPr>
          <p:spPr>
            <a:xfrm>
              <a:off x="3074400" y="3592080"/>
              <a:ext cx="596880" cy="57816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54"/>
            <p:cNvSpPr/>
            <p:nvPr/>
          </p:nvSpPr>
          <p:spPr>
            <a:xfrm>
              <a:off x="3084840" y="4957200"/>
              <a:ext cx="596880" cy="578160"/>
            </a:xfrm>
            <a:prstGeom prst="ellipse">
              <a:avLst/>
            </a:prstGeom>
            <a:solidFill>
              <a:srgbClr val="E6FF0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L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54"/>
            <p:cNvSpPr/>
            <p:nvPr/>
          </p:nvSpPr>
          <p:spPr>
            <a:xfrm>
              <a:off x="3883680" y="4274640"/>
              <a:ext cx="596880" cy="57816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54"/>
            <p:cNvSpPr/>
            <p:nvPr/>
          </p:nvSpPr>
          <p:spPr>
            <a:xfrm>
              <a:off x="3084840" y="4274640"/>
              <a:ext cx="596880" cy="57816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54"/>
            <p:cNvSpPr/>
            <p:nvPr/>
          </p:nvSpPr>
          <p:spPr>
            <a:xfrm>
              <a:off x="2286000" y="4274640"/>
              <a:ext cx="596880" cy="578160"/>
            </a:xfrm>
            <a:prstGeom prst="ellipse">
              <a:avLst/>
            </a:pr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54"/>
            <p:cNvSpPr/>
            <p:nvPr/>
          </p:nvSpPr>
          <p:spPr>
            <a:xfrm>
              <a:off x="3883680" y="5639760"/>
              <a:ext cx="596880" cy="578160"/>
            </a:xfrm>
            <a:prstGeom prst="ellipse">
              <a:avLst/>
            </a:prstGeom>
            <a:solidFill>
              <a:srgbClr val="C5000B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54"/>
            <p:cNvSpPr/>
            <p:nvPr/>
          </p:nvSpPr>
          <p:spPr>
            <a:xfrm>
              <a:off x="3084840" y="5639760"/>
              <a:ext cx="596880" cy="578160"/>
            </a:xfrm>
            <a:prstGeom prst="ellipse">
              <a:avLst/>
            </a:prstGeom>
            <a:solidFill>
              <a:srgbClr val="C5000B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54"/>
            <p:cNvSpPr/>
            <p:nvPr/>
          </p:nvSpPr>
          <p:spPr>
            <a:xfrm>
              <a:off x="2286000" y="5639760"/>
              <a:ext cx="596880" cy="578160"/>
            </a:xfrm>
            <a:prstGeom prst="ellipse">
              <a:avLst/>
            </a:prstGeom>
            <a:solidFill>
              <a:srgbClr val="C5000B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0" name="Google Shape;570;p54"/>
            <p:cNvCxnSpPr/>
            <p:nvPr/>
          </p:nvCxnSpPr>
          <p:spPr>
            <a:xfrm>
              <a:off x="2882880" y="5949360"/>
              <a:ext cx="201960" cy="0"/>
            </a:xfrm>
            <a:prstGeom prst="straightConnector1">
              <a:avLst/>
            </a:prstGeom>
            <a:noFill/>
            <a:ln cap="flat" cmpd="sng" w="3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1" name="Google Shape;571;p54"/>
            <p:cNvCxnSpPr/>
            <p:nvPr/>
          </p:nvCxnSpPr>
          <p:spPr>
            <a:xfrm>
              <a:off x="3681720" y="5949360"/>
              <a:ext cx="201960" cy="0"/>
            </a:xfrm>
            <a:prstGeom prst="straightConnector1">
              <a:avLst/>
            </a:prstGeom>
            <a:noFill/>
            <a:ln cap="flat" cmpd="sng" w="3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2" name="Google Shape;572;p54"/>
            <p:cNvCxnSpPr/>
            <p:nvPr/>
          </p:nvCxnSpPr>
          <p:spPr>
            <a:xfrm>
              <a:off x="2882880" y="5266800"/>
              <a:ext cx="201960" cy="0"/>
            </a:xfrm>
            <a:prstGeom prst="straightConnector1">
              <a:avLst/>
            </a:prstGeom>
            <a:noFill/>
            <a:ln cap="flat" cmpd="sng" w="3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3" name="Google Shape;573;p54"/>
            <p:cNvCxnSpPr/>
            <p:nvPr/>
          </p:nvCxnSpPr>
          <p:spPr>
            <a:xfrm>
              <a:off x="3681720" y="4584240"/>
              <a:ext cx="201960" cy="0"/>
            </a:xfrm>
            <a:prstGeom prst="straightConnector1">
              <a:avLst/>
            </a:prstGeom>
            <a:noFill/>
            <a:ln cap="flat" cmpd="sng" w="3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4" name="Google Shape;574;p54"/>
            <p:cNvCxnSpPr/>
            <p:nvPr/>
          </p:nvCxnSpPr>
          <p:spPr>
            <a:xfrm>
              <a:off x="2558160" y="4176000"/>
              <a:ext cx="0" cy="115560"/>
            </a:xfrm>
            <a:prstGeom prst="straightConnector1">
              <a:avLst/>
            </a:prstGeom>
            <a:noFill/>
            <a:ln cap="flat" cmpd="sng" w="3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5" name="Google Shape;575;p54"/>
            <p:cNvCxnSpPr/>
            <p:nvPr/>
          </p:nvCxnSpPr>
          <p:spPr>
            <a:xfrm>
              <a:off x="3357000" y="4176000"/>
              <a:ext cx="0" cy="115560"/>
            </a:xfrm>
            <a:prstGeom prst="straightConnector1">
              <a:avLst/>
            </a:prstGeom>
            <a:noFill/>
            <a:ln cap="flat" cmpd="sng" w="3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76" name="Google Shape;576;p54"/>
          <p:cNvSpPr txBox="1"/>
          <p:nvPr/>
        </p:nvSpPr>
        <p:spPr>
          <a:xfrm>
            <a:off x="505080" y="85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Algoritmos de Estimação de Distribuição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5"/>
          <p:cNvSpPr txBox="1"/>
          <p:nvPr/>
        </p:nvSpPr>
        <p:spPr>
          <a:xfrm>
            <a:off x="180000" y="1683720"/>
            <a:ext cx="9371520" cy="14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lang="en-US" sz="2800" strike="noStrike">
                <a:latin typeface="Arial"/>
                <a:ea typeface="Arial"/>
                <a:cs typeface="Arial"/>
                <a:sym typeface="Arial"/>
              </a:rPr>
              <a:t>Proporção dos pares de valores nas melhores amostras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Grupo </a:t>
            </a:r>
            <a:r>
              <a:rPr b="0" i="1" lang="en-US" sz="2800" u="none" cap="none" strike="noStrike">
                <a:solidFill>
                  <a:srgbClr val="0084D1"/>
                </a:solidFill>
                <a:latin typeface="Arial"/>
                <a:ea typeface="Arial"/>
                <a:cs typeface="Arial"/>
                <a:sym typeface="Arial"/>
              </a:rPr>
              <a:t>azul</a:t>
            </a: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 </a:t>
            </a: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Prob(</a:t>
            </a:r>
            <a:r>
              <a:rPr b="0" i="1" lang="en-US" sz="2800" u="none" cap="none" strike="noStrike">
                <a:solidFill>
                  <a:srgbClr val="0047FF"/>
                </a:solidFill>
                <a:latin typeface="Arial"/>
                <a:ea typeface="Arial"/>
                <a:cs typeface="Arial"/>
                <a:sym typeface="Arial"/>
              </a:rPr>
              <a:t>P, D</a:t>
            </a:r>
            <a:r>
              <a:rPr b="0" baseline="-25000" i="1" lang="en-US" sz="2800" u="none" cap="none" strike="noStrike">
                <a:solidFill>
                  <a:srgbClr val="0047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55"/>
          <p:cNvSpPr txBox="1"/>
          <p:nvPr/>
        </p:nvSpPr>
        <p:spPr>
          <a:xfrm>
            <a:off x="505080" y="85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Algoritmos de Estimação de Distribuição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5"/>
          <p:cNvSpPr txBox="1"/>
          <p:nvPr/>
        </p:nvSpPr>
        <p:spPr>
          <a:xfrm>
            <a:off x="648720" y="3057120"/>
            <a:ext cx="4294800" cy="390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strike="noStrike">
                <a:latin typeface="Arial"/>
                <a:ea typeface="Arial"/>
                <a:cs typeface="Arial"/>
                <a:sym typeface="Arial"/>
              </a:rPr>
              <a:t>Tabela de Probabilidades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55"/>
          <p:cNvSpPr/>
          <p:nvPr/>
        </p:nvSpPr>
        <p:spPr>
          <a:xfrm>
            <a:off x="645840" y="5647680"/>
            <a:ext cx="4297680" cy="4572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55"/>
          <p:cNvSpPr/>
          <p:nvPr/>
        </p:nvSpPr>
        <p:spPr>
          <a:xfrm>
            <a:off x="645840" y="6115680"/>
            <a:ext cx="4297680" cy="457200"/>
          </a:xfrm>
          <a:prstGeom prst="rect">
            <a:avLst/>
          </a:prstGeom>
          <a:solidFill>
            <a:srgbClr val="E6FF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55"/>
          <p:cNvSpPr/>
          <p:nvPr/>
        </p:nvSpPr>
        <p:spPr>
          <a:xfrm>
            <a:off x="645840" y="6583680"/>
            <a:ext cx="4297680" cy="457200"/>
          </a:xfrm>
          <a:prstGeom prst="rect">
            <a:avLst/>
          </a:prstGeom>
          <a:solidFill>
            <a:srgbClr val="C5000B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7" name="Google Shape;587;p55"/>
          <p:cNvGrpSpPr/>
          <p:nvPr/>
        </p:nvGrpSpPr>
        <p:grpSpPr>
          <a:xfrm>
            <a:off x="645840" y="3883680"/>
            <a:ext cx="4297680" cy="457200"/>
            <a:chOff x="645840" y="3883680"/>
            <a:chExt cx="4297680" cy="457200"/>
          </a:xfrm>
        </p:grpSpPr>
        <p:sp>
          <p:nvSpPr>
            <p:cNvPr id="588" name="Google Shape;588;p55"/>
            <p:cNvSpPr/>
            <p:nvPr/>
          </p:nvSpPr>
          <p:spPr>
            <a:xfrm>
              <a:off x="645840" y="3883680"/>
              <a:ext cx="1533240" cy="457200"/>
            </a:xfrm>
            <a:prstGeom prst="rect">
              <a:avLst/>
            </a:pr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30-35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55"/>
            <p:cNvSpPr/>
            <p:nvPr/>
          </p:nvSpPr>
          <p:spPr>
            <a:xfrm>
              <a:off x="2169720" y="3883680"/>
              <a:ext cx="1568880" cy="457200"/>
            </a:xfrm>
            <a:prstGeom prst="rect">
              <a:avLst/>
            </a:pr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20-23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55"/>
            <p:cNvSpPr/>
            <p:nvPr/>
          </p:nvSpPr>
          <p:spPr>
            <a:xfrm>
              <a:off x="3738600" y="3883680"/>
              <a:ext cx="1204920" cy="457200"/>
            </a:xfrm>
            <a:prstGeom prst="rect">
              <a:avLst/>
            </a:pr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82%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1" name="Google Shape;591;p55"/>
          <p:cNvGrpSpPr/>
          <p:nvPr/>
        </p:nvGrpSpPr>
        <p:grpSpPr>
          <a:xfrm>
            <a:off x="645840" y="3451680"/>
            <a:ext cx="4297680" cy="457200"/>
            <a:chOff x="645840" y="3451680"/>
            <a:chExt cx="4297680" cy="457200"/>
          </a:xfrm>
        </p:grpSpPr>
        <p:sp>
          <p:nvSpPr>
            <p:cNvPr id="592" name="Google Shape;592;p55"/>
            <p:cNvSpPr/>
            <p:nvPr/>
          </p:nvSpPr>
          <p:spPr>
            <a:xfrm>
              <a:off x="645840" y="3451680"/>
              <a:ext cx="1533240" cy="457200"/>
            </a:xfrm>
            <a:prstGeom prst="rect">
              <a:avLst/>
            </a:pr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solidFill>
                    <a:srgbClr val="99CCFF"/>
                  </a:solidFill>
                  <a:latin typeface="Arial"/>
                  <a:ea typeface="Arial"/>
                  <a:cs typeface="Arial"/>
                  <a:sym typeface="Arial"/>
                </a:rPr>
                <a:t>P  </a:t>
              </a:r>
              <a:r>
                <a:rPr b="0" lang="en-US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mm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55"/>
            <p:cNvSpPr/>
            <p:nvPr/>
          </p:nvSpPr>
          <p:spPr>
            <a:xfrm>
              <a:off x="2169720" y="3451680"/>
              <a:ext cx="1568880" cy="457200"/>
            </a:xfrm>
            <a:prstGeom prst="rect">
              <a:avLst/>
            </a:pr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solidFill>
                    <a:srgbClr val="99CCFF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1800" strike="noStrike">
                  <a:solidFill>
                    <a:srgbClr val="99CC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lang="en-US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mm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55"/>
            <p:cNvSpPr/>
            <p:nvPr/>
          </p:nvSpPr>
          <p:spPr>
            <a:xfrm>
              <a:off x="3738600" y="3451680"/>
              <a:ext cx="1204920" cy="457200"/>
            </a:xfrm>
            <a:prstGeom prst="rect">
              <a:avLst/>
            </a:pr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Prob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5" name="Google Shape;595;p55"/>
          <p:cNvGrpSpPr/>
          <p:nvPr/>
        </p:nvGrpSpPr>
        <p:grpSpPr>
          <a:xfrm>
            <a:off x="645840" y="4315680"/>
            <a:ext cx="4297680" cy="457200"/>
            <a:chOff x="645840" y="4315680"/>
            <a:chExt cx="4297680" cy="457200"/>
          </a:xfrm>
        </p:grpSpPr>
        <p:sp>
          <p:nvSpPr>
            <p:cNvPr id="596" name="Google Shape;596;p55"/>
            <p:cNvSpPr/>
            <p:nvPr/>
          </p:nvSpPr>
          <p:spPr>
            <a:xfrm>
              <a:off x="645840" y="4315680"/>
              <a:ext cx="1533240" cy="457200"/>
            </a:xfrm>
            <a:prstGeom prst="rect">
              <a:avLst/>
            </a:prstGeom>
            <a:solidFill>
              <a:srgbClr val="99CC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30-35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55"/>
            <p:cNvSpPr/>
            <p:nvPr/>
          </p:nvSpPr>
          <p:spPr>
            <a:xfrm>
              <a:off x="2169720" y="4315680"/>
              <a:ext cx="1568880" cy="457200"/>
            </a:xfrm>
            <a:prstGeom prst="rect">
              <a:avLst/>
            </a:prstGeom>
            <a:solidFill>
              <a:srgbClr val="99CC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24-26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55"/>
            <p:cNvSpPr/>
            <p:nvPr/>
          </p:nvSpPr>
          <p:spPr>
            <a:xfrm>
              <a:off x="3738600" y="4315680"/>
              <a:ext cx="1204920" cy="457200"/>
            </a:xfrm>
            <a:prstGeom prst="rect">
              <a:avLst/>
            </a:prstGeom>
            <a:solidFill>
              <a:srgbClr val="99CC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2%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9" name="Google Shape;599;p55"/>
          <p:cNvGrpSpPr/>
          <p:nvPr/>
        </p:nvGrpSpPr>
        <p:grpSpPr>
          <a:xfrm>
            <a:off x="645840" y="4747680"/>
            <a:ext cx="4297680" cy="457200"/>
            <a:chOff x="645840" y="4747680"/>
            <a:chExt cx="4297680" cy="457200"/>
          </a:xfrm>
        </p:grpSpPr>
        <p:sp>
          <p:nvSpPr>
            <p:cNvPr id="600" name="Google Shape;600;p55"/>
            <p:cNvSpPr/>
            <p:nvPr/>
          </p:nvSpPr>
          <p:spPr>
            <a:xfrm>
              <a:off x="645840" y="4747680"/>
              <a:ext cx="1533240" cy="457200"/>
            </a:xfrm>
            <a:prstGeom prst="rect">
              <a:avLst/>
            </a:prstGeom>
            <a:solidFill>
              <a:srgbClr val="00B8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36-42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55"/>
            <p:cNvSpPr/>
            <p:nvPr/>
          </p:nvSpPr>
          <p:spPr>
            <a:xfrm>
              <a:off x="2169720" y="4747680"/>
              <a:ext cx="1568880" cy="457200"/>
            </a:xfrm>
            <a:prstGeom prst="rect">
              <a:avLst/>
            </a:prstGeom>
            <a:solidFill>
              <a:srgbClr val="00B8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20-23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55"/>
            <p:cNvSpPr/>
            <p:nvPr/>
          </p:nvSpPr>
          <p:spPr>
            <a:xfrm>
              <a:off x="3738600" y="4747680"/>
              <a:ext cx="1204920" cy="457200"/>
            </a:xfrm>
            <a:prstGeom prst="rect">
              <a:avLst/>
            </a:prstGeom>
            <a:solidFill>
              <a:srgbClr val="00B8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1%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3" name="Google Shape;603;p55"/>
          <p:cNvGrpSpPr/>
          <p:nvPr/>
        </p:nvGrpSpPr>
        <p:grpSpPr>
          <a:xfrm>
            <a:off x="645840" y="5179680"/>
            <a:ext cx="4297680" cy="457200"/>
            <a:chOff x="645840" y="5179680"/>
            <a:chExt cx="4297680" cy="457200"/>
          </a:xfrm>
        </p:grpSpPr>
        <p:sp>
          <p:nvSpPr>
            <p:cNvPr id="604" name="Google Shape;604;p55"/>
            <p:cNvSpPr/>
            <p:nvPr/>
          </p:nvSpPr>
          <p:spPr>
            <a:xfrm>
              <a:off x="645840" y="5179680"/>
              <a:ext cx="1533240" cy="457200"/>
            </a:xfrm>
            <a:prstGeom prst="rect">
              <a:avLst/>
            </a:prstGeom>
            <a:solidFill>
              <a:srgbClr val="0099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36-42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55"/>
            <p:cNvSpPr/>
            <p:nvPr/>
          </p:nvSpPr>
          <p:spPr>
            <a:xfrm>
              <a:off x="2169720" y="5179680"/>
              <a:ext cx="1568880" cy="457200"/>
            </a:xfrm>
            <a:prstGeom prst="rect">
              <a:avLst/>
            </a:prstGeom>
            <a:solidFill>
              <a:srgbClr val="0099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24-26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55"/>
            <p:cNvSpPr/>
            <p:nvPr/>
          </p:nvSpPr>
          <p:spPr>
            <a:xfrm>
              <a:off x="3738600" y="5179680"/>
              <a:ext cx="1204920" cy="457200"/>
            </a:xfrm>
            <a:prstGeom prst="rect">
              <a:avLst/>
            </a:prstGeom>
            <a:solidFill>
              <a:srgbClr val="0099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15%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7" name="Google Shape;607;p55"/>
          <p:cNvSpPr txBox="1"/>
          <p:nvPr/>
        </p:nvSpPr>
        <p:spPr>
          <a:xfrm>
            <a:off x="5757840" y="3885120"/>
            <a:ext cx="4225800" cy="390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strike="noStrike">
                <a:latin typeface="Arial"/>
                <a:ea typeface="Arial"/>
                <a:cs typeface="Arial"/>
                <a:sym typeface="Arial"/>
              </a:rPr>
              <a:t>Tabela de Probabilidades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8" name="Google Shape;608;p55"/>
          <p:cNvGrpSpPr/>
          <p:nvPr/>
        </p:nvGrpSpPr>
        <p:grpSpPr>
          <a:xfrm>
            <a:off x="5757840" y="4711680"/>
            <a:ext cx="4225680" cy="457200"/>
            <a:chOff x="5757840" y="4711680"/>
            <a:chExt cx="4225680" cy="457200"/>
          </a:xfrm>
        </p:grpSpPr>
        <p:sp>
          <p:nvSpPr>
            <p:cNvPr id="609" name="Google Shape;609;p55"/>
            <p:cNvSpPr/>
            <p:nvPr/>
          </p:nvSpPr>
          <p:spPr>
            <a:xfrm>
              <a:off x="5757840" y="4711680"/>
              <a:ext cx="1507320" cy="457200"/>
            </a:xfrm>
            <a:prstGeom prst="rect">
              <a:avLst/>
            </a:pr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30-35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55"/>
            <p:cNvSpPr/>
            <p:nvPr/>
          </p:nvSpPr>
          <p:spPr>
            <a:xfrm>
              <a:off x="7256160" y="4711680"/>
              <a:ext cx="1542600" cy="457200"/>
            </a:xfrm>
            <a:prstGeom prst="rect">
              <a:avLst/>
            </a:pr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20-23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55"/>
            <p:cNvSpPr/>
            <p:nvPr/>
          </p:nvSpPr>
          <p:spPr>
            <a:xfrm>
              <a:off x="8798760" y="4711680"/>
              <a:ext cx="1184760" cy="457200"/>
            </a:xfrm>
            <a:prstGeom prst="rect">
              <a:avLst/>
            </a:pr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/>
                <a:t>84</a:t>
              </a: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%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2" name="Google Shape;612;p55"/>
          <p:cNvGrpSpPr/>
          <p:nvPr/>
        </p:nvGrpSpPr>
        <p:grpSpPr>
          <a:xfrm>
            <a:off x="5757840" y="4279680"/>
            <a:ext cx="4225680" cy="457200"/>
            <a:chOff x="5757840" y="4279680"/>
            <a:chExt cx="4225680" cy="457200"/>
          </a:xfrm>
        </p:grpSpPr>
        <p:sp>
          <p:nvSpPr>
            <p:cNvPr id="613" name="Google Shape;613;p55"/>
            <p:cNvSpPr/>
            <p:nvPr/>
          </p:nvSpPr>
          <p:spPr>
            <a:xfrm>
              <a:off x="5757840" y="4279680"/>
              <a:ext cx="1507680" cy="457200"/>
            </a:xfrm>
            <a:prstGeom prst="rect">
              <a:avLst/>
            </a:pr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solidFill>
                    <a:srgbClr val="0047FF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0" i="1" lang="en-US" sz="1800" strike="noStrike">
                  <a:solidFill>
                    <a:srgbClr val="99CCFF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0" lang="en-US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mm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55"/>
            <p:cNvSpPr/>
            <p:nvPr/>
          </p:nvSpPr>
          <p:spPr>
            <a:xfrm>
              <a:off x="7256160" y="4279680"/>
              <a:ext cx="1542600" cy="457200"/>
            </a:xfrm>
            <a:prstGeom prst="rect">
              <a:avLst/>
            </a:pr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solidFill>
                    <a:srgbClr val="0047FF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1800" strike="noStrike">
                  <a:solidFill>
                    <a:srgbClr val="0047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lang="en-US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mm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55"/>
            <p:cNvSpPr/>
            <p:nvPr/>
          </p:nvSpPr>
          <p:spPr>
            <a:xfrm>
              <a:off x="8798760" y="4279680"/>
              <a:ext cx="1184760" cy="457200"/>
            </a:xfrm>
            <a:prstGeom prst="rect">
              <a:avLst/>
            </a:pr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Prob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6" name="Google Shape;616;p55"/>
          <p:cNvSpPr/>
          <p:nvPr/>
        </p:nvSpPr>
        <p:spPr>
          <a:xfrm>
            <a:off x="5757840" y="5647680"/>
            <a:ext cx="4225680" cy="4572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55"/>
          <p:cNvSpPr/>
          <p:nvPr/>
        </p:nvSpPr>
        <p:spPr>
          <a:xfrm>
            <a:off x="5757840" y="6115680"/>
            <a:ext cx="4225680" cy="457200"/>
          </a:xfrm>
          <a:prstGeom prst="rect">
            <a:avLst/>
          </a:prstGeom>
          <a:solidFill>
            <a:srgbClr val="E6FF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55"/>
          <p:cNvSpPr/>
          <p:nvPr/>
        </p:nvSpPr>
        <p:spPr>
          <a:xfrm>
            <a:off x="5757840" y="6583680"/>
            <a:ext cx="4225680" cy="457200"/>
          </a:xfrm>
          <a:prstGeom prst="rect">
            <a:avLst/>
          </a:prstGeom>
          <a:solidFill>
            <a:srgbClr val="C5000B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55"/>
          <p:cNvSpPr/>
          <p:nvPr/>
        </p:nvSpPr>
        <p:spPr>
          <a:xfrm>
            <a:off x="5051520" y="4382640"/>
            <a:ext cx="634320" cy="699120"/>
          </a:xfrm>
          <a:custGeom>
            <a:rect b="b" l="l" r="r" t="t"/>
            <a:pathLst>
              <a:path extrusionOk="0" h="1944" w="1764">
                <a:moveTo>
                  <a:pt x="0" y="1458"/>
                </a:moveTo>
                <a:lnTo>
                  <a:pt x="1322" y="1458"/>
                </a:lnTo>
                <a:lnTo>
                  <a:pt x="1322" y="1943"/>
                </a:lnTo>
                <a:lnTo>
                  <a:pt x="1763" y="972"/>
                </a:lnTo>
                <a:lnTo>
                  <a:pt x="1322" y="0"/>
                </a:lnTo>
                <a:lnTo>
                  <a:pt x="1322" y="486"/>
                </a:lnTo>
                <a:lnTo>
                  <a:pt x="0" y="486"/>
                </a:lnTo>
                <a:lnTo>
                  <a:pt x="0" y="1458"/>
                </a:lnTo>
              </a:path>
            </a:pathLst>
          </a:custGeom>
          <a:solidFill>
            <a:srgbClr val="CFE7F5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620" name="Google Shape;620;p55"/>
          <p:cNvGrpSpPr/>
          <p:nvPr/>
        </p:nvGrpSpPr>
        <p:grpSpPr>
          <a:xfrm>
            <a:off x="5760720" y="5175360"/>
            <a:ext cx="4224600" cy="457200"/>
            <a:chOff x="5760720" y="5175360"/>
            <a:chExt cx="4224600" cy="457200"/>
          </a:xfrm>
        </p:grpSpPr>
        <p:sp>
          <p:nvSpPr>
            <p:cNvPr id="621" name="Google Shape;621;p55"/>
            <p:cNvSpPr/>
            <p:nvPr/>
          </p:nvSpPr>
          <p:spPr>
            <a:xfrm>
              <a:off x="5760720" y="5175360"/>
              <a:ext cx="1506960" cy="457200"/>
            </a:xfrm>
            <a:prstGeom prst="rect">
              <a:avLst/>
            </a:prstGeom>
            <a:solidFill>
              <a:srgbClr val="0099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36-42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55"/>
            <p:cNvSpPr/>
            <p:nvPr/>
          </p:nvSpPr>
          <p:spPr>
            <a:xfrm>
              <a:off x="7258680" y="5175360"/>
              <a:ext cx="1542240" cy="457200"/>
            </a:xfrm>
            <a:prstGeom prst="rect">
              <a:avLst/>
            </a:prstGeom>
            <a:solidFill>
              <a:srgbClr val="0099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24-26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55"/>
            <p:cNvSpPr/>
            <p:nvPr/>
          </p:nvSpPr>
          <p:spPr>
            <a:xfrm>
              <a:off x="8800920" y="5175360"/>
              <a:ext cx="1184400" cy="457200"/>
            </a:xfrm>
            <a:prstGeom prst="rect">
              <a:avLst/>
            </a:prstGeom>
            <a:solidFill>
              <a:srgbClr val="0099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lang="en-US" sz="1800"/>
                <a:t>6</a:t>
              </a: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%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6"/>
          <p:cNvSpPr/>
          <p:nvPr/>
        </p:nvSpPr>
        <p:spPr>
          <a:xfrm>
            <a:off x="2909520" y="2874960"/>
            <a:ext cx="601201" cy="457201"/>
          </a:xfrm>
          <a:custGeom>
            <a:rect b="b" l="l" r="r" t="t"/>
            <a:pathLst>
              <a:path extrusionOk="0" h="1272" w="1672">
                <a:moveTo>
                  <a:pt x="0" y="317"/>
                </a:moveTo>
                <a:lnTo>
                  <a:pt x="1253" y="317"/>
                </a:lnTo>
                <a:lnTo>
                  <a:pt x="1253" y="0"/>
                </a:lnTo>
                <a:lnTo>
                  <a:pt x="1671" y="635"/>
                </a:lnTo>
                <a:lnTo>
                  <a:pt x="1253" y="1271"/>
                </a:lnTo>
                <a:lnTo>
                  <a:pt x="1253" y="953"/>
                </a:lnTo>
                <a:lnTo>
                  <a:pt x="0" y="953"/>
                </a:lnTo>
                <a:lnTo>
                  <a:pt x="0" y="317"/>
                </a:lnTo>
              </a:path>
            </a:pathLst>
          </a:custGeom>
          <a:solidFill>
            <a:srgbClr val="0000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p56"/>
          <p:cNvSpPr txBox="1"/>
          <p:nvPr/>
        </p:nvSpPr>
        <p:spPr>
          <a:xfrm>
            <a:off x="7112880" y="2041920"/>
            <a:ext cx="2743200" cy="2192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strike="noStrike">
                <a:latin typeface="Arial"/>
                <a:ea typeface="Arial"/>
                <a:cs typeface="Arial"/>
                <a:sym typeface="Arial"/>
              </a:rPr>
              <a:t>Novas possíveis extrusoras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strike="noStrike">
                <a:latin typeface="Arial"/>
                <a:ea typeface="Arial"/>
                <a:cs typeface="Arial"/>
                <a:sym typeface="Arial"/>
              </a:rPr>
              <a:t>Extr 1 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strike="noStrike">
                <a:latin typeface="Arial"/>
                <a:ea typeface="Arial"/>
                <a:cs typeface="Arial"/>
                <a:sym typeface="Arial"/>
              </a:rPr>
              <a:t>Extr </a:t>
            </a:r>
            <a:r>
              <a:rPr b="0" i="1" lang="en-US" sz="2100" strike="noStrike">
                <a:latin typeface="Arial"/>
                <a:ea typeface="Arial"/>
                <a:cs typeface="Arial"/>
                <a:sym typeface="Arial"/>
              </a:rPr>
              <a:t>N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6"/>
          <p:cNvSpPr txBox="1"/>
          <p:nvPr/>
        </p:nvSpPr>
        <p:spPr>
          <a:xfrm>
            <a:off x="3690720" y="5576040"/>
            <a:ext cx="2358000" cy="100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strike="noStrike">
                <a:latin typeface="Arial"/>
                <a:ea typeface="Arial"/>
                <a:cs typeface="Arial"/>
                <a:sym typeface="Arial"/>
              </a:rPr>
              <a:t>Mede-se </a:t>
            </a:r>
            <a:r>
              <a:rPr b="0" i="1" lang="en-US" sz="2100" strike="noStrike"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lang="en-US" sz="2100" strike="noStrike"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0" i="1" lang="en-US" sz="2100" strike="noStrike">
                <a:latin typeface="Arial"/>
                <a:ea typeface="Arial"/>
                <a:cs typeface="Arial"/>
                <a:sym typeface="Arial"/>
              </a:rPr>
              <a:t>Q</a:t>
            </a:r>
            <a:r>
              <a:rPr b="0" lang="en-US" sz="2100" strike="noStrike">
                <a:latin typeface="Arial"/>
                <a:ea typeface="Arial"/>
                <a:cs typeface="Arial"/>
                <a:sym typeface="Arial"/>
              </a:rPr>
              <a:t> de cada Extrusora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6"/>
          <p:cNvSpPr txBox="1"/>
          <p:nvPr/>
        </p:nvSpPr>
        <p:spPr>
          <a:xfrm>
            <a:off x="6747120" y="5574960"/>
            <a:ext cx="3156600" cy="9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strike="noStrike">
                <a:latin typeface="Arial"/>
                <a:ea typeface="Arial"/>
                <a:cs typeface="Arial"/>
                <a:sym typeface="Arial"/>
              </a:rPr>
              <a:t>Constrói/Simula  e  Testa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strike="noStrike">
                <a:latin typeface="Arial"/>
                <a:ea typeface="Arial"/>
                <a:cs typeface="Arial"/>
                <a:sym typeface="Arial"/>
              </a:rPr>
              <a:t>as </a:t>
            </a:r>
            <a:r>
              <a:rPr b="0" i="1" lang="en-US" sz="2100" strike="noStrike"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lang="en-US" sz="2100" strike="noStrike">
                <a:latin typeface="Arial"/>
                <a:ea typeface="Arial"/>
                <a:cs typeface="Arial"/>
                <a:sym typeface="Arial"/>
              </a:rPr>
              <a:t> Extrusoras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56"/>
          <p:cNvSpPr txBox="1"/>
          <p:nvPr/>
        </p:nvSpPr>
        <p:spPr>
          <a:xfrm>
            <a:off x="3564000" y="2077920"/>
            <a:ext cx="2817300" cy="2192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strike="noStrike">
                <a:latin typeface="Arial"/>
                <a:ea typeface="Arial"/>
                <a:cs typeface="Arial"/>
                <a:sym typeface="Arial"/>
              </a:rPr>
              <a:t>Amostragem / </a:t>
            </a:r>
            <a:r>
              <a:rPr b="1" lang="en-US" sz="2100" strike="noStrike">
                <a:latin typeface="Arial"/>
                <a:ea typeface="Arial"/>
                <a:cs typeface="Arial"/>
                <a:sym typeface="Arial"/>
              </a:rPr>
              <a:t>Reprodução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strike="noStrike">
                <a:latin typeface="Arial"/>
                <a:ea typeface="Arial"/>
                <a:cs typeface="Arial"/>
                <a:sym typeface="Arial"/>
              </a:rPr>
              <a:t>Gera combinações dos valores mais prováveis de cada grupo de variáveis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6"/>
          <p:cNvSpPr/>
          <p:nvPr/>
        </p:nvSpPr>
        <p:spPr>
          <a:xfrm>
            <a:off x="205200" y="2463840"/>
            <a:ext cx="2635200" cy="457200"/>
          </a:xfrm>
          <a:prstGeom prst="rect">
            <a:avLst/>
          </a:prstGeom>
          <a:solidFill>
            <a:srgbClr val="CFE7F5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56"/>
          <p:cNvSpPr/>
          <p:nvPr/>
        </p:nvSpPr>
        <p:spPr>
          <a:xfrm>
            <a:off x="205200" y="2931840"/>
            <a:ext cx="2635200" cy="4572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56"/>
          <p:cNvSpPr/>
          <p:nvPr/>
        </p:nvSpPr>
        <p:spPr>
          <a:xfrm>
            <a:off x="205200" y="3399840"/>
            <a:ext cx="2635200" cy="457200"/>
          </a:xfrm>
          <a:prstGeom prst="rect">
            <a:avLst/>
          </a:prstGeom>
          <a:solidFill>
            <a:srgbClr val="E6FF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6"/>
          <p:cNvSpPr/>
          <p:nvPr/>
        </p:nvSpPr>
        <p:spPr>
          <a:xfrm>
            <a:off x="205200" y="3867840"/>
            <a:ext cx="2635200" cy="457200"/>
          </a:xfrm>
          <a:prstGeom prst="rect">
            <a:avLst/>
          </a:prstGeom>
          <a:solidFill>
            <a:srgbClr val="C5000B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56"/>
          <p:cNvSpPr txBox="1"/>
          <p:nvPr/>
        </p:nvSpPr>
        <p:spPr>
          <a:xfrm>
            <a:off x="205200" y="2062080"/>
            <a:ext cx="2635200" cy="390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strike="noStrike">
                <a:latin typeface="Arial"/>
                <a:ea typeface="Arial"/>
                <a:cs typeface="Arial"/>
                <a:sym typeface="Arial"/>
              </a:rPr>
              <a:t>Tabela de Prob.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56"/>
          <p:cNvSpPr/>
          <p:nvPr/>
        </p:nvSpPr>
        <p:spPr>
          <a:xfrm rot="5400000">
            <a:off x="8226720" y="4739759"/>
            <a:ext cx="700559" cy="457201"/>
          </a:xfrm>
          <a:custGeom>
            <a:rect b="b" l="l" r="r" t="t"/>
            <a:pathLst>
              <a:path extrusionOk="0" h="1272" w="1948">
                <a:moveTo>
                  <a:pt x="0" y="954"/>
                </a:moveTo>
                <a:lnTo>
                  <a:pt x="1460" y="954"/>
                </a:lnTo>
                <a:lnTo>
                  <a:pt x="1460" y="1271"/>
                </a:lnTo>
                <a:lnTo>
                  <a:pt x="1947" y="636"/>
                </a:lnTo>
                <a:lnTo>
                  <a:pt x="1460" y="0"/>
                </a:lnTo>
                <a:lnTo>
                  <a:pt x="1460" y="318"/>
                </a:lnTo>
                <a:lnTo>
                  <a:pt x="0" y="318"/>
                </a:lnTo>
                <a:lnTo>
                  <a:pt x="0" y="954"/>
                </a:lnTo>
              </a:path>
            </a:pathLst>
          </a:custGeom>
          <a:solidFill>
            <a:srgbClr val="0000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p56"/>
          <p:cNvSpPr txBox="1"/>
          <p:nvPr/>
        </p:nvSpPr>
        <p:spPr>
          <a:xfrm>
            <a:off x="505440" y="85320"/>
            <a:ext cx="9071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Algoritmos de Estimação de Distribuição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56"/>
          <p:cNvSpPr/>
          <p:nvPr/>
        </p:nvSpPr>
        <p:spPr>
          <a:xfrm>
            <a:off x="6473880" y="2875320"/>
            <a:ext cx="601201" cy="457201"/>
          </a:xfrm>
          <a:custGeom>
            <a:rect b="b" l="l" r="r" t="t"/>
            <a:pathLst>
              <a:path extrusionOk="0" h="1272" w="1672">
                <a:moveTo>
                  <a:pt x="0" y="317"/>
                </a:moveTo>
                <a:lnTo>
                  <a:pt x="1253" y="317"/>
                </a:lnTo>
                <a:lnTo>
                  <a:pt x="1253" y="0"/>
                </a:lnTo>
                <a:lnTo>
                  <a:pt x="1671" y="635"/>
                </a:lnTo>
                <a:lnTo>
                  <a:pt x="1253" y="1271"/>
                </a:lnTo>
                <a:lnTo>
                  <a:pt x="1253" y="953"/>
                </a:lnTo>
                <a:lnTo>
                  <a:pt x="0" y="953"/>
                </a:lnTo>
                <a:lnTo>
                  <a:pt x="0" y="317"/>
                </a:lnTo>
              </a:path>
            </a:pathLst>
          </a:custGeom>
          <a:solidFill>
            <a:srgbClr val="0000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56"/>
          <p:cNvSpPr txBox="1"/>
          <p:nvPr/>
        </p:nvSpPr>
        <p:spPr>
          <a:xfrm>
            <a:off x="198720" y="5576400"/>
            <a:ext cx="2818800" cy="99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 strike="noStrike">
                <a:latin typeface="Arial"/>
                <a:ea typeface="Arial"/>
                <a:cs typeface="Arial"/>
                <a:sym typeface="Arial"/>
              </a:rPr>
              <a:t>Seleção</a:t>
            </a:r>
            <a:r>
              <a:rPr b="0" lang="en-US" sz="2100" strike="noStrike">
                <a:latin typeface="Arial"/>
                <a:ea typeface="Arial"/>
                <a:cs typeface="Arial"/>
                <a:sym typeface="Arial"/>
              </a:rPr>
              <a:t> de um subconjunto de melhor desempenho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56"/>
          <p:cNvSpPr/>
          <p:nvPr/>
        </p:nvSpPr>
        <p:spPr>
          <a:xfrm>
            <a:off x="3061440" y="5810760"/>
            <a:ext cx="504720" cy="457201"/>
          </a:xfrm>
          <a:custGeom>
            <a:rect b="b" l="l" r="r" t="t"/>
            <a:pathLst>
              <a:path extrusionOk="0" h="1272" w="1404">
                <a:moveTo>
                  <a:pt x="1403" y="317"/>
                </a:moveTo>
                <a:lnTo>
                  <a:pt x="351" y="317"/>
                </a:lnTo>
                <a:lnTo>
                  <a:pt x="351" y="0"/>
                </a:lnTo>
                <a:lnTo>
                  <a:pt x="0" y="635"/>
                </a:lnTo>
                <a:lnTo>
                  <a:pt x="351" y="1271"/>
                </a:lnTo>
                <a:lnTo>
                  <a:pt x="351" y="953"/>
                </a:lnTo>
                <a:lnTo>
                  <a:pt x="1403" y="953"/>
                </a:lnTo>
                <a:lnTo>
                  <a:pt x="1403" y="317"/>
                </a:lnTo>
              </a:path>
            </a:pathLst>
          </a:custGeom>
          <a:solidFill>
            <a:srgbClr val="0000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p56"/>
          <p:cNvSpPr/>
          <p:nvPr/>
        </p:nvSpPr>
        <p:spPr>
          <a:xfrm rot="-5400000">
            <a:off x="975601" y="4812480"/>
            <a:ext cx="700559" cy="457201"/>
          </a:xfrm>
          <a:custGeom>
            <a:rect b="b" l="l" r="r" t="t"/>
            <a:pathLst>
              <a:path extrusionOk="0" h="1272" w="1948">
                <a:moveTo>
                  <a:pt x="0" y="954"/>
                </a:moveTo>
                <a:lnTo>
                  <a:pt x="1460" y="954"/>
                </a:lnTo>
                <a:lnTo>
                  <a:pt x="1460" y="1271"/>
                </a:lnTo>
                <a:lnTo>
                  <a:pt x="1947" y="636"/>
                </a:lnTo>
                <a:lnTo>
                  <a:pt x="1460" y="0"/>
                </a:lnTo>
                <a:lnTo>
                  <a:pt x="1460" y="318"/>
                </a:lnTo>
                <a:lnTo>
                  <a:pt x="0" y="318"/>
                </a:lnTo>
                <a:lnTo>
                  <a:pt x="0" y="954"/>
                </a:lnTo>
              </a:path>
            </a:pathLst>
          </a:custGeom>
          <a:solidFill>
            <a:srgbClr val="E6E6E6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56"/>
          <p:cNvSpPr/>
          <p:nvPr/>
        </p:nvSpPr>
        <p:spPr>
          <a:xfrm>
            <a:off x="6150960" y="5810400"/>
            <a:ext cx="504720" cy="457201"/>
          </a:xfrm>
          <a:custGeom>
            <a:rect b="b" l="l" r="r" t="t"/>
            <a:pathLst>
              <a:path extrusionOk="0" h="1272" w="1404">
                <a:moveTo>
                  <a:pt x="1403" y="317"/>
                </a:moveTo>
                <a:lnTo>
                  <a:pt x="351" y="317"/>
                </a:lnTo>
                <a:lnTo>
                  <a:pt x="351" y="0"/>
                </a:lnTo>
                <a:lnTo>
                  <a:pt x="0" y="635"/>
                </a:lnTo>
                <a:lnTo>
                  <a:pt x="351" y="1271"/>
                </a:lnTo>
                <a:lnTo>
                  <a:pt x="351" y="953"/>
                </a:lnTo>
                <a:lnTo>
                  <a:pt x="1403" y="953"/>
                </a:lnTo>
                <a:lnTo>
                  <a:pt x="1403" y="317"/>
                </a:lnTo>
              </a:path>
            </a:pathLst>
          </a:custGeom>
          <a:solidFill>
            <a:srgbClr val="0000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645" name="Google Shape;645;p56"/>
          <p:cNvGrpSpPr/>
          <p:nvPr/>
        </p:nvGrpSpPr>
        <p:grpSpPr>
          <a:xfrm>
            <a:off x="3600000" y="4297680"/>
            <a:ext cx="2745300" cy="849300"/>
            <a:chOff x="3600000" y="4297680"/>
            <a:chExt cx="2745300" cy="849300"/>
          </a:xfrm>
        </p:grpSpPr>
        <p:sp>
          <p:nvSpPr>
            <p:cNvPr id="646" name="Google Shape;646;p56"/>
            <p:cNvSpPr/>
            <p:nvPr/>
          </p:nvSpPr>
          <p:spPr>
            <a:xfrm>
              <a:off x="3600000" y="4297680"/>
              <a:ext cx="527100" cy="183000"/>
            </a:xfrm>
            <a:prstGeom prst="rect">
              <a:avLst/>
            </a:prstGeom>
            <a:solidFill>
              <a:srgbClr val="0047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56"/>
            <p:cNvSpPr/>
            <p:nvPr/>
          </p:nvSpPr>
          <p:spPr>
            <a:xfrm>
              <a:off x="4116240" y="4297680"/>
              <a:ext cx="860700" cy="183000"/>
            </a:xfrm>
            <a:prstGeom prst="rect">
              <a:avLst/>
            </a:prstGeom>
            <a:solidFill>
              <a:srgbClr val="5C8526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56"/>
            <p:cNvSpPr/>
            <p:nvPr/>
          </p:nvSpPr>
          <p:spPr>
            <a:xfrm>
              <a:off x="4991760" y="4297680"/>
              <a:ext cx="527400" cy="183000"/>
            </a:xfrm>
            <a:prstGeom prst="rect">
              <a:avLst/>
            </a:prstGeom>
            <a:solidFill>
              <a:srgbClr val="E6FF0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56"/>
            <p:cNvSpPr/>
            <p:nvPr/>
          </p:nvSpPr>
          <p:spPr>
            <a:xfrm>
              <a:off x="5484600" y="4297680"/>
              <a:ext cx="860700" cy="201300"/>
            </a:xfrm>
            <a:prstGeom prst="rect">
              <a:avLst/>
            </a:prstGeom>
            <a:solidFill>
              <a:srgbClr val="EB613D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56"/>
            <p:cNvSpPr/>
            <p:nvPr/>
          </p:nvSpPr>
          <p:spPr>
            <a:xfrm>
              <a:off x="3600000" y="4513680"/>
              <a:ext cx="527100" cy="183000"/>
            </a:xfrm>
            <a:prstGeom prst="rect">
              <a:avLst/>
            </a:pr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56"/>
            <p:cNvSpPr/>
            <p:nvPr/>
          </p:nvSpPr>
          <p:spPr>
            <a:xfrm>
              <a:off x="4116240" y="4513680"/>
              <a:ext cx="860700" cy="183000"/>
            </a:xfrm>
            <a:prstGeom prst="rect">
              <a:avLst/>
            </a:prstGeom>
            <a:solidFill>
              <a:srgbClr val="00FF0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56"/>
            <p:cNvSpPr/>
            <p:nvPr/>
          </p:nvSpPr>
          <p:spPr>
            <a:xfrm>
              <a:off x="4991760" y="4513680"/>
              <a:ext cx="527400" cy="183000"/>
            </a:xfrm>
            <a:prstGeom prst="rect">
              <a:avLst/>
            </a:prstGeom>
            <a:solidFill>
              <a:srgbClr val="FFD32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56"/>
            <p:cNvSpPr/>
            <p:nvPr/>
          </p:nvSpPr>
          <p:spPr>
            <a:xfrm>
              <a:off x="5484600" y="4513680"/>
              <a:ext cx="860700" cy="201300"/>
            </a:xfrm>
            <a:prstGeom prst="rect">
              <a:avLst/>
            </a:prstGeom>
            <a:solidFill>
              <a:srgbClr val="C5000B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56"/>
            <p:cNvSpPr/>
            <p:nvPr/>
          </p:nvSpPr>
          <p:spPr>
            <a:xfrm>
              <a:off x="3600000" y="4945680"/>
              <a:ext cx="527100" cy="183000"/>
            </a:xfrm>
            <a:prstGeom prst="rect">
              <a:avLst/>
            </a:pr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56"/>
            <p:cNvSpPr/>
            <p:nvPr/>
          </p:nvSpPr>
          <p:spPr>
            <a:xfrm>
              <a:off x="4116240" y="4945680"/>
              <a:ext cx="860700" cy="183000"/>
            </a:xfrm>
            <a:prstGeom prst="rect">
              <a:avLst/>
            </a:prstGeom>
            <a:solidFill>
              <a:srgbClr val="00FF0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56"/>
            <p:cNvSpPr/>
            <p:nvPr/>
          </p:nvSpPr>
          <p:spPr>
            <a:xfrm>
              <a:off x="4991760" y="4945680"/>
              <a:ext cx="527400" cy="183000"/>
            </a:xfrm>
            <a:prstGeom prst="rect">
              <a:avLst/>
            </a:prstGeom>
            <a:solidFill>
              <a:srgbClr val="FFFF99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56"/>
            <p:cNvSpPr/>
            <p:nvPr/>
          </p:nvSpPr>
          <p:spPr>
            <a:xfrm>
              <a:off x="5484600" y="4945680"/>
              <a:ext cx="860700" cy="2013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56"/>
            <p:cNvSpPr txBox="1"/>
            <p:nvPr/>
          </p:nvSpPr>
          <p:spPr>
            <a:xfrm>
              <a:off x="4688280" y="4588560"/>
              <a:ext cx="12297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latin typeface="Arial"/>
                  <a:ea typeface="Arial"/>
                  <a:cs typeface="Arial"/>
                  <a:sym typeface="Arial"/>
                </a:rPr>
                <a:t> . . .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9" name="Google Shape;659;p56"/>
          <p:cNvSpPr/>
          <p:nvPr/>
        </p:nvSpPr>
        <p:spPr>
          <a:xfrm rot="-5400000">
            <a:off x="1167841" y="6557400"/>
            <a:ext cx="315719" cy="457201"/>
          </a:xfrm>
          <a:custGeom>
            <a:rect b="b" l="l" r="r" t="t"/>
            <a:pathLst>
              <a:path extrusionOk="0" h="1272" w="879">
                <a:moveTo>
                  <a:pt x="878" y="317"/>
                </a:moveTo>
                <a:lnTo>
                  <a:pt x="220" y="317"/>
                </a:lnTo>
                <a:lnTo>
                  <a:pt x="220" y="0"/>
                </a:lnTo>
                <a:lnTo>
                  <a:pt x="0" y="635"/>
                </a:lnTo>
                <a:lnTo>
                  <a:pt x="220" y="1271"/>
                </a:lnTo>
                <a:lnTo>
                  <a:pt x="220" y="953"/>
                </a:lnTo>
                <a:lnTo>
                  <a:pt x="878" y="953"/>
                </a:lnTo>
                <a:lnTo>
                  <a:pt x="878" y="317"/>
                </a:lnTo>
              </a:path>
            </a:pathLst>
          </a:custGeom>
          <a:solidFill>
            <a:srgbClr val="E6E6E6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p56"/>
          <p:cNvSpPr txBox="1"/>
          <p:nvPr/>
        </p:nvSpPr>
        <p:spPr>
          <a:xfrm>
            <a:off x="731520" y="7016040"/>
            <a:ext cx="1188600" cy="390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strike="noStrike">
                <a:latin typeface="Arial"/>
                <a:ea typeface="Arial"/>
                <a:cs typeface="Arial"/>
                <a:sym typeface="Arial"/>
              </a:rPr>
              <a:t>Para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7"/>
          <p:cNvSpPr txBox="1"/>
          <p:nvPr/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Questões a responder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E6E6E6"/>
                </a:solidFill>
                <a:latin typeface="Arial"/>
                <a:ea typeface="Arial"/>
                <a:cs typeface="Arial"/>
                <a:sym typeface="Arial"/>
              </a:rPr>
              <a:t>1. Porque AEDs são relevantes para problemas do mundo real ?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82650" lvl="3" marL="1728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1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Como mineração de dados pode contribuir</a:t>
            </a: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 no projeto de AEDs para problemas do mundo real ?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8000" lvl="2" marL="1296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latin typeface="Arial"/>
                <a:ea typeface="Arial"/>
                <a:cs typeface="Arial"/>
                <a:sym typeface="Arial"/>
              </a:rPr>
              <a:t>Para uso de propósito geral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58"/>
          <p:cNvSpPr txBox="1"/>
          <p:nvPr/>
        </p:nvSpPr>
        <p:spPr>
          <a:xfrm>
            <a:off x="182880" y="1677600"/>
            <a:ext cx="9601200" cy="490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Pode construir modelos probabilísticos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Quando não se tem especialista ou método disponível para modelar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43990" lvl="0" marL="432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None/>
            </a:pPr>
            <a:r>
              <a:t/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1" name="Google Shape;671;p58"/>
          <p:cNvGrpSpPr/>
          <p:nvPr/>
        </p:nvGrpSpPr>
        <p:grpSpPr>
          <a:xfrm>
            <a:off x="2505600" y="3383280"/>
            <a:ext cx="2194560" cy="3237840"/>
            <a:chOff x="2505600" y="3383280"/>
            <a:chExt cx="2194560" cy="3237840"/>
          </a:xfrm>
        </p:grpSpPr>
        <p:sp>
          <p:nvSpPr>
            <p:cNvPr id="672" name="Google Shape;672;p58"/>
            <p:cNvSpPr txBox="1"/>
            <p:nvPr/>
          </p:nvSpPr>
          <p:spPr>
            <a:xfrm>
              <a:off x="3023280" y="5243040"/>
              <a:ext cx="288720" cy="402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58"/>
            <p:cNvSpPr/>
            <p:nvPr/>
          </p:nvSpPr>
          <p:spPr>
            <a:xfrm>
              <a:off x="2505600" y="3383280"/>
              <a:ext cx="596880" cy="57816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58"/>
            <p:cNvSpPr/>
            <p:nvPr/>
          </p:nvSpPr>
          <p:spPr>
            <a:xfrm>
              <a:off x="2505600" y="5144400"/>
              <a:ext cx="596880" cy="57816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L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58"/>
            <p:cNvSpPr/>
            <p:nvPr/>
          </p:nvSpPr>
          <p:spPr>
            <a:xfrm>
              <a:off x="3294000" y="3383280"/>
              <a:ext cx="596880" cy="57816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58"/>
            <p:cNvSpPr/>
            <p:nvPr/>
          </p:nvSpPr>
          <p:spPr>
            <a:xfrm>
              <a:off x="3304440" y="5144400"/>
              <a:ext cx="596880" cy="57816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L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58"/>
            <p:cNvSpPr/>
            <p:nvPr/>
          </p:nvSpPr>
          <p:spPr>
            <a:xfrm>
              <a:off x="4103280" y="4281840"/>
              <a:ext cx="596880" cy="57816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58"/>
            <p:cNvSpPr/>
            <p:nvPr/>
          </p:nvSpPr>
          <p:spPr>
            <a:xfrm>
              <a:off x="3304440" y="4281840"/>
              <a:ext cx="596880" cy="57816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58"/>
            <p:cNvSpPr/>
            <p:nvPr/>
          </p:nvSpPr>
          <p:spPr>
            <a:xfrm>
              <a:off x="2505600" y="4281840"/>
              <a:ext cx="596880" cy="57816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8"/>
            <p:cNvSpPr/>
            <p:nvPr/>
          </p:nvSpPr>
          <p:spPr>
            <a:xfrm>
              <a:off x="4103280" y="6042960"/>
              <a:ext cx="596880" cy="57816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58"/>
            <p:cNvSpPr/>
            <p:nvPr/>
          </p:nvSpPr>
          <p:spPr>
            <a:xfrm>
              <a:off x="3304440" y="6042960"/>
              <a:ext cx="596880" cy="57816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58"/>
            <p:cNvSpPr/>
            <p:nvPr/>
          </p:nvSpPr>
          <p:spPr>
            <a:xfrm>
              <a:off x="2505600" y="6042960"/>
              <a:ext cx="596880" cy="57816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58"/>
            <p:cNvSpPr txBox="1"/>
            <p:nvPr/>
          </p:nvSpPr>
          <p:spPr>
            <a:xfrm>
              <a:off x="2630160" y="3922560"/>
              <a:ext cx="351360" cy="402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58"/>
            <p:cNvSpPr txBox="1"/>
            <p:nvPr/>
          </p:nvSpPr>
          <p:spPr>
            <a:xfrm>
              <a:off x="3396600" y="3897720"/>
              <a:ext cx="288720" cy="402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58"/>
            <p:cNvSpPr txBox="1"/>
            <p:nvPr/>
          </p:nvSpPr>
          <p:spPr>
            <a:xfrm>
              <a:off x="3026160" y="3454920"/>
              <a:ext cx="351360" cy="402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58"/>
            <p:cNvSpPr txBox="1"/>
            <p:nvPr/>
          </p:nvSpPr>
          <p:spPr>
            <a:xfrm>
              <a:off x="3026160" y="4427280"/>
              <a:ext cx="351360" cy="402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58"/>
            <p:cNvSpPr txBox="1"/>
            <p:nvPr/>
          </p:nvSpPr>
          <p:spPr>
            <a:xfrm>
              <a:off x="2594160" y="5688000"/>
              <a:ext cx="351360" cy="402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58"/>
            <p:cNvSpPr txBox="1"/>
            <p:nvPr/>
          </p:nvSpPr>
          <p:spPr>
            <a:xfrm>
              <a:off x="3422160" y="4824720"/>
              <a:ext cx="351360" cy="402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58"/>
            <p:cNvSpPr txBox="1"/>
            <p:nvPr/>
          </p:nvSpPr>
          <p:spPr>
            <a:xfrm>
              <a:off x="2630160" y="4822920"/>
              <a:ext cx="351360" cy="402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58"/>
            <p:cNvSpPr txBox="1"/>
            <p:nvPr/>
          </p:nvSpPr>
          <p:spPr>
            <a:xfrm>
              <a:off x="3422160" y="5688360"/>
              <a:ext cx="351360" cy="402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58"/>
            <p:cNvSpPr txBox="1"/>
            <p:nvPr/>
          </p:nvSpPr>
          <p:spPr>
            <a:xfrm>
              <a:off x="3026160" y="6120360"/>
              <a:ext cx="351360" cy="402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58"/>
            <p:cNvSpPr txBox="1"/>
            <p:nvPr/>
          </p:nvSpPr>
          <p:spPr>
            <a:xfrm>
              <a:off x="3818160" y="6120720"/>
              <a:ext cx="351360" cy="402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58"/>
            <p:cNvSpPr txBox="1"/>
            <p:nvPr/>
          </p:nvSpPr>
          <p:spPr>
            <a:xfrm>
              <a:off x="3818160" y="4430160"/>
              <a:ext cx="351360" cy="402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4" name="Google Shape;694;p58"/>
          <p:cNvSpPr txBox="1"/>
          <p:nvPr/>
        </p:nvSpPr>
        <p:spPr>
          <a:xfrm>
            <a:off x="504360" y="49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Mineração de dados complexos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9"/>
          <p:cNvSpPr txBox="1"/>
          <p:nvPr/>
        </p:nvSpPr>
        <p:spPr>
          <a:xfrm>
            <a:off x="182880" y="1677600"/>
            <a:ext cx="9601200" cy="572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Construção dos modelos e AEDs principais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288000" lvl="2" marL="1296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latin typeface="Arial"/>
                <a:ea typeface="Arial"/>
                <a:cs typeface="Arial"/>
                <a:sym typeface="Arial"/>
              </a:rPr>
              <a:t>ECGA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3" marL="1728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</a:pP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Algoritmo Genético Compacto Estendido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4" marL="21600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Modelos Probabilísticos para variáveis discretas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8000" lvl="2" marL="129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latin typeface="Arial"/>
                <a:ea typeface="Arial"/>
                <a:cs typeface="Arial"/>
                <a:sym typeface="Arial"/>
              </a:rPr>
              <a:t>BOA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3" marL="1728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</a:pP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Algritmo de Otimização Bayesiana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4" marL="21600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Modelos Probabilísticos para variáveis discretas e contínuas (rBOA)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58850" lvl="4" marL="2160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3" marL="1728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Inadequados para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4" marL="21600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Grupos de variáveis não pequenos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5" marL="2592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Blocos Construtivos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58850" lvl="4" marL="2160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4" marL="2160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Outros tipos de dados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5" marL="2592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Variáveis Mistas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0" name="Google Shape;700;p59"/>
          <p:cNvGrpSpPr/>
          <p:nvPr/>
        </p:nvGrpSpPr>
        <p:grpSpPr>
          <a:xfrm>
            <a:off x="7772400" y="4663440"/>
            <a:ext cx="2103120" cy="2722680"/>
            <a:chOff x="7772400" y="4663440"/>
            <a:chExt cx="2103120" cy="2722680"/>
          </a:xfrm>
        </p:grpSpPr>
        <p:sp>
          <p:nvSpPr>
            <p:cNvPr id="701" name="Google Shape;701;p59"/>
            <p:cNvSpPr txBox="1"/>
            <p:nvPr/>
          </p:nvSpPr>
          <p:spPr>
            <a:xfrm>
              <a:off x="8268480" y="6213960"/>
              <a:ext cx="276840" cy="440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59"/>
            <p:cNvSpPr/>
            <p:nvPr/>
          </p:nvSpPr>
          <p:spPr>
            <a:xfrm>
              <a:off x="7772400" y="4663440"/>
              <a:ext cx="572040" cy="48204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59"/>
            <p:cNvSpPr/>
            <p:nvPr/>
          </p:nvSpPr>
          <p:spPr>
            <a:xfrm>
              <a:off x="7772400" y="6131520"/>
              <a:ext cx="572040" cy="48240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L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59"/>
            <p:cNvSpPr/>
            <p:nvPr/>
          </p:nvSpPr>
          <p:spPr>
            <a:xfrm>
              <a:off x="8527680" y="4663440"/>
              <a:ext cx="572400" cy="48204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59"/>
            <p:cNvSpPr/>
            <p:nvPr/>
          </p:nvSpPr>
          <p:spPr>
            <a:xfrm>
              <a:off x="8538120" y="6131520"/>
              <a:ext cx="571680" cy="48240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L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59"/>
            <p:cNvSpPr/>
            <p:nvPr/>
          </p:nvSpPr>
          <p:spPr>
            <a:xfrm>
              <a:off x="9303480" y="5412600"/>
              <a:ext cx="572040" cy="48204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59"/>
            <p:cNvSpPr/>
            <p:nvPr/>
          </p:nvSpPr>
          <p:spPr>
            <a:xfrm>
              <a:off x="8538120" y="5412600"/>
              <a:ext cx="571680" cy="48204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59"/>
            <p:cNvSpPr/>
            <p:nvPr/>
          </p:nvSpPr>
          <p:spPr>
            <a:xfrm>
              <a:off x="7772400" y="5412600"/>
              <a:ext cx="572040" cy="48204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59"/>
            <p:cNvSpPr/>
            <p:nvPr/>
          </p:nvSpPr>
          <p:spPr>
            <a:xfrm>
              <a:off x="9303480" y="6880680"/>
              <a:ext cx="572040" cy="48204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59"/>
            <p:cNvSpPr/>
            <p:nvPr/>
          </p:nvSpPr>
          <p:spPr>
            <a:xfrm>
              <a:off x="8538120" y="6880680"/>
              <a:ext cx="571680" cy="48204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59"/>
            <p:cNvSpPr/>
            <p:nvPr/>
          </p:nvSpPr>
          <p:spPr>
            <a:xfrm>
              <a:off x="7772400" y="6880680"/>
              <a:ext cx="572040" cy="48204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59"/>
            <p:cNvSpPr txBox="1"/>
            <p:nvPr/>
          </p:nvSpPr>
          <p:spPr>
            <a:xfrm>
              <a:off x="7891920" y="5113080"/>
              <a:ext cx="384840" cy="440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59"/>
            <p:cNvSpPr txBox="1"/>
            <p:nvPr/>
          </p:nvSpPr>
          <p:spPr>
            <a:xfrm>
              <a:off x="8626320" y="5092560"/>
              <a:ext cx="276480" cy="440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59"/>
            <p:cNvSpPr txBox="1"/>
            <p:nvPr/>
          </p:nvSpPr>
          <p:spPr>
            <a:xfrm>
              <a:off x="8271000" y="4723200"/>
              <a:ext cx="384840" cy="440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59"/>
            <p:cNvSpPr txBox="1"/>
            <p:nvPr/>
          </p:nvSpPr>
          <p:spPr>
            <a:xfrm>
              <a:off x="8271000" y="5533560"/>
              <a:ext cx="384840" cy="440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59"/>
            <p:cNvSpPr txBox="1"/>
            <p:nvPr/>
          </p:nvSpPr>
          <p:spPr>
            <a:xfrm>
              <a:off x="7857000" y="6585120"/>
              <a:ext cx="384840" cy="440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59"/>
            <p:cNvSpPr txBox="1"/>
            <p:nvPr/>
          </p:nvSpPr>
          <p:spPr>
            <a:xfrm>
              <a:off x="8650800" y="5865120"/>
              <a:ext cx="384840" cy="440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59"/>
            <p:cNvSpPr txBox="1"/>
            <p:nvPr/>
          </p:nvSpPr>
          <p:spPr>
            <a:xfrm>
              <a:off x="7891920" y="5863680"/>
              <a:ext cx="384840" cy="440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59"/>
            <p:cNvSpPr txBox="1"/>
            <p:nvPr/>
          </p:nvSpPr>
          <p:spPr>
            <a:xfrm>
              <a:off x="8650800" y="6585120"/>
              <a:ext cx="384840" cy="440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59"/>
            <p:cNvSpPr txBox="1"/>
            <p:nvPr/>
          </p:nvSpPr>
          <p:spPr>
            <a:xfrm>
              <a:off x="8271000" y="6945120"/>
              <a:ext cx="384840" cy="440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59"/>
            <p:cNvSpPr txBox="1"/>
            <p:nvPr/>
          </p:nvSpPr>
          <p:spPr>
            <a:xfrm>
              <a:off x="9030240" y="6945480"/>
              <a:ext cx="384840" cy="440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59"/>
            <p:cNvSpPr txBox="1"/>
            <p:nvPr/>
          </p:nvSpPr>
          <p:spPr>
            <a:xfrm>
              <a:off x="9030240" y="5536080"/>
              <a:ext cx="384840" cy="440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 strike="noStrike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b="0" sz="22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3" name="Google Shape;723;p59"/>
          <p:cNvSpPr txBox="1"/>
          <p:nvPr/>
        </p:nvSpPr>
        <p:spPr>
          <a:xfrm>
            <a:off x="504360" y="49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Mineração de dados complexos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Google Shape;72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8320" y="1311470"/>
            <a:ext cx="2870641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60"/>
          <p:cNvSpPr txBox="1"/>
          <p:nvPr/>
        </p:nvSpPr>
        <p:spPr>
          <a:xfrm>
            <a:off x="360000" y="1517050"/>
            <a:ext cx="5369700" cy="57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3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"/>
              <a:buFont typeface="Noto Sans Symbols"/>
              <a:buChar char="●"/>
            </a:pPr>
            <a:r>
              <a:rPr b="0" lang="en-US" sz="3000" strike="noStrike">
                <a:latin typeface="Arial"/>
                <a:ea typeface="Arial"/>
                <a:cs typeface="Arial"/>
                <a:sym typeface="Arial"/>
              </a:rPr>
              <a:t>Desafios do Mundo Real</a:t>
            </a:r>
            <a:endParaRPr b="0" i="0" sz="3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1300" lvl="1" marL="864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Symbols"/>
              <a:buChar char="−"/>
            </a:pPr>
            <a:r>
              <a:rPr b="0" i="0" lang="en-US" sz="2600" u="none" cap="none" strike="noStrike">
                <a:latin typeface="Arial"/>
                <a:ea typeface="Arial"/>
                <a:cs typeface="Arial"/>
                <a:sym typeface="Arial"/>
              </a:rPr>
              <a:t>Dados de tipos misturados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75300" lvl="2" marL="1296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880"/>
              <a:buFont typeface="Noto Sans Symbols"/>
              <a:buChar char="●"/>
            </a:pPr>
            <a:r>
              <a:rPr b="0" i="0" lang="en-US" sz="2200" u="none" cap="none" strike="noStrike">
                <a:latin typeface="Arial"/>
                <a:ea typeface="Arial"/>
                <a:cs typeface="Arial"/>
                <a:sym typeface="Arial"/>
              </a:rPr>
              <a:t>Crus 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03300" lvl="3" marL="1728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−"/>
            </a:pPr>
            <a:r>
              <a:rPr b="1" i="0" lang="en-US" sz="2200" u="none" cap="none" strike="noStrike">
                <a:latin typeface="Arial"/>
                <a:ea typeface="Arial"/>
                <a:cs typeface="Arial"/>
                <a:sym typeface="Arial"/>
              </a:rPr>
              <a:t>sem tipo</a:t>
            </a:r>
            <a:r>
              <a:rPr b="0" i="0" lang="en-US" sz="2200" u="none" cap="none" strike="noStrike">
                <a:latin typeface="Arial"/>
                <a:ea typeface="Arial"/>
                <a:cs typeface="Arial"/>
                <a:sym typeface="Arial"/>
              </a:rPr>
              <a:t> bem </a:t>
            </a:r>
            <a:r>
              <a:rPr b="1" i="0" lang="en-US" sz="2200" u="none" cap="none" strike="noStrike">
                <a:latin typeface="Arial"/>
                <a:ea typeface="Arial"/>
                <a:cs typeface="Arial"/>
                <a:sym typeface="Arial"/>
              </a:rPr>
              <a:t>definido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75299" lvl="2" marL="1295999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880"/>
              <a:buFont typeface="Noto Sans Symbols"/>
              <a:buChar char="●"/>
            </a:pPr>
            <a:r>
              <a:rPr b="0" i="0" lang="en-US" sz="2200" u="none" cap="none" strike="noStrike">
                <a:latin typeface="Arial"/>
                <a:ea typeface="Arial"/>
                <a:cs typeface="Arial"/>
                <a:sym typeface="Arial"/>
              </a:rPr>
              <a:t>Som de música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1300" lvl="1" marL="864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Symbols"/>
              <a:buChar char="−"/>
            </a:pPr>
            <a:r>
              <a:rPr b="0" i="0" lang="en-US" sz="2600" u="none" cap="none" strike="noStrike">
                <a:latin typeface="Arial"/>
                <a:ea typeface="Arial"/>
                <a:cs typeface="Arial"/>
                <a:sym typeface="Arial"/>
              </a:rPr>
              <a:t>Sistemas com muitos elementos </a:t>
            </a:r>
            <a:r>
              <a:rPr b="1" i="0" lang="en-US" sz="2600" u="none" cap="none" strike="noStrike">
                <a:latin typeface="Arial"/>
                <a:ea typeface="Arial"/>
                <a:cs typeface="Arial"/>
                <a:sym typeface="Arial"/>
              </a:rPr>
              <a:t>interconectados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75299" lvl="2" marL="1295999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880"/>
              <a:buFont typeface="Noto Sans Symbols"/>
              <a:buChar char="●"/>
            </a:pPr>
            <a:r>
              <a:rPr b="0" i="0" lang="en-US" sz="2200" u="none" cap="none" strike="noStrike">
                <a:latin typeface="Arial"/>
                <a:ea typeface="Arial"/>
                <a:cs typeface="Arial"/>
                <a:sym typeface="Arial"/>
              </a:rPr>
              <a:t>Larga-escala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1300" lvl="1" marL="864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Symbols"/>
              <a:buChar char="−"/>
            </a:pPr>
            <a:r>
              <a:rPr b="0" i="0" lang="en-US" sz="2600" u="none" cap="none" strike="noStrike">
                <a:latin typeface="Arial"/>
                <a:ea typeface="Arial"/>
                <a:cs typeface="Arial"/>
                <a:sym typeface="Arial"/>
              </a:rPr>
              <a:t>Requerem </a:t>
            </a:r>
            <a:r>
              <a:rPr lang="en-US" sz="2600"/>
              <a:t>respostas</a:t>
            </a:r>
            <a:r>
              <a:rPr b="0" i="0" lang="en-US" sz="2600" u="none" cap="none" strike="noStrike"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b="1" i="0" lang="en-US" sz="2600" u="none" cap="none" strike="noStrike">
                <a:latin typeface="Arial"/>
                <a:ea typeface="Arial"/>
                <a:cs typeface="Arial"/>
                <a:sym typeface="Arial"/>
              </a:rPr>
              <a:t>tempo real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1300" lvl="1" marL="864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Symbols"/>
              <a:buChar char="−"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Múltiplos critérios para avaliar 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75300" lvl="2" marL="1296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880"/>
              <a:buFont typeface="Noto Sans Symbols"/>
              <a:buChar char="●"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Pelo menos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QUALIDADE e CUSTO</a:t>
            </a:r>
            <a:r>
              <a:rPr b="1" i="0" lang="en-US" sz="2200" u="none" cap="none" strike="noStrike">
                <a:solidFill>
                  <a:srgbClr val="E6E6E6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0" name="Google Shape;730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4895" y="1203060"/>
            <a:ext cx="1534320" cy="2142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58940" y="3547075"/>
            <a:ext cx="1506240" cy="1175040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60"/>
          <p:cNvSpPr txBox="1"/>
          <p:nvPr/>
        </p:nvSpPr>
        <p:spPr>
          <a:xfrm>
            <a:off x="504360" y="49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Mineração de dados complexos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3" name="Google Shape;733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47525" y="5697310"/>
            <a:ext cx="1712520" cy="163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61"/>
          <p:cNvSpPr txBox="1"/>
          <p:nvPr/>
        </p:nvSpPr>
        <p:spPr>
          <a:xfrm>
            <a:off x="4831925" y="1828800"/>
            <a:ext cx="5135100" cy="3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6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Noto Sans Symbols"/>
              <a:buChar char="●"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“DAta MIning of COde REpositories”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986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−"/>
            </a:pP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Entrada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986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−"/>
            </a:pP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Dados crus organizados em arquivos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62600" lvl="2" marL="1296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680"/>
              <a:buFont typeface="Noto Sans Symbols"/>
              <a:buChar char="●"/>
            </a:pP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Sem conhecimento a priori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98600" lvl="1" marL="864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−"/>
            </a:pP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Saída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986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−"/>
            </a:pP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Filogenia / Filogramas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62600" lvl="2" marL="1296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680"/>
              <a:buFont typeface="Noto Sans Symbols"/>
              <a:buChar char="●"/>
            </a:pP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destacando grupos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61"/>
          <p:cNvSpPr txBox="1"/>
          <p:nvPr/>
        </p:nvSpPr>
        <p:spPr>
          <a:xfrm>
            <a:off x="504360" y="49320"/>
            <a:ext cx="9071640" cy="865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Mineração de dados complexos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61"/>
          <p:cNvSpPr txBox="1"/>
          <p:nvPr/>
        </p:nvSpPr>
        <p:spPr>
          <a:xfrm>
            <a:off x="4848480" y="5090400"/>
            <a:ext cx="5279040" cy="24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034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Noto Sans Symbols"/>
              <a:buChar char="●"/>
            </a:pPr>
            <a:r>
              <a:rPr b="0" lang="en-US" strike="noStrike">
                <a:latin typeface="Arial"/>
                <a:ea typeface="Arial"/>
                <a:cs typeface="Arial"/>
                <a:sym typeface="Arial"/>
              </a:rPr>
              <a:t>DAMICORE e relação com a Natureza</a:t>
            </a:r>
            <a:endParaRPr b="0" strike="noStrike">
              <a:latin typeface="Arial"/>
              <a:ea typeface="Arial"/>
              <a:cs typeface="Arial"/>
              <a:sym typeface="Arial"/>
            </a:endParaRPr>
          </a:p>
          <a:p>
            <a:pPr indent="-2351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00"/>
              <a:buFont typeface="Noto Sans Symbols"/>
              <a:buChar char="−"/>
            </a:pPr>
            <a:r>
              <a:rPr b="0" i="0" lang="en-US" u="none" cap="none" strike="noStrike">
                <a:latin typeface="Arial"/>
                <a:ea typeface="Arial"/>
                <a:cs typeface="Arial"/>
                <a:sym typeface="Arial"/>
              </a:rPr>
              <a:t>Filogenia</a:t>
            </a:r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351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700"/>
              <a:buFont typeface="Noto Sans Symbols"/>
              <a:buChar char="−"/>
            </a:pPr>
            <a:r>
              <a:rPr b="0" i="0" lang="en-US" u="none" cap="none" strike="noStrike">
                <a:latin typeface="Arial"/>
                <a:ea typeface="Arial"/>
                <a:cs typeface="Arial"/>
                <a:sym typeface="Arial"/>
              </a:rPr>
              <a:t>Redes Complexas </a:t>
            </a:r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4340" lvl="2" marL="1296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0"/>
              <a:buFont typeface="Noto Sans Symbols"/>
              <a:buChar char="●"/>
            </a:pPr>
            <a:r>
              <a:rPr b="1" i="0" lang="en-US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rPr>
              <a:t>(Newman, Phys. Rev., 2004)</a:t>
            </a:r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35100" lvl="1" marL="864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Noto Sans Symbols"/>
              <a:buChar char="−"/>
            </a:pPr>
            <a:r>
              <a:rPr b="0" i="0" lang="en-US" u="none" cap="none" strike="noStrike">
                <a:latin typeface="Arial"/>
                <a:ea typeface="Arial"/>
                <a:cs typeface="Arial"/>
                <a:sym typeface="Arial"/>
              </a:rPr>
              <a:t>Trabalha direto com a Natureza </a:t>
            </a:r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27100" lvl="3" marL="1728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700"/>
              <a:buFont typeface="Noto Sans Symbols"/>
              <a:buChar char="−"/>
            </a:pPr>
            <a:r>
              <a:rPr b="0" i="0" lang="en-US" u="none" cap="none" strike="noStrike">
                <a:latin typeface="Arial"/>
                <a:ea typeface="Arial"/>
                <a:cs typeface="Arial"/>
                <a:sym typeface="Arial"/>
              </a:rPr>
              <a:t>Dados crus</a:t>
            </a:r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50340" lvl="0" marL="4320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0"/>
              <a:buFont typeface="Noto Sans Symbols"/>
              <a:buChar char="●"/>
            </a:pPr>
            <a:r>
              <a:rPr b="0" lang="en-US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https://gitlab.com/adaptsys/damicorepy</a:t>
            </a:r>
            <a:endParaRPr b="0" strike="noStrike">
              <a:latin typeface="Arial"/>
              <a:ea typeface="Arial"/>
              <a:cs typeface="Arial"/>
              <a:sym typeface="Arial"/>
            </a:endParaRPr>
          </a:p>
          <a:p>
            <a:pPr indent="-82650" lvl="3" marL="1728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None/>
            </a:pPr>
            <a:r>
              <a:t/>
            </a:r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1" name="Google Shape;741;p61"/>
          <p:cNvGrpSpPr/>
          <p:nvPr/>
        </p:nvGrpSpPr>
        <p:grpSpPr>
          <a:xfrm>
            <a:off x="33840" y="1311480"/>
            <a:ext cx="4867920" cy="6202800"/>
            <a:chOff x="33840" y="1311480"/>
            <a:chExt cx="4867920" cy="6202800"/>
          </a:xfrm>
        </p:grpSpPr>
        <p:grpSp>
          <p:nvGrpSpPr>
            <p:cNvPr id="742" name="Google Shape;742;p61"/>
            <p:cNvGrpSpPr/>
            <p:nvPr/>
          </p:nvGrpSpPr>
          <p:grpSpPr>
            <a:xfrm>
              <a:off x="33840" y="1311480"/>
              <a:ext cx="4867920" cy="6202800"/>
              <a:chOff x="33840" y="1311480"/>
              <a:chExt cx="4867920" cy="6202800"/>
            </a:xfrm>
          </p:grpSpPr>
          <p:sp>
            <p:nvSpPr>
              <p:cNvPr id="743" name="Google Shape;743;p61"/>
              <p:cNvSpPr txBox="1"/>
              <p:nvPr/>
            </p:nvSpPr>
            <p:spPr>
              <a:xfrm>
                <a:off x="388080" y="1311480"/>
                <a:ext cx="4114800" cy="357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000" lIns="90000" spcFirstLastPara="1" rIns="90000" wrap="square" tIns="45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 strike="noStrike">
                    <a:latin typeface="Arial"/>
                    <a:ea typeface="Arial"/>
                    <a:cs typeface="Arial"/>
                    <a:sym typeface="Arial"/>
                  </a:rPr>
                  <a:t>DAMICORE</a:t>
                </a:r>
                <a:endParaRPr b="0" sz="1800" strike="noStrike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44" name="Google Shape;744;p6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840" y="1691640"/>
                <a:ext cx="4867920" cy="582264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45" name="Google Shape;745;p61"/>
              <p:cNvSpPr txBox="1"/>
              <p:nvPr/>
            </p:nvSpPr>
            <p:spPr>
              <a:xfrm>
                <a:off x="1225440" y="2312280"/>
                <a:ext cx="1113840" cy="365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000" lIns="0" spcFirstLastPara="1" rIns="0" wrap="square" tIns="45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 strike="noStrike">
                    <a:latin typeface="Arial"/>
                    <a:ea typeface="Arial"/>
                    <a:cs typeface="Arial"/>
                    <a:sym typeface="Arial"/>
                  </a:rPr>
                  <a:t>Repositório</a:t>
                </a:r>
                <a:endParaRPr b="0" sz="1600" strike="noStrike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61"/>
              <p:cNvSpPr txBox="1"/>
              <p:nvPr/>
            </p:nvSpPr>
            <p:spPr>
              <a:xfrm>
                <a:off x="1225440" y="3716280"/>
                <a:ext cx="1113840" cy="5475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000" lIns="0" spcFirstLastPara="1" rIns="0" wrap="square" tIns="45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 strike="noStrike">
                    <a:latin typeface="Arial"/>
                    <a:ea typeface="Arial"/>
                    <a:cs typeface="Arial"/>
                    <a:sym typeface="Arial"/>
                  </a:rPr>
                  <a:t>Matriz de Distâncias</a:t>
                </a:r>
                <a:endParaRPr b="0" sz="1600" strike="noStrike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61"/>
              <p:cNvSpPr txBox="1"/>
              <p:nvPr/>
            </p:nvSpPr>
            <p:spPr>
              <a:xfrm>
                <a:off x="1225440" y="5336280"/>
                <a:ext cx="1113840" cy="365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000" lIns="0" spcFirstLastPara="1" rIns="0" wrap="square" tIns="45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 strike="noStrike">
                    <a:latin typeface="Arial"/>
                    <a:ea typeface="Arial"/>
                    <a:cs typeface="Arial"/>
                    <a:sym typeface="Arial"/>
                  </a:rPr>
                  <a:t>Filogenia</a:t>
                </a:r>
                <a:endParaRPr b="0" sz="1600" strike="noStrike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61"/>
              <p:cNvSpPr txBox="1"/>
              <p:nvPr/>
            </p:nvSpPr>
            <p:spPr>
              <a:xfrm>
                <a:off x="1408320" y="6920280"/>
                <a:ext cx="894960" cy="3657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000" lIns="0" spcFirstLastPara="1" rIns="0" wrap="square" tIns="45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600" strike="noStrike">
                    <a:latin typeface="Arial"/>
                    <a:ea typeface="Arial"/>
                    <a:cs typeface="Arial"/>
                    <a:sym typeface="Arial"/>
                  </a:rPr>
                  <a:t>Grupos</a:t>
                </a:r>
                <a:endParaRPr b="0" sz="1600" strike="noStrike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9" name="Google Shape;749;p61"/>
            <p:cNvGrpSpPr/>
            <p:nvPr/>
          </p:nvGrpSpPr>
          <p:grpSpPr>
            <a:xfrm>
              <a:off x="3018129" y="1846949"/>
              <a:ext cx="1371627" cy="912304"/>
              <a:chOff x="3018129" y="1846949"/>
              <a:chExt cx="1371627" cy="912304"/>
            </a:xfrm>
          </p:grpSpPr>
          <p:sp>
            <p:nvSpPr>
              <p:cNvPr id="750" name="Google Shape;750;p61"/>
              <p:cNvSpPr txBox="1"/>
              <p:nvPr/>
            </p:nvSpPr>
            <p:spPr>
              <a:xfrm rot="31800">
                <a:off x="3418200" y="2611080"/>
                <a:ext cx="513720" cy="14580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 strike="noStrike">
                    <a:solidFill>
                      <a:srgbClr val="4C4C4C"/>
                    </a:solidFill>
                    <a:latin typeface="Arial"/>
                    <a:ea typeface="Arial"/>
                    <a:cs typeface="Arial"/>
                    <a:sym typeface="Arial"/>
                  </a:rPr>
                  <a:t>o=o*o;</a:t>
                </a:r>
                <a:endParaRPr b="0" sz="1000" strike="noStrike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61"/>
              <p:cNvSpPr txBox="1"/>
              <p:nvPr/>
            </p:nvSpPr>
            <p:spPr>
              <a:xfrm rot="31800">
                <a:off x="3418560" y="2365200"/>
                <a:ext cx="514080" cy="14364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 strike="noStrike">
                    <a:solidFill>
                      <a:srgbClr val="4C4C4C"/>
                    </a:solidFill>
                    <a:latin typeface="Arial"/>
                    <a:ea typeface="Arial"/>
                    <a:cs typeface="Arial"/>
                    <a:sym typeface="Arial"/>
                  </a:rPr>
                  <a:t>o=o+o;</a:t>
                </a:r>
                <a:endParaRPr b="0" sz="1000" strike="noStrike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61"/>
              <p:cNvSpPr txBox="1"/>
              <p:nvPr/>
            </p:nvSpPr>
            <p:spPr>
              <a:xfrm rot="31800">
                <a:off x="3018960" y="1853280"/>
                <a:ext cx="1369800" cy="18612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 strike="noStrike">
                    <a:solidFill>
                      <a:srgbClr val="4C4C4C"/>
                    </a:solidFill>
                    <a:latin typeface="Arial"/>
                    <a:ea typeface="Arial"/>
                    <a:cs typeface="Arial"/>
                    <a:sym typeface="Arial"/>
                  </a:rPr>
                  <a:t>for(i=0;i&lt;G;i++){o=o+o;}</a:t>
                </a:r>
                <a:endParaRPr b="0" sz="1000" strike="noStrike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61"/>
              <p:cNvSpPr txBox="1"/>
              <p:nvPr/>
            </p:nvSpPr>
            <p:spPr>
              <a:xfrm rot="31800">
                <a:off x="3018960" y="2109240"/>
                <a:ext cx="1370160" cy="14364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 strike="noStrike">
                    <a:solidFill>
                      <a:srgbClr val="4C4C4C"/>
                    </a:solidFill>
                    <a:latin typeface="Arial"/>
                    <a:ea typeface="Arial"/>
                    <a:cs typeface="Arial"/>
                    <a:sym typeface="Arial"/>
                  </a:rPr>
                  <a:t>for(j=0;j&lt;G;j++){o=o*o;}</a:t>
                </a:r>
                <a:endParaRPr b="0" sz="1000" strike="noStrike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2"/>
          <p:cNvSpPr txBox="1"/>
          <p:nvPr/>
        </p:nvSpPr>
        <p:spPr>
          <a:xfrm>
            <a:off x="91440" y="1661040"/>
            <a:ext cx="978408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NCD - fundamental na generalização da proposta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288000" lvl="2" marL="1296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latin typeface="Arial"/>
                <a:ea typeface="Arial"/>
                <a:cs typeface="Arial"/>
                <a:sym typeface="Arial"/>
              </a:rPr>
              <a:t>Para lidar com quaisquer tipos de dados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3" marL="1728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</a:pP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Incluindo dados de tipos misturados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58850" lvl="5" marL="25920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Ideia de como funciona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3" marL="1728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</a:pP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O quanto tem de </a:t>
            </a: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um no outro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 ?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62"/>
          <p:cNvSpPr txBox="1"/>
          <p:nvPr/>
        </p:nvSpPr>
        <p:spPr>
          <a:xfrm>
            <a:off x="504360" y="49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Mineração de dados complexos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62"/>
          <p:cNvSpPr/>
          <p:nvPr/>
        </p:nvSpPr>
        <p:spPr>
          <a:xfrm>
            <a:off x="2880000" y="4644000"/>
            <a:ext cx="2880000" cy="360000"/>
          </a:xfrm>
          <a:prstGeom prst="rect">
            <a:avLst/>
          </a:prstGeom>
          <a:solidFill>
            <a:srgbClr val="CFE7F5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62"/>
          <p:cNvSpPr/>
          <p:nvPr/>
        </p:nvSpPr>
        <p:spPr>
          <a:xfrm>
            <a:off x="5760000" y="4644000"/>
            <a:ext cx="900000" cy="3600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62"/>
          <p:cNvSpPr/>
          <p:nvPr/>
        </p:nvSpPr>
        <p:spPr>
          <a:xfrm>
            <a:off x="7560000" y="4644000"/>
            <a:ext cx="900000" cy="3600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62"/>
          <p:cNvSpPr/>
          <p:nvPr/>
        </p:nvSpPr>
        <p:spPr>
          <a:xfrm>
            <a:off x="5580000" y="5112000"/>
            <a:ext cx="180000" cy="360000"/>
          </a:xfrm>
          <a:prstGeom prst="rect">
            <a:avLst/>
          </a:prstGeom>
          <a:solidFill>
            <a:srgbClr val="CFE7F5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62"/>
          <p:cNvSpPr/>
          <p:nvPr/>
        </p:nvSpPr>
        <p:spPr>
          <a:xfrm>
            <a:off x="5760000" y="5112000"/>
            <a:ext cx="180000" cy="3600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62"/>
          <p:cNvSpPr/>
          <p:nvPr/>
        </p:nvSpPr>
        <p:spPr>
          <a:xfrm>
            <a:off x="6228000" y="6192000"/>
            <a:ext cx="180000" cy="3600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62"/>
          <p:cNvSpPr txBox="1"/>
          <p:nvPr/>
        </p:nvSpPr>
        <p:spPr>
          <a:xfrm>
            <a:off x="2352960" y="4592880"/>
            <a:ext cx="40176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A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62"/>
          <p:cNvSpPr txBox="1"/>
          <p:nvPr/>
        </p:nvSpPr>
        <p:spPr>
          <a:xfrm>
            <a:off x="8553600" y="4558680"/>
            <a:ext cx="40176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62"/>
          <p:cNvSpPr txBox="1"/>
          <p:nvPr/>
        </p:nvSpPr>
        <p:spPr>
          <a:xfrm>
            <a:off x="4651920" y="5100120"/>
            <a:ext cx="86976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C(A)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62"/>
          <p:cNvSpPr txBox="1"/>
          <p:nvPr/>
        </p:nvSpPr>
        <p:spPr>
          <a:xfrm>
            <a:off x="7472520" y="5084640"/>
            <a:ext cx="86976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C(B)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62"/>
          <p:cNvSpPr txBox="1"/>
          <p:nvPr/>
        </p:nvSpPr>
        <p:spPr>
          <a:xfrm>
            <a:off x="4379760" y="5579640"/>
            <a:ext cx="117612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C(A|B)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62"/>
          <p:cNvSpPr/>
          <p:nvPr/>
        </p:nvSpPr>
        <p:spPr>
          <a:xfrm>
            <a:off x="5760000" y="5112000"/>
            <a:ext cx="180000" cy="3600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2"/>
          <p:cNvSpPr/>
          <p:nvPr/>
        </p:nvSpPr>
        <p:spPr>
          <a:xfrm>
            <a:off x="5580000" y="5616000"/>
            <a:ext cx="180000" cy="360000"/>
          </a:xfrm>
          <a:prstGeom prst="rect">
            <a:avLst/>
          </a:prstGeom>
          <a:solidFill>
            <a:srgbClr val="CFE7F5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62"/>
          <p:cNvSpPr/>
          <p:nvPr/>
        </p:nvSpPr>
        <p:spPr>
          <a:xfrm>
            <a:off x="5760000" y="5616000"/>
            <a:ext cx="180000" cy="3600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62"/>
          <p:cNvSpPr txBox="1"/>
          <p:nvPr/>
        </p:nvSpPr>
        <p:spPr>
          <a:xfrm>
            <a:off x="3824640" y="6173280"/>
            <a:ext cx="4389120" cy="85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C(A|B) – C(B) =         -     =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C(A|B) – C(B) / C(A) =      /         ~  </a:t>
            </a:r>
            <a:r>
              <a:rPr b="1" lang="en-US" sz="1800" strike="noStrike">
                <a:latin typeface="Arial"/>
                <a:ea typeface="Arial"/>
                <a:cs typeface="Arial"/>
                <a:sym typeface="Arial"/>
              </a:rPr>
              <a:t>50%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62"/>
          <p:cNvSpPr/>
          <p:nvPr/>
        </p:nvSpPr>
        <p:spPr>
          <a:xfrm>
            <a:off x="6700320" y="6159600"/>
            <a:ext cx="180000" cy="360000"/>
          </a:xfrm>
          <a:prstGeom prst="rect">
            <a:avLst/>
          </a:prstGeom>
          <a:solidFill>
            <a:srgbClr val="CFE7F5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62"/>
          <p:cNvSpPr/>
          <p:nvPr/>
        </p:nvSpPr>
        <p:spPr>
          <a:xfrm>
            <a:off x="6268320" y="6663600"/>
            <a:ext cx="180000" cy="360000"/>
          </a:xfrm>
          <a:prstGeom prst="rect">
            <a:avLst/>
          </a:prstGeom>
          <a:solidFill>
            <a:srgbClr val="CFE7F5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7" name="Google Shape;777;p62"/>
          <p:cNvGrpSpPr/>
          <p:nvPr/>
        </p:nvGrpSpPr>
        <p:grpSpPr>
          <a:xfrm>
            <a:off x="6696000" y="6660000"/>
            <a:ext cx="360000" cy="360000"/>
            <a:chOff x="6696000" y="6660000"/>
            <a:chExt cx="360000" cy="360000"/>
          </a:xfrm>
        </p:grpSpPr>
        <p:sp>
          <p:nvSpPr>
            <p:cNvPr id="778" name="Google Shape;778;p62"/>
            <p:cNvSpPr/>
            <p:nvPr/>
          </p:nvSpPr>
          <p:spPr>
            <a:xfrm>
              <a:off x="6696000" y="6660000"/>
              <a:ext cx="180000" cy="360000"/>
            </a:xfrm>
            <a:prstGeom prst="rect">
              <a:avLst/>
            </a:pr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62"/>
            <p:cNvSpPr/>
            <p:nvPr/>
          </p:nvSpPr>
          <p:spPr>
            <a:xfrm>
              <a:off x="6876000" y="6660000"/>
              <a:ext cx="180000" cy="3600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0" name="Google Shape;780;p62"/>
          <p:cNvSpPr/>
          <p:nvPr/>
        </p:nvSpPr>
        <p:spPr>
          <a:xfrm>
            <a:off x="5616000" y="6192000"/>
            <a:ext cx="180000" cy="360000"/>
          </a:xfrm>
          <a:prstGeom prst="rect">
            <a:avLst/>
          </a:prstGeom>
          <a:solidFill>
            <a:srgbClr val="CFE7F5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62"/>
          <p:cNvSpPr/>
          <p:nvPr/>
        </p:nvSpPr>
        <p:spPr>
          <a:xfrm>
            <a:off x="5796000" y="6192000"/>
            <a:ext cx="180000" cy="3600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62"/>
          <p:cNvSpPr/>
          <p:nvPr/>
        </p:nvSpPr>
        <p:spPr>
          <a:xfrm>
            <a:off x="8280000" y="5148000"/>
            <a:ext cx="180000" cy="3600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62"/>
          <p:cNvSpPr txBox="1"/>
          <p:nvPr/>
        </p:nvSpPr>
        <p:spPr>
          <a:xfrm>
            <a:off x="7004880" y="6190560"/>
            <a:ext cx="2358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E6E6E6"/>
                </a:solidFill>
                <a:latin typeface="Arial"/>
                <a:ea typeface="Arial"/>
                <a:cs typeface="Arial"/>
                <a:sym typeface="Arial"/>
              </a:rPr>
              <a:t>(não compartilhado)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62"/>
          <p:cNvSpPr txBox="1"/>
          <p:nvPr/>
        </p:nvSpPr>
        <p:spPr>
          <a:xfrm>
            <a:off x="7772400" y="2103120"/>
            <a:ext cx="1737360" cy="85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Cilibrasi &amp; Vitanyi,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IEEE TIT, 2005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63"/>
          <p:cNvSpPr txBox="1"/>
          <p:nvPr/>
        </p:nvSpPr>
        <p:spPr>
          <a:xfrm>
            <a:off x="504000" y="1625040"/>
            <a:ext cx="8731440" cy="572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Exemplos da capacidade de generalização do NCD por meio do DAMICORE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Aplicado diretamente a dados crus de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Sinais de </a:t>
            </a:r>
            <a:r>
              <a:rPr b="0" i="1" lang="en-US" sz="2800" u="none" cap="none" strike="noStrike">
                <a:latin typeface="Arial"/>
                <a:ea typeface="Arial"/>
                <a:cs typeface="Arial"/>
                <a:sym typeface="Arial"/>
              </a:rPr>
              <a:t>Laser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Programas de computador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Dezenas de outros em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8000" lvl="2" marL="1296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Trabalhos de alunos de disciplinas dos Programas de Pós-Grad de Bioeng, CCMC, MECAI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63"/>
          <p:cNvSpPr txBox="1"/>
          <p:nvPr/>
        </p:nvSpPr>
        <p:spPr>
          <a:xfrm>
            <a:off x="504360" y="49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Mineração de dados complexos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4"/>
          <p:cNvSpPr/>
          <p:nvPr/>
        </p:nvSpPr>
        <p:spPr>
          <a:xfrm>
            <a:off x="748080" y="8306640"/>
            <a:ext cx="14120640" cy="4968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 OF CLUSTERS FROM DAMICORE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6" name="Google Shape;796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160" y="9054360"/>
            <a:ext cx="6648480" cy="4295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4040" y="8998920"/>
            <a:ext cx="5732640" cy="4716360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64"/>
          <p:cNvSpPr/>
          <p:nvPr/>
        </p:nvSpPr>
        <p:spPr>
          <a:xfrm>
            <a:off x="1010160" y="13509000"/>
            <a:ext cx="366048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Images of forests and deserts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64"/>
          <p:cNvSpPr/>
          <p:nvPr/>
        </p:nvSpPr>
        <p:spPr>
          <a:xfrm>
            <a:off x="5613840" y="13455000"/>
            <a:ext cx="392256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Texts from different languages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0" name="Google Shape;800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87240" y="9033840"/>
            <a:ext cx="5099040" cy="444816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64"/>
          <p:cNvSpPr/>
          <p:nvPr/>
        </p:nvSpPr>
        <p:spPr>
          <a:xfrm>
            <a:off x="9784080" y="13455000"/>
            <a:ext cx="392292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Discovering states during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Robot navigation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64"/>
          <p:cNvSpPr/>
          <p:nvPr/>
        </p:nvSpPr>
        <p:spPr>
          <a:xfrm>
            <a:off x="748080" y="8306640"/>
            <a:ext cx="14120640" cy="4968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 OF CLUSTERS FROM DAMICORE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3" name="Google Shape;803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160" y="9054360"/>
            <a:ext cx="6648480" cy="4295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4040" y="8998920"/>
            <a:ext cx="5732640" cy="4716360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4"/>
          <p:cNvSpPr/>
          <p:nvPr/>
        </p:nvSpPr>
        <p:spPr>
          <a:xfrm>
            <a:off x="1010160" y="13509000"/>
            <a:ext cx="366048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Images of forests and deserts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64"/>
          <p:cNvSpPr/>
          <p:nvPr/>
        </p:nvSpPr>
        <p:spPr>
          <a:xfrm>
            <a:off x="5613840" y="13455000"/>
            <a:ext cx="392256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Texts from different languages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7" name="Google Shape;807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87240" y="9033840"/>
            <a:ext cx="5099040" cy="4448160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4"/>
          <p:cNvSpPr/>
          <p:nvPr/>
        </p:nvSpPr>
        <p:spPr>
          <a:xfrm>
            <a:off x="9784080" y="13455000"/>
            <a:ext cx="392292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Discovering states during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Robot navigation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64"/>
          <p:cNvSpPr/>
          <p:nvPr/>
        </p:nvSpPr>
        <p:spPr>
          <a:xfrm>
            <a:off x="748080" y="8306640"/>
            <a:ext cx="14120640" cy="4968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 OF CLUSTERS FROM DAMICORE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0" name="Google Shape;81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160" y="9054360"/>
            <a:ext cx="6648480" cy="4295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4040" y="8998920"/>
            <a:ext cx="5732640" cy="4716360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64"/>
          <p:cNvSpPr/>
          <p:nvPr/>
        </p:nvSpPr>
        <p:spPr>
          <a:xfrm>
            <a:off x="1010160" y="13509000"/>
            <a:ext cx="366048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Images of forests and deserts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64"/>
          <p:cNvSpPr/>
          <p:nvPr/>
        </p:nvSpPr>
        <p:spPr>
          <a:xfrm>
            <a:off x="5613840" y="13455000"/>
            <a:ext cx="392256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Texts from different languages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4" name="Google Shape;814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87240" y="9033840"/>
            <a:ext cx="5099040" cy="444816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64"/>
          <p:cNvSpPr/>
          <p:nvPr/>
        </p:nvSpPr>
        <p:spPr>
          <a:xfrm>
            <a:off x="9784080" y="13455000"/>
            <a:ext cx="392292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Discovering states during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Robot navigation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64"/>
          <p:cNvSpPr/>
          <p:nvPr/>
        </p:nvSpPr>
        <p:spPr>
          <a:xfrm>
            <a:off x="748080" y="8306640"/>
            <a:ext cx="14120640" cy="4968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 OF CLUSTERS FROM DAMICORE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7" name="Google Shape;81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160" y="9054360"/>
            <a:ext cx="6648480" cy="4295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4040" y="8998920"/>
            <a:ext cx="5732640" cy="4716360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64"/>
          <p:cNvSpPr/>
          <p:nvPr/>
        </p:nvSpPr>
        <p:spPr>
          <a:xfrm>
            <a:off x="1010160" y="13509000"/>
            <a:ext cx="366048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Images of forests and deserts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64"/>
          <p:cNvSpPr/>
          <p:nvPr/>
        </p:nvSpPr>
        <p:spPr>
          <a:xfrm>
            <a:off x="5613840" y="13455000"/>
            <a:ext cx="392256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Texts from different languages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1" name="Google Shape;821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87240" y="9033840"/>
            <a:ext cx="5099040" cy="444816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64"/>
          <p:cNvSpPr/>
          <p:nvPr/>
        </p:nvSpPr>
        <p:spPr>
          <a:xfrm>
            <a:off x="9784080" y="13455000"/>
            <a:ext cx="392292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Discovering states during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Robot navigation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3" name="Google Shape;823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4400" y="8981640"/>
            <a:ext cx="5732640" cy="4716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1840" y="182880"/>
            <a:ext cx="9105119" cy="7132320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64"/>
          <p:cNvSpPr txBox="1"/>
          <p:nvPr/>
        </p:nvSpPr>
        <p:spPr>
          <a:xfrm>
            <a:off x="7683840" y="3111840"/>
            <a:ext cx="1825920" cy="77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rPr>
              <a:t>Soares, A.H.M. et al., Robotics (Chap.), 2016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" name="Google Shape;83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160" y="9054360"/>
            <a:ext cx="6648480" cy="4295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4040" y="8998920"/>
            <a:ext cx="5732640" cy="4716360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65"/>
          <p:cNvSpPr/>
          <p:nvPr/>
        </p:nvSpPr>
        <p:spPr>
          <a:xfrm>
            <a:off x="1010160" y="13509000"/>
            <a:ext cx="366048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Images of forests and deserts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65"/>
          <p:cNvSpPr/>
          <p:nvPr/>
        </p:nvSpPr>
        <p:spPr>
          <a:xfrm>
            <a:off x="5613840" y="13455000"/>
            <a:ext cx="392256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Texts from different languages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4" name="Google Shape;834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87240" y="9033840"/>
            <a:ext cx="5099040" cy="444816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65"/>
          <p:cNvSpPr/>
          <p:nvPr/>
        </p:nvSpPr>
        <p:spPr>
          <a:xfrm>
            <a:off x="9784080" y="13455000"/>
            <a:ext cx="392292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Discovering states during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Robot navigation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65"/>
          <p:cNvSpPr/>
          <p:nvPr/>
        </p:nvSpPr>
        <p:spPr>
          <a:xfrm>
            <a:off x="748080" y="8306640"/>
            <a:ext cx="14120640" cy="4968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 OF CLUSTERS FROM DAMICORE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160" y="9054360"/>
            <a:ext cx="6648480" cy="429588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65"/>
          <p:cNvSpPr/>
          <p:nvPr/>
        </p:nvSpPr>
        <p:spPr>
          <a:xfrm>
            <a:off x="1010160" y="13509000"/>
            <a:ext cx="366048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Images of forests and deserts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65"/>
          <p:cNvSpPr/>
          <p:nvPr/>
        </p:nvSpPr>
        <p:spPr>
          <a:xfrm>
            <a:off x="5613840" y="13455000"/>
            <a:ext cx="392256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Texts from different languages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0" name="Google Shape;840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87240" y="9033840"/>
            <a:ext cx="5099040" cy="4448160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65"/>
          <p:cNvSpPr/>
          <p:nvPr/>
        </p:nvSpPr>
        <p:spPr>
          <a:xfrm>
            <a:off x="9784080" y="13455000"/>
            <a:ext cx="392292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Discovering states during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Robot navigation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65"/>
          <p:cNvSpPr/>
          <p:nvPr/>
        </p:nvSpPr>
        <p:spPr>
          <a:xfrm>
            <a:off x="748080" y="8306640"/>
            <a:ext cx="14120640" cy="4968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id="843" name="Google Shape;84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1160" y="9054360"/>
            <a:ext cx="6648480" cy="4295880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65"/>
          <p:cNvSpPr/>
          <p:nvPr/>
        </p:nvSpPr>
        <p:spPr>
          <a:xfrm>
            <a:off x="1010160" y="13509000"/>
            <a:ext cx="366048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Images of forests and deserts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65"/>
          <p:cNvSpPr/>
          <p:nvPr/>
        </p:nvSpPr>
        <p:spPr>
          <a:xfrm>
            <a:off x="5613840" y="13455000"/>
            <a:ext cx="392256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Texts from different languages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6" name="Google Shape;846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87240" y="9033840"/>
            <a:ext cx="5099040" cy="4448160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65"/>
          <p:cNvSpPr/>
          <p:nvPr/>
        </p:nvSpPr>
        <p:spPr>
          <a:xfrm>
            <a:off x="9784080" y="13455000"/>
            <a:ext cx="392292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Discovering states during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Robot navigation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65"/>
          <p:cNvSpPr/>
          <p:nvPr/>
        </p:nvSpPr>
        <p:spPr>
          <a:xfrm>
            <a:off x="748080" y="8306640"/>
            <a:ext cx="14120640" cy="4968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9" name="Google Shape;849;p65"/>
          <p:cNvSpPr/>
          <p:nvPr/>
        </p:nvSpPr>
        <p:spPr>
          <a:xfrm>
            <a:off x="1010160" y="13509000"/>
            <a:ext cx="366048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Images of forests and deserts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65"/>
          <p:cNvSpPr/>
          <p:nvPr/>
        </p:nvSpPr>
        <p:spPr>
          <a:xfrm>
            <a:off x="5613840" y="13455000"/>
            <a:ext cx="392256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Texts from different languages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1" name="Google Shape;851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87240" y="9033840"/>
            <a:ext cx="5099040" cy="4448160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65"/>
          <p:cNvSpPr/>
          <p:nvPr/>
        </p:nvSpPr>
        <p:spPr>
          <a:xfrm>
            <a:off x="9784080" y="13455000"/>
            <a:ext cx="3922920" cy="86364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000" lIns="90000" spcFirstLastPara="1" rIns="90000" wrap="square" tIns="648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Discovering states during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Robot navigation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3" name="Google Shape;853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" y="91440"/>
            <a:ext cx="6949440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65"/>
          <p:cNvSpPr txBox="1"/>
          <p:nvPr/>
        </p:nvSpPr>
        <p:spPr>
          <a:xfrm>
            <a:off x="1554480" y="6492240"/>
            <a:ext cx="2126880" cy="77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Silva, B. A. et al., IET Computers &amp; Digital Techniques, 2014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5" name="Google Shape;855;p65"/>
          <p:cNvGrpSpPr/>
          <p:nvPr/>
        </p:nvGrpSpPr>
        <p:grpSpPr>
          <a:xfrm>
            <a:off x="3657600" y="3383280"/>
            <a:ext cx="6422400" cy="4176720"/>
            <a:chOff x="3657600" y="3383280"/>
            <a:chExt cx="6422400" cy="4176720"/>
          </a:xfrm>
        </p:grpSpPr>
        <p:grpSp>
          <p:nvGrpSpPr>
            <p:cNvPr id="856" name="Google Shape;856;p65"/>
            <p:cNvGrpSpPr/>
            <p:nvPr/>
          </p:nvGrpSpPr>
          <p:grpSpPr>
            <a:xfrm>
              <a:off x="3657600" y="3383280"/>
              <a:ext cx="6422400" cy="4176720"/>
              <a:chOff x="3657600" y="3383280"/>
              <a:chExt cx="6422400" cy="4176720"/>
            </a:xfrm>
          </p:grpSpPr>
          <p:grpSp>
            <p:nvGrpSpPr>
              <p:cNvPr id="857" name="Google Shape;857;p65"/>
              <p:cNvGrpSpPr/>
              <p:nvPr/>
            </p:nvGrpSpPr>
            <p:grpSpPr>
              <a:xfrm>
                <a:off x="3657600" y="3383280"/>
                <a:ext cx="6422400" cy="4176720"/>
                <a:chOff x="3657600" y="3383280"/>
                <a:chExt cx="6422400" cy="4176720"/>
              </a:xfrm>
            </p:grpSpPr>
            <p:pic>
              <p:nvPicPr>
                <p:cNvPr id="858" name="Google Shape;858;p65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3657600" y="3383280"/>
                  <a:ext cx="6422400" cy="417672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59" name="Google Shape;859;p65"/>
                <p:cNvSpPr txBox="1"/>
                <p:nvPr/>
              </p:nvSpPr>
              <p:spPr>
                <a:xfrm>
                  <a:off x="4077000" y="7188480"/>
                  <a:ext cx="5914080" cy="2660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800" strike="noStrike">
                      <a:latin typeface="Arial"/>
                      <a:ea typeface="Arial"/>
                      <a:cs typeface="Arial"/>
                      <a:sym typeface="Arial"/>
                    </a:rPr>
                    <a:t>Processador Multi-core Hereterogêneo em FPGA</a:t>
                  </a:r>
                  <a:endParaRPr b="0" sz="1800" strike="noStrike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60" name="Google Shape;860;p65"/>
              <p:cNvGrpSpPr/>
              <p:nvPr/>
            </p:nvGrpSpPr>
            <p:grpSpPr>
              <a:xfrm>
                <a:off x="7164720" y="3660120"/>
                <a:ext cx="2251079" cy="1662840"/>
                <a:chOff x="7164720" y="3660120"/>
                <a:chExt cx="2251079" cy="1662840"/>
              </a:xfrm>
            </p:grpSpPr>
            <p:pic>
              <p:nvPicPr>
                <p:cNvPr id="861" name="Google Shape;861;p65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7718040" y="3872160"/>
                  <a:ext cx="1697760" cy="130428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62" name="Google Shape;862;p65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7386480" y="3660120"/>
                  <a:ext cx="1402560" cy="159048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63" name="Google Shape;863;p65"/>
                <p:cNvSpPr txBox="1"/>
                <p:nvPr/>
              </p:nvSpPr>
              <p:spPr>
                <a:xfrm>
                  <a:off x="8332920" y="3756240"/>
                  <a:ext cx="317880" cy="63288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3200" strike="noStrike">
                      <a:latin typeface="Arial"/>
                      <a:ea typeface="Arial"/>
                      <a:cs typeface="Arial"/>
                      <a:sym typeface="Arial"/>
                    </a:rPr>
                    <a:t>4</a:t>
                  </a:r>
                  <a:endParaRPr b="0" sz="3200" strike="noStrike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864" name="Google Shape;864;p65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7164720" y="5156640"/>
                  <a:ext cx="571680" cy="16596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65" name="Google Shape;865;p65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8172720" y="5157000"/>
                  <a:ext cx="571680" cy="16596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866" name="Google Shape;866;p65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8859600" y="4206240"/>
                <a:ext cx="1108800" cy="103032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867" name="Google Shape;867;p65"/>
            <p:cNvCxnSpPr/>
            <p:nvPr/>
          </p:nvCxnSpPr>
          <p:spPr>
            <a:xfrm>
              <a:off x="4150800" y="3657600"/>
              <a:ext cx="1280160" cy="0"/>
            </a:xfrm>
            <a:prstGeom prst="straightConnector1">
              <a:avLst/>
            </a:prstGeom>
            <a:noFill/>
            <a:ln cap="flat" cmpd="sng" w="73075">
              <a:solidFill>
                <a:srgbClr val="004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8" name="Google Shape;868;p65"/>
            <p:cNvCxnSpPr/>
            <p:nvPr/>
          </p:nvCxnSpPr>
          <p:spPr>
            <a:xfrm>
              <a:off x="5842800" y="3657600"/>
              <a:ext cx="1280160" cy="0"/>
            </a:xfrm>
            <a:prstGeom prst="straightConnector1">
              <a:avLst/>
            </a:prstGeom>
            <a:noFill/>
            <a:ln cap="flat" cmpd="sng" w="730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9" name="Google Shape;869;p65"/>
            <p:cNvCxnSpPr/>
            <p:nvPr/>
          </p:nvCxnSpPr>
          <p:spPr>
            <a:xfrm>
              <a:off x="7462800" y="3657600"/>
              <a:ext cx="1280160" cy="0"/>
            </a:xfrm>
            <a:prstGeom prst="straightConnector1">
              <a:avLst/>
            </a:prstGeom>
            <a:noFill/>
            <a:ln cap="flat" cmpd="sng" w="73075">
              <a:solidFill>
                <a:srgbClr val="FFD32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0" name="Google Shape;870;p65"/>
            <p:cNvCxnSpPr/>
            <p:nvPr/>
          </p:nvCxnSpPr>
          <p:spPr>
            <a:xfrm>
              <a:off x="4150800" y="7132320"/>
              <a:ext cx="1280160" cy="0"/>
            </a:xfrm>
            <a:prstGeom prst="straightConnector1">
              <a:avLst/>
            </a:prstGeom>
            <a:noFill/>
            <a:ln cap="flat" cmpd="sng" w="73075">
              <a:solidFill>
                <a:srgbClr val="579D1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1" name="Google Shape;871;p65"/>
            <p:cNvCxnSpPr/>
            <p:nvPr/>
          </p:nvCxnSpPr>
          <p:spPr>
            <a:xfrm>
              <a:off x="5842800" y="7132320"/>
              <a:ext cx="1280160" cy="0"/>
            </a:xfrm>
            <a:prstGeom prst="straightConnector1">
              <a:avLst/>
            </a:prstGeom>
            <a:noFill/>
            <a:ln cap="flat" cmpd="sng" w="73075">
              <a:solidFill>
                <a:srgbClr val="4B1F6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72" name="Google Shape;872;p65"/>
          <p:cNvSpPr txBox="1"/>
          <p:nvPr/>
        </p:nvSpPr>
        <p:spPr>
          <a:xfrm>
            <a:off x="7040880" y="335520"/>
            <a:ext cx="2926080" cy="208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Perfil de execução de um dos algoritmos de cada grupo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66"/>
          <p:cNvSpPr txBox="1"/>
          <p:nvPr/>
        </p:nvSpPr>
        <p:spPr>
          <a:xfrm>
            <a:off x="182880" y="1625040"/>
            <a:ext cx="9897120" cy="572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Variáveis como amostras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Extrusora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9065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8000" lvl="2" marL="1296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 cap="none" strike="noStrike">
                <a:latin typeface="Arial"/>
                <a:ea typeface="Arial"/>
                <a:cs typeface="Arial"/>
                <a:sym typeface="Arial"/>
              </a:rPr>
              <a:t>Armazenam-se os valores de cada variável em um arquivo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3" marL="1728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Noto Sans Symbols"/>
              <a:buChar char="−"/>
            </a:pPr>
            <a:r>
              <a:rPr b="0" i="0" lang="en-US" sz="2200" u="none" cap="none" strike="noStrike">
                <a:latin typeface="Arial"/>
                <a:ea typeface="Arial"/>
                <a:cs typeface="Arial"/>
                <a:sym typeface="Arial"/>
              </a:rPr>
              <a:t>Valores obtidos de soluções promissoras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53135" lvl="4" marL="21600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latin typeface="Arial"/>
                <a:ea typeface="Arial"/>
                <a:cs typeface="Arial"/>
                <a:sym typeface="Arial"/>
              </a:rPr>
              <a:t>Aplica-se o DAMICORE a esses arquivos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8000" lvl="2" marL="1296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●"/>
            </a:pPr>
            <a:r>
              <a:rPr b="0" i="0" lang="en-US" sz="2600" u="none" cap="none" strike="noStrike">
                <a:latin typeface="Arial"/>
                <a:ea typeface="Arial"/>
                <a:cs typeface="Arial"/>
                <a:sym typeface="Arial"/>
              </a:rPr>
              <a:t>idendificando os grupos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49705" lvl="0" marL="432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None/>
            </a:pPr>
            <a:r>
              <a:t/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  <a:p>
            <a:pPr indent="-200175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oto Sans Symbols"/>
              <a:buNone/>
            </a:pPr>
            <a:r>
              <a:t/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66"/>
          <p:cNvSpPr txBox="1"/>
          <p:nvPr/>
        </p:nvSpPr>
        <p:spPr>
          <a:xfrm>
            <a:off x="504360" y="85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DAMICORE gerando modelos para AEDs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9" name="Google Shape;879;p66"/>
          <p:cNvGrpSpPr/>
          <p:nvPr/>
        </p:nvGrpSpPr>
        <p:grpSpPr>
          <a:xfrm>
            <a:off x="1906560" y="2651760"/>
            <a:ext cx="7694640" cy="578160"/>
            <a:chOff x="1906560" y="2651760"/>
            <a:chExt cx="7694640" cy="578160"/>
          </a:xfrm>
        </p:grpSpPr>
        <p:sp>
          <p:nvSpPr>
            <p:cNvPr id="880" name="Google Shape;880;p66"/>
            <p:cNvSpPr/>
            <p:nvPr/>
          </p:nvSpPr>
          <p:spPr>
            <a:xfrm>
              <a:off x="1906560" y="2651760"/>
              <a:ext cx="596880" cy="57816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66"/>
            <p:cNvSpPr/>
            <p:nvPr/>
          </p:nvSpPr>
          <p:spPr>
            <a:xfrm>
              <a:off x="5852160" y="2651760"/>
              <a:ext cx="596880" cy="57816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L1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66"/>
            <p:cNvSpPr/>
            <p:nvPr/>
          </p:nvSpPr>
          <p:spPr>
            <a:xfrm>
              <a:off x="2694960" y="2651760"/>
              <a:ext cx="596880" cy="57816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66"/>
            <p:cNvSpPr/>
            <p:nvPr/>
          </p:nvSpPr>
          <p:spPr>
            <a:xfrm>
              <a:off x="6651000" y="2651760"/>
              <a:ext cx="596880" cy="57816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L2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66"/>
            <p:cNvSpPr/>
            <p:nvPr/>
          </p:nvSpPr>
          <p:spPr>
            <a:xfrm>
              <a:off x="5072400" y="2651760"/>
              <a:ext cx="596880" cy="57816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66"/>
            <p:cNvSpPr/>
            <p:nvPr/>
          </p:nvSpPr>
          <p:spPr>
            <a:xfrm>
              <a:off x="4273560" y="2651760"/>
              <a:ext cx="596880" cy="57816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D3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66"/>
            <p:cNvSpPr/>
            <p:nvPr/>
          </p:nvSpPr>
          <p:spPr>
            <a:xfrm>
              <a:off x="3474720" y="2651760"/>
              <a:ext cx="596880" cy="57816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D1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66"/>
            <p:cNvSpPr/>
            <p:nvPr/>
          </p:nvSpPr>
          <p:spPr>
            <a:xfrm>
              <a:off x="9004320" y="2651760"/>
              <a:ext cx="596880" cy="57816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T3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66"/>
            <p:cNvSpPr/>
            <p:nvPr/>
          </p:nvSpPr>
          <p:spPr>
            <a:xfrm>
              <a:off x="8205480" y="2651760"/>
              <a:ext cx="596880" cy="57816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T2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66"/>
            <p:cNvSpPr/>
            <p:nvPr/>
          </p:nvSpPr>
          <p:spPr>
            <a:xfrm>
              <a:off x="7406640" y="2651760"/>
              <a:ext cx="596880" cy="578160"/>
            </a:xfrm>
            <a:prstGeom prst="ellipse">
              <a:avLst/>
            </a:prstGeom>
            <a:solidFill>
              <a:srgbClr val="C0C0C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T1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0" name="Google Shape;890;p66"/>
          <p:cNvGrpSpPr/>
          <p:nvPr/>
        </p:nvGrpSpPr>
        <p:grpSpPr>
          <a:xfrm>
            <a:off x="1889280" y="5655600"/>
            <a:ext cx="7223760" cy="1260720"/>
            <a:chOff x="1889280" y="5655600"/>
            <a:chExt cx="7223760" cy="1260720"/>
          </a:xfrm>
        </p:grpSpPr>
        <p:sp>
          <p:nvSpPr>
            <p:cNvPr id="891" name="Google Shape;891;p66"/>
            <p:cNvSpPr/>
            <p:nvPr/>
          </p:nvSpPr>
          <p:spPr>
            <a:xfrm>
              <a:off x="1889280" y="5655600"/>
              <a:ext cx="596880" cy="578160"/>
            </a:xfrm>
            <a:prstGeom prst="ellipse">
              <a:avLst/>
            </a:pr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66"/>
            <p:cNvSpPr/>
            <p:nvPr/>
          </p:nvSpPr>
          <p:spPr>
            <a:xfrm>
              <a:off x="4906800" y="6001920"/>
              <a:ext cx="596880" cy="578160"/>
            </a:xfrm>
            <a:prstGeom prst="ellipse">
              <a:avLst/>
            </a:prstGeom>
            <a:solidFill>
              <a:srgbClr val="E6FF0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L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66"/>
            <p:cNvSpPr/>
            <p:nvPr/>
          </p:nvSpPr>
          <p:spPr>
            <a:xfrm>
              <a:off x="3078000" y="5655600"/>
              <a:ext cx="596880" cy="57816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66"/>
            <p:cNvSpPr/>
            <p:nvPr/>
          </p:nvSpPr>
          <p:spPr>
            <a:xfrm>
              <a:off x="5705640" y="6001920"/>
              <a:ext cx="596880" cy="578160"/>
            </a:xfrm>
            <a:prstGeom prst="ellipse">
              <a:avLst/>
            </a:prstGeom>
            <a:solidFill>
              <a:srgbClr val="E6FF0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L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66"/>
            <p:cNvSpPr/>
            <p:nvPr/>
          </p:nvSpPr>
          <p:spPr>
            <a:xfrm>
              <a:off x="3887280" y="6338160"/>
              <a:ext cx="596880" cy="57816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66"/>
            <p:cNvSpPr/>
            <p:nvPr/>
          </p:nvSpPr>
          <p:spPr>
            <a:xfrm>
              <a:off x="3088440" y="6338160"/>
              <a:ext cx="596880" cy="57816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66"/>
            <p:cNvSpPr/>
            <p:nvPr/>
          </p:nvSpPr>
          <p:spPr>
            <a:xfrm>
              <a:off x="1889280" y="6338160"/>
              <a:ext cx="596880" cy="578160"/>
            </a:xfrm>
            <a:prstGeom prst="ellipse">
              <a:avLst/>
            </a:pr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66"/>
            <p:cNvSpPr/>
            <p:nvPr/>
          </p:nvSpPr>
          <p:spPr>
            <a:xfrm>
              <a:off x="8516160" y="6001920"/>
              <a:ext cx="596880" cy="578160"/>
            </a:xfrm>
            <a:prstGeom prst="ellipse">
              <a:avLst/>
            </a:prstGeom>
            <a:solidFill>
              <a:srgbClr val="C5000B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66"/>
            <p:cNvSpPr/>
            <p:nvPr/>
          </p:nvSpPr>
          <p:spPr>
            <a:xfrm>
              <a:off x="7717320" y="6001920"/>
              <a:ext cx="596880" cy="578160"/>
            </a:xfrm>
            <a:prstGeom prst="ellipse">
              <a:avLst/>
            </a:prstGeom>
            <a:solidFill>
              <a:srgbClr val="C5000B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66"/>
            <p:cNvSpPr/>
            <p:nvPr/>
          </p:nvSpPr>
          <p:spPr>
            <a:xfrm>
              <a:off x="6918480" y="6001920"/>
              <a:ext cx="596880" cy="578160"/>
            </a:xfrm>
            <a:prstGeom prst="ellipse">
              <a:avLst/>
            </a:prstGeom>
            <a:solidFill>
              <a:srgbClr val="C5000B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01" name="Google Shape;901;p66"/>
            <p:cNvCxnSpPr/>
            <p:nvPr/>
          </p:nvCxnSpPr>
          <p:spPr>
            <a:xfrm>
              <a:off x="7515360" y="6311520"/>
              <a:ext cx="201960" cy="0"/>
            </a:xfrm>
            <a:prstGeom prst="straightConnector1">
              <a:avLst/>
            </a:prstGeom>
            <a:noFill/>
            <a:ln cap="flat" cmpd="sng" w="3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2" name="Google Shape;902;p66"/>
            <p:cNvCxnSpPr/>
            <p:nvPr/>
          </p:nvCxnSpPr>
          <p:spPr>
            <a:xfrm>
              <a:off x="8314200" y="6311520"/>
              <a:ext cx="201960" cy="0"/>
            </a:xfrm>
            <a:prstGeom prst="straightConnector1">
              <a:avLst/>
            </a:prstGeom>
            <a:noFill/>
            <a:ln cap="flat" cmpd="sng" w="3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3" name="Google Shape;903;p66"/>
            <p:cNvCxnSpPr/>
            <p:nvPr/>
          </p:nvCxnSpPr>
          <p:spPr>
            <a:xfrm>
              <a:off x="5503680" y="6311520"/>
              <a:ext cx="201960" cy="0"/>
            </a:xfrm>
            <a:prstGeom prst="straightConnector1">
              <a:avLst/>
            </a:prstGeom>
            <a:noFill/>
            <a:ln cap="flat" cmpd="sng" w="3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4" name="Google Shape;904;p66"/>
            <p:cNvCxnSpPr/>
            <p:nvPr/>
          </p:nvCxnSpPr>
          <p:spPr>
            <a:xfrm>
              <a:off x="3685320" y="6647760"/>
              <a:ext cx="201960" cy="0"/>
            </a:xfrm>
            <a:prstGeom prst="straightConnector1">
              <a:avLst/>
            </a:prstGeom>
            <a:noFill/>
            <a:ln cap="flat" cmpd="sng" w="3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5" name="Google Shape;905;p66"/>
            <p:cNvCxnSpPr/>
            <p:nvPr/>
          </p:nvCxnSpPr>
          <p:spPr>
            <a:xfrm>
              <a:off x="2161440" y="6239520"/>
              <a:ext cx="0" cy="115560"/>
            </a:xfrm>
            <a:prstGeom prst="straightConnector1">
              <a:avLst/>
            </a:prstGeom>
            <a:noFill/>
            <a:ln cap="flat" cmpd="sng" w="3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6" name="Google Shape;906;p66"/>
            <p:cNvCxnSpPr/>
            <p:nvPr/>
          </p:nvCxnSpPr>
          <p:spPr>
            <a:xfrm>
              <a:off x="3360600" y="6239520"/>
              <a:ext cx="0" cy="115560"/>
            </a:xfrm>
            <a:prstGeom prst="straightConnector1">
              <a:avLst/>
            </a:prstGeom>
            <a:noFill/>
            <a:ln cap="flat" cmpd="sng" w="3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67"/>
          <p:cNvSpPr txBox="1"/>
          <p:nvPr/>
        </p:nvSpPr>
        <p:spPr>
          <a:xfrm>
            <a:off x="24480" y="1920240"/>
            <a:ext cx="10055520" cy="572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Incluem-se as Probabilidades dos valores das variáveis de cada grupo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67"/>
          <p:cNvSpPr txBox="1"/>
          <p:nvPr/>
        </p:nvSpPr>
        <p:spPr>
          <a:xfrm>
            <a:off x="91440" y="49320"/>
            <a:ext cx="998856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Modelo Probabilístico</a:t>
            </a:r>
            <a:r>
              <a:rPr b="0" lang="en-US" sz="4000" strike="noStrike"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800"/>
            </a:br>
            <a:r>
              <a:rPr b="0" lang="en-US" sz="3600" strike="noStrike">
                <a:latin typeface="Arial"/>
                <a:ea typeface="Arial"/>
                <a:cs typeface="Arial"/>
                <a:sym typeface="Arial"/>
              </a:rPr>
              <a:t>a paritr de grupos encontrados pelo DAMICORE</a:t>
            </a:r>
            <a:endParaRPr b="0" sz="36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3" name="Google Shape;913;p67"/>
          <p:cNvGrpSpPr/>
          <p:nvPr/>
        </p:nvGrpSpPr>
        <p:grpSpPr>
          <a:xfrm>
            <a:off x="901080" y="3463920"/>
            <a:ext cx="2194560" cy="2625840"/>
            <a:chOff x="901080" y="3463920"/>
            <a:chExt cx="2194560" cy="2625840"/>
          </a:xfrm>
        </p:grpSpPr>
        <p:sp>
          <p:nvSpPr>
            <p:cNvPr id="914" name="Google Shape;914;p67"/>
            <p:cNvSpPr/>
            <p:nvPr/>
          </p:nvSpPr>
          <p:spPr>
            <a:xfrm>
              <a:off x="901080" y="3463920"/>
              <a:ext cx="596880" cy="578160"/>
            </a:xfrm>
            <a:prstGeom prst="ellipse">
              <a:avLst/>
            </a:pr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67"/>
            <p:cNvSpPr/>
            <p:nvPr/>
          </p:nvSpPr>
          <p:spPr>
            <a:xfrm>
              <a:off x="901080" y="4829040"/>
              <a:ext cx="596880" cy="578160"/>
            </a:xfrm>
            <a:prstGeom prst="ellipse">
              <a:avLst/>
            </a:prstGeom>
            <a:solidFill>
              <a:srgbClr val="E6FF0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L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67"/>
            <p:cNvSpPr/>
            <p:nvPr/>
          </p:nvSpPr>
          <p:spPr>
            <a:xfrm>
              <a:off x="1689480" y="3463920"/>
              <a:ext cx="596880" cy="57816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67"/>
            <p:cNvSpPr/>
            <p:nvPr/>
          </p:nvSpPr>
          <p:spPr>
            <a:xfrm>
              <a:off x="1699920" y="4829040"/>
              <a:ext cx="596880" cy="578160"/>
            </a:xfrm>
            <a:prstGeom prst="ellipse">
              <a:avLst/>
            </a:prstGeom>
            <a:solidFill>
              <a:srgbClr val="E6FF0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L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67"/>
            <p:cNvSpPr/>
            <p:nvPr/>
          </p:nvSpPr>
          <p:spPr>
            <a:xfrm>
              <a:off x="2498760" y="4146480"/>
              <a:ext cx="596880" cy="57816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67"/>
            <p:cNvSpPr/>
            <p:nvPr/>
          </p:nvSpPr>
          <p:spPr>
            <a:xfrm>
              <a:off x="1699920" y="4146480"/>
              <a:ext cx="596880" cy="57816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67"/>
            <p:cNvSpPr/>
            <p:nvPr/>
          </p:nvSpPr>
          <p:spPr>
            <a:xfrm>
              <a:off x="901080" y="4146480"/>
              <a:ext cx="596880" cy="578160"/>
            </a:xfrm>
            <a:prstGeom prst="ellipse">
              <a:avLst/>
            </a:prstGeom>
            <a:solidFill>
              <a:srgbClr val="CFE7F5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67"/>
            <p:cNvSpPr/>
            <p:nvPr/>
          </p:nvSpPr>
          <p:spPr>
            <a:xfrm>
              <a:off x="2498760" y="5511600"/>
              <a:ext cx="596880" cy="578160"/>
            </a:xfrm>
            <a:prstGeom prst="ellipse">
              <a:avLst/>
            </a:prstGeom>
            <a:solidFill>
              <a:srgbClr val="C5000B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67"/>
            <p:cNvSpPr/>
            <p:nvPr/>
          </p:nvSpPr>
          <p:spPr>
            <a:xfrm>
              <a:off x="1699920" y="5511600"/>
              <a:ext cx="596880" cy="578160"/>
            </a:xfrm>
            <a:prstGeom prst="ellipse">
              <a:avLst/>
            </a:prstGeom>
            <a:solidFill>
              <a:srgbClr val="C5000B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67"/>
            <p:cNvSpPr/>
            <p:nvPr/>
          </p:nvSpPr>
          <p:spPr>
            <a:xfrm>
              <a:off x="901080" y="5511600"/>
              <a:ext cx="596880" cy="578160"/>
            </a:xfrm>
            <a:prstGeom prst="ellipse">
              <a:avLst/>
            </a:prstGeom>
            <a:solidFill>
              <a:srgbClr val="C5000B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 strike="noStrike"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="0" baseline="-25000" i="1" lang="en-US" sz="1800" strike="noStrike"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24" name="Google Shape;924;p67"/>
            <p:cNvCxnSpPr/>
            <p:nvPr/>
          </p:nvCxnSpPr>
          <p:spPr>
            <a:xfrm>
              <a:off x="1497960" y="5821200"/>
              <a:ext cx="201960" cy="0"/>
            </a:xfrm>
            <a:prstGeom prst="straightConnector1">
              <a:avLst/>
            </a:prstGeom>
            <a:noFill/>
            <a:ln cap="flat" cmpd="sng" w="3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5" name="Google Shape;925;p67"/>
            <p:cNvCxnSpPr/>
            <p:nvPr/>
          </p:nvCxnSpPr>
          <p:spPr>
            <a:xfrm>
              <a:off x="2296800" y="5821200"/>
              <a:ext cx="201960" cy="0"/>
            </a:xfrm>
            <a:prstGeom prst="straightConnector1">
              <a:avLst/>
            </a:prstGeom>
            <a:noFill/>
            <a:ln cap="flat" cmpd="sng" w="3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6" name="Google Shape;926;p67"/>
            <p:cNvCxnSpPr/>
            <p:nvPr/>
          </p:nvCxnSpPr>
          <p:spPr>
            <a:xfrm>
              <a:off x="1497960" y="5138640"/>
              <a:ext cx="201960" cy="0"/>
            </a:xfrm>
            <a:prstGeom prst="straightConnector1">
              <a:avLst/>
            </a:prstGeom>
            <a:noFill/>
            <a:ln cap="flat" cmpd="sng" w="3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7" name="Google Shape;927;p67"/>
            <p:cNvCxnSpPr/>
            <p:nvPr/>
          </p:nvCxnSpPr>
          <p:spPr>
            <a:xfrm>
              <a:off x="2296800" y="4456080"/>
              <a:ext cx="201960" cy="0"/>
            </a:xfrm>
            <a:prstGeom prst="straightConnector1">
              <a:avLst/>
            </a:prstGeom>
            <a:noFill/>
            <a:ln cap="flat" cmpd="sng" w="3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8" name="Google Shape;928;p67"/>
            <p:cNvCxnSpPr/>
            <p:nvPr/>
          </p:nvCxnSpPr>
          <p:spPr>
            <a:xfrm>
              <a:off x="1173240" y="4047840"/>
              <a:ext cx="0" cy="115560"/>
            </a:xfrm>
            <a:prstGeom prst="straightConnector1">
              <a:avLst/>
            </a:prstGeom>
            <a:noFill/>
            <a:ln cap="flat" cmpd="sng" w="3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9" name="Google Shape;929;p67"/>
            <p:cNvCxnSpPr/>
            <p:nvPr/>
          </p:nvCxnSpPr>
          <p:spPr>
            <a:xfrm>
              <a:off x="1972080" y="4047840"/>
              <a:ext cx="0" cy="115560"/>
            </a:xfrm>
            <a:prstGeom prst="straightConnector1">
              <a:avLst/>
            </a:prstGeom>
            <a:noFill/>
            <a:ln cap="flat" cmpd="sng" w="36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30" name="Google Shape;930;p67"/>
          <p:cNvSpPr txBox="1"/>
          <p:nvPr/>
        </p:nvSpPr>
        <p:spPr>
          <a:xfrm>
            <a:off x="3144960" y="3953160"/>
            <a:ext cx="2468880" cy="60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Amostras de soluções promissoras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67"/>
          <p:cNvSpPr/>
          <p:nvPr/>
        </p:nvSpPr>
        <p:spPr>
          <a:xfrm>
            <a:off x="3330720" y="4541760"/>
            <a:ext cx="2194560" cy="568080"/>
          </a:xfrm>
          <a:custGeom>
            <a:rect b="b" l="l" r="r" t="t"/>
            <a:pathLst>
              <a:path extrusionOk="0" h="1580" w="6098">
                <a:moveTo>
                  <a:pt x="0" y="394"/>
                </a:moveTo>
                <a:lnTo>
                  <a:pt x="4572" y="394"/>
                </a:lnTo>
                <a:lnTo>
                  <a:pt x="4572" y="0"/>
                </a:lnTo>
                <a:lnTo>
                  <a:pt x="6097" y="789"/>
                </a:lnTo>
                <a:lnTo>
                  <a:pt x="4572" y="1579"/>
                </a:lnTo>
                <a:lnTo>
                  <a:pt x="4572" y="1184"/>
                </a:lnTo>
                <a:lnTo>
                  <a:pt x="0" y="1184"/>
                </a:lnTo>
                <a:lnTo>
                  <a:pt x="0" y="394"/>
                </a:lnTo>
              </a:path>
            </a:pathLst>
          </a:custGeom>
          <a:solidFill>
            <a:srgbClr val="CFE7F5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932" name="Google Shape;932;p67"/>
          <p:cNvGrpSpPr/>
          <p:nvPr/>
        </p:nvGrpSpPr>
        <p:grpSpPr>
          <a:xfrm>
            <a:off x="5757840" y="3453120"/>
            <a:ext cx="4225680" cy="2651760"/>
            <a:chOff x="5757840" y="3453120"/>
            <a:chExt cx="4225680" cy="2651760"/>
          </a:xfrm>
        </p:grpSpPr>
        <p:sp>
          <p:nvSpPr>
            <p:cNvPr id="933" name="Google Shape;933;p67"/>
            <p:cNvSpPr txBox="1"/>
            <p:nvPr/>
          </p:nvSpPr>
          <p:spPr>
            <a:xfrm>
              <a:off x="5757840" y="3453120"/>
              <a:ext cx="4225680" cy="390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100" strike="noStrike">
                  <a:latin typeface="Arial"/>
                  <a:ea typeface="Arial"/>
                  <a:cs typeface="Arial"/>
                  <a:sym typeface="Arial"/>
                </a:rPr>
                <a:t>Tabela de Probabilidades</a:t>
              </a:r>
              <a:endParaRPr b="0" sz="21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4" name="Google Shape;934;p67"/>
            <p:cNvGrpSpPr/>
            <p:nvPr/>
          </p:nvGrpSpPr>
          <p:grpSpPr>
            <a:xfrm>
              <a:off x="5757840" y="4279680"/>
              <a:ext cx="4225680" cy="457200"/>
              <a:chOff x="5757840" y="4279680"/>
              <a:chExt cx="4225680" cy="457200"/>
            </a:xfrm>
          </p:grpSpPr>
          <p:sp>
            <p:nvSpPr>
              <p:cNvPr id="935" name="Google Shape;935;p67"/>
              <p:cNvSpPr/>
              <p:nvPr/>
            </p:nvSpPr>
            <p:spPr>
              <a:xfrm>
                <a:off x="5757840" y="4279680"/>
                <a:ext cx="1507320" cy="457200"/>
              </a:xfrm>
              <a:prstGeom prst="rect">
                <a:avLst/>
              </a:prstGeom>
              <a:solidFill>
                <a:srgbClr val="CFE7F5"/>
              </a:solidFill>
              <a:ln cap="flat" cmpd="sng" w="9525">
                <a:solidFill>
                  <a:srgbClr val="808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 strike="noStrike">
                    <a:latin typeface="Arial"/>
                    <a:ea typeface="Arial"/>
                    <a:cs typeface="Arial"/>
                    <a:sym typeface="Arial"/>
                  </a:rPr>
                  <a:t>30-35</a:t>
                </a:r>
                <a:endParaRPr b="0" sz="1800" strike="noStrike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6" name="Google Shape;936;p67"/>
              <p:cNvSpPr/>
              <p:nvPr/>
            </p:nvSpPr>
            <p:spPr>
              <a:xfrm>
                <a:off x="7256160" y="4279680"/>
                <a:ext cx="1542600" cy="457200"/>
              </a:xfrm>
              <a:prstGeom prst="rect">
                <a:avLst/>
              </a:prstGeom>
              <a:solidFill>
                <a:srgbClr val="CFE7F5"/>
              </a:solidFill>
              <a:ln cap="flat" cmpd="sng" w="9525">
                <a:solidFill>
                  <a:srgbClr val="808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 strike="noStrike">
                    <a:latin typeface="Arial"/>
                    <a:ea typeface="Arial"/>
                    <a:cs typeface="Arial"/>
                    <a:sym typeface="Arial"/>
                  </a:rPr>
                  <a:t>20-23</a:t>
                </a:r>
                <a:endParaRPr b="0" sz="1800" strike="noStrike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7" name="Google Shape;937;p67"/>
              <p:cNvSpPr/>
              <p:nvPr/>
            </p:nvSpPr>
            <p:spPr>
              <a:xfrm>
                <a:off x="8798760" y="4279680"/>
                <a:ext cx="1184760" cy="457200"/>
              </a:xfrm>
              <a:prstGeom prst="rect">
                <a:avLst/>
              </a:prstGeom>
              <a:solidFill>
                <a:srgbClr val="CFE7F5"/>
              </a:solidFill>
              <a:ln cap="flat" cmpd="sng" w="9525">
                <a:solidFill>
                  <a:srgbClr val="808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 strike="noStrike">
                    <a:latin typeface="Arial"/>
                    <a:ea typeface="Arial"/>
                    <a:cs typeface="Arial"/>
                    <a:sym typeface="Arial"/>
                  </a:rPr>
                  <a:t>97%</a:t>
                </a:r>
                <a:endParaRPr b="0" sz="1800" strike="noStrike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8" name="Google Shape;938;p67"/>
            <p:cNvGrpSpPr/>
            <p:nvPr/>
          </p:nvGrpSpPr>
          <p:grpSpPr>
            <a:xfrm>
              <a:off x="5757840" y="3847680"/>
              <a:ext cx="4225680" cy="457200"/>
              <a:chOff x="5757840" y="3847680"/>
              <a:chExt cx="4225680" cy="457200"/>
            </a:xfrm>
          </p:grpSpPr>
          <p:sp>
            <p:nvSpPr>
              <p:cNvPr id="939" name="Google Shape;939;p67"/>
              <p:cNvSpPr/>
              <p:nvPr/>
            </p:nvSpPr>
            <p:spPr>
              <a:xfrm>
                <a:off x="5757840" y="3847680"/>
                <a:ext cx="1507680" cy="457200"/>
              </a:xfrm>
              <a:prstGeom prst="rect">
                <a:avLst/>
              </a:prstGeom>
              <a:solidFill>
                <a:srgbClr val="CFE7F5"/>
              </a:solidFill>
              <a:ln cap="flat" cmpd="sng" w="9525">
                <a:solidFill>
                  <a:srgbClr val="808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US" sz="1800" strike="noStrike">
                    <a:solidFill>
                      <a:srgbClr val="99CCFF"/>
                    </a:solidFill>
                    <a:latin typeface="Arial"/>
                    <a:ea typeface="Arial"/>
                    <a:cs typeface="Arial"/>
                    <a:sym typeface="Arial"/>
                  </a:rPr>
                  <a:t>P  </a:t>
                </a:r>
                <a:r>
                  <a:rPr b="0" lang="en-US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mm</a:t>
                </a:r>
                <a:endParaRPr b="0" sz="1800" strike="noStrike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0" name="Google Shape;940;p67"/>
              <p:cNvSpPr/>
              <p:nvPr/>
            </p:nvSpPr>
            <p:spPr>
              <a:xfrm>
                <a:off x="7256160" y="3847680"/>
                <a:ext cx="1542600" cy="457200"/>
              </a:xfrm>
              <a:prstGeom prst="rect">
                <a:avLst/>
              </a:prstGeom>
              <a:solidFill>
                <a:srgbClr val="CFE7F5"/>
              </a:solidFill>
              <a:ln cap="flat" cmpd="sng" w="9525">
                <a:solidFill>
                  <a:srgbClr val="808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US" sz="1800" strike="noStrike">
                    <a:solidFill>
                      <a:srgbClr val="99CCFF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r>
                  <a:rPr b="0" baseline="-25000" i="1" lang="en-US" sz="1800" strike="noStrike">
                    <a:solidFill>
                      <a:srgbClr val="99CCFF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r>
                  <a:rPr b="0" lang="en-US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mm</a:t>
                </a:r>
                <a:endParaRPr b="0" sz="1800" strike="noStrike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" name="Google Shape;941;p67"/>
              <p:cNvSpPr/>
              <p:nvPr/>
            </p:nvSpPr>
            <p:spPr>
              <a:xfrm>
                <a:off x="8798760" y="3847680"/>
                <a:ext cx="1184760" cy="457200"/>
              </a:xfrm>
              <a:prstGeom prst="rect">
                <a:avLst/>
              </a:prstGeom>
              <a:solidFill>
                <a:srgbClr val="CFE7F5"/>
              </a:solidFill>
              <a:ln cap="flat" cmpd="sng" w="9525">
                <a:solidFill>
                  <a:srgbClr val="808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 strike="noStrike">
                    <a:latin typeface="Arial"/>
                    <a:ea typeface="Arial"/>
                    <a:cs typeface="Arial"/>
                    <a:sym typeface="Arial"/>
                  </a:rPr>
                  <a:t>Prob</a:t>
                </a:r>
                <a:endParaRPr b="0" sz="1800" strike="noStrike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2" name="Google Shape;942;p67"/>
            <p:cNvSpPr/>
            <p:nvPr/>
          </p:nvSpPr>
          <p:spPr>
            <a:xfrm>
              <a:off x="5757840" y="4711680"/>
              <a:ext cx="4225680" cy="457200"/>
            </a:xfrm>
            <a:prstGeom prst="rect">
              <a:avLst/>
            </a:prstGeom>
            <a:solidFill>
              <a:srgbClr val="00FF0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67"/>
            <p:cNvSpPr/>
            <p:nvPr/>
          </p:nvSpPr>
          <p:spPr>
            <a:xfrm>
              <a:off x="5757840" y="5179680"/>
              <a:ext cx="4225680" cy="457200"/>
            </a:xfrm>
            <a:prstGeom prst="rect">
              <a:avLst/>
            </a:prstGeom>
            <a:solidFill>
              <a:srgbClr val="E6FF00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67"/>
            <p:cNvSpPr/>
            <p:nvPr/>
          </p:nvSpPr>
          <p:spPr>
            <a:xfrm>
              <a:off x="5757840" y="5647680"/>
              <a:ext cx="4225680" cy="457200"/>
            </a:xfrm>
            <a:prstGeom prst="rect">
              <a:avLst/>
            </a:prstGeom>
            <a:solidFill>
              <a:srgbClr val="C5000B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68"/>
          <p:cNvSpPr txBox="1"/>
          <p:nvPr/>
        </p:nvSpPr>
        <p:spPr>
          <a:xfrm>
            <a:off x="36000" y="2011674"/>
            <a:ext cx="9839400" cy="19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5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Noto Sans Symbols"/>
              <a:buChar char="●"/>
            </a:pPr>
            <a:r>
              <a:rPr b="1" lang="en-US" sz="2000" strike="noStrike">
                <a:latin typeface="Arial"/>
                <a:ea typeface="Arial"/>
                <a:cs typeface="Arial"/>
                <a:sym typeface="Arial"/>
              </a:rPr>
              <a:t>Múltiplos critérios</a:t>
            </a: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 selecionam os </a:t>
            </a:r>
            <a:r>
              <a:rPr b="1" lang="en-US" sz="2000" strike="noStrike">
                <a:latin typeface="Arial"/>
                <a:ea typeface="Arial"/>
                <a:cs typeface="Arial"/>
                <a:sym typeface="Arial"/>
              </a:rPr>
              <a:t>grupos mais relevantes</a:t>
            </a: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/eficientes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197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700"/>
              <a:buFont typeface="Noto Sans Symbols"/>
              <a:buChar char="−"/>
            </a:pPr>
            <a:r>
              <a:rPr b="0" i="0" lang="en-US" sz="1600" u="none" cap="none" strike="noStrike">
                <a:latin typeface="Arial"/>
                <a:ea typeface="Arial"/>
                <a:cs typeface="Arial"/>
                <a:sym typeface="Arial"/>
              </a:rPr>
              <a:t>da filogenia construída pelo DAMICORE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13130" lvl="5" marL="2592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7480" lvl="0" marL="432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0"/>
              <a:buFont typeface="Noto Sans Symbols"/>
              <a:buChar char="●"/>
            </a:pPr>
            <a:r>
              <a:rPr b="0" lang="en-US" sz="1600" strike="noStrike">
                <a:latin typeface="Arial"/>
                <a:ea typeface="Arial"/>
                <a:cs typeface="Arial"/>
                <a:sym typeface="Arial"/>
              </a:rPr>
              <a:t>Exemplo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-197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400"/>
              <a:buFont typeface="Noto Sans Symbols"/>
              <a:buChar char="−"/>
            </a:pPr>
            <a:r>
              <a:rPr b="0" i="0" lang="en-US" sz="1200" u="none" cap="none" strike="noStrike">
                <a:latin typeface="Arial"/>
                <a:ea typeface="Arial"/>
                <a:cs typeface="Arial"/>
                <a:sym typeface="Arial"/>
              </a:rPr>
              <a:t>Seleção de controladores em estabilidade de tensão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96560" lvl="2" marL="1296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t/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68"/>
          <p:cNvSpPr txBox="1"/>
          <p:nvPr/>
        </p:nvSpPr>
        <p:spPr>
          <a:xfrm>
            <a:off x="91440" y="49320"/>
            <a:ext cx="998856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Modelos</a:t>
            </a:r>
            <a:r>
              <a:rPr b="0" lang="en-US" sz="4000" strike="noStrike"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800"/>
            </a:br>
            <a:r>
              <a:rPr b="0" lang="en-US" sz="4000" strike="noStrike">
                <a:latin typeface="Arial"/>
                <a:ea typeface="Arial"/>
                <a:cs typeface="Arial"/>
                <a:sym typeface="Arial"/>
              </a:rPr>
              <a:t>envolvendo múltiplos critérios</a:t>
            </a:r>
            <a:endParaRPr b="0" sz="40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1" name="Google Shape;951;p68"/>
          <p:cNvGrpSpPr/>
          <p:nvPr/>
        </p:nvGrpSpPr>
        <p:grpSpPr>
          <a:xfrm>
            <a:off x="-10800" y="3937680"/>
            <a:ext cx="10018800" cy="3193200"/>
            <a:chOff x="-10800" y="3937680"/>
            <a:chExt cx="10018800" cy="3193200"/>
          </a:xfrm>
        </p:grpSpPr>
        <p:sp>
          <p:nvSpPr>
            <p:cNvPr id="952" name="Google Shape;952;p68"/>
            <p:cNvSpPr txBox="1"/>
            <p:nvPr/>
          </p:nvSpPr>
          <p:spPr>
            <a:xfrm>
              <a:off x="9072000" y="5266440"/>
              <a:ext cx="936000" cy="1690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0" spcFirstLastPara="1" rIns="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Mansur et al, ISCAS 2014</a:t>
              </a:r>
              <a:endParaRPr b="0" sz="1600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600" strike="noStrike"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Mansur et al., EMO 2015</a:t>
              </a:r>
              <a:endParaRPr b="0" sz="16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3" name="Google Shape;953;p68"/>
            <p:cNvGrpSpPr/>
            <p:nvPr/>
          </p:nvGrpSpPr>
          <p:grpSpPr>
            <a:xfrm>
              <a:off x="-10800" y="3937680"/>
              <a:ext cx="9043200" cy="3193200"/>
              <a:chOff x="-10800" y="3937680"/>
              <a:chExt cx="9043200" cy="3193200"/>
            </a:xfrm>
          </p:grpSpPr>
          <p:pic>
            <p:nvPicPr>
              <p:cNvPr id="954" name="Google Shape;954;p6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810320" y="3973680"/>
                <a:ext cx="4222080" cy="31572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955" name="Google Shape;955;p68"/>
              <p:cNvGrpSpPr/>
              <p:nvPr/>
            </p:nvGrpSpPr>
            <p:grpSpPr>
              <a:xfrm>
                <a:off x="-10800" y="3937680"/>
                <a:ext cx="5027040" cy="3163680"/>
                <a:chOff x="-10800" y="3937680"/>
                <a:chExt cx="5027040" cy="3163680"/>
              </a:xfrm>
            </p:grpSpPr>
            <p:pic>
              <p:nvPicPr>
                <p:cNvPr id="956" name="Google Shape;956;p6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182880" y="4023360"/>
                  <a:ext cx="4480560" cy="296352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57" name="Google Shape;957;p68"/>
                <p:cNvSpPr txBox="1"/>
                <p:nvPr/>
              </p:nvSpPr>
              <p:spPr>
                <a:xfrm rot="-5400000">
                  <a:off x="4182840" y="5191560"/>
                  <a:ext cx="1447200" cy="2196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800" strike="noStrike">
                      <a:latin typeface="Arial"/>
                      <a:ea typeface="Arial"/>
                      <a:cs typeface="Arial"/>
                      <a:sym typeface="Arial"/>
                    </a:rPr>
                    <a:t>Custo  - US$</a:t>
                  </a:r>
                  <a:endParaRPr b="0" sz="1800" strike="noStrike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58" name="Google Shape;958;p68"/>
                <p:cNvCxnSpPr/>
                <p:nvPr/>
              </p:nvCxnSpPr>
              <p:spPr>
                <a:xfrm rot="10800000">
                  <a:off x="1185840" y="3937680"/>
                  <a:ext cx="0" cy="2729880"/>
                </a:xfrm>
                <a:prstGeom prst="straightConnector1">
                  <a:avLst/>
                </a:prstGeom>
                <a:noFill/>
                <a:ln cap="flat" cmpd="sng" w="18350">
                  <a:solidFill>
                    <a:srgbClr val="000000"/>
                  </a:solidFill>
                  <a:prstDash val="dashDot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59" name="Google Shape;959;p68"/>
                <p:cNvCxnSpPr/>
                <p:nvPr/>
              </p:nvCxnSpPr>
              <p:spPr>
                <a:xfrm rot="10800000">
                  <a:off x="631800" y="3937680"/>
                  <a:ext cx="0" cy="2729880"/>
                </a:xfrm>
                <a:prstGeom prst="straightConnector1">
                  <a:avLst/>
                </a:prstGeom>
                <a:noFill/>
                <a:ln cap="flat" cmpd="sng" w="18350">
                  <a:solidFill>
                    <a:srgbClr val="000000"/>
                  </a:solidFill>
                  <a:prstDash val="dashDot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60" name="Google Shape;960;p68"/>
                <p:cNvCxnSpPr/>
                <p:nvPr/>
              </p:nvCxnSpPr>
              <p:spPr>
                <a:xfrm rot="10800000">
                  <a:off x="1782360" y="3937680"/>
                  <a:ext cx="0" cy="2729880"/>
                </a:xfrm>
                <a:prstGeom prst="straightConnector1">
                  <a:avLst/>
                </a:prstGeom>
                <a:noFill/>
                <a:ln cap="flat" cmpd="sng" w="18350">
                  <a:solidFill>
                    <a:srgbClr val="000000"/>
                  </a:solidFill>
                  <a:prstDash val="dashDot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61" name="Google Shape;961;p68"/>
                <p:cNvCxnSpPr/>
                <p:nvPr/>
              </p:nvCxnSpPr>
              <p:spPr>
                <a:xfrm rot="10800000">
                  <a:off x="2336400" y="3937680"/>
                  <a:ext cx="0" cy="2729880"/>
                </a:xfrm>
                <a:prstGeom prst="straightConnector1">
                  <a:avLst/>
                </a:prstGeom>
                <a:noFill/>
                <a:ln cap="flat" cmpd="sng" w="18350">
                  <a:solidFill>
                    <a:srgbClr val="000000"/>
                  </a:solidFill>
                  <a:prstDash val="dashDot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62" name="Google Shape;962;p68"/>
                <p:cNvCxnSpPr/>
                <p:nvPr/>
              </p:nvCxnSpPr>
              <p:spPr>
                <a:xfrm rot="10800000">
                  <a:off x="2890440" y="3937680"/>
                  <a:ext cx="0" cy="2729880"/>
                </a:xfrm>
                <a:prstGeom prst="straightConnector1">
                  <a:avLst/>
                </a:prstGeom>
                <a:noFill/>
                <a:ln cap="flat" cmpd="sng" w="18350">
                  <a:solidFill>
                    <a:srgbClr val="000000"/>
                  </a:solidFill>
                  <a:prstDash val="dashDot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63" name="Google Shape;963;p68"/>
                <p:cNvCxnSpPr/>
                <p:nvPr/>
              </p:nvCxnSpPr>
              <p:spPr>
                <a:xfrm rot="10800000">
                  <a:off x="3487320" y="3937680"/>
                  <a:ext cx="0" cy="2729880"/>
                </a:xfrm>
                <a:prstGeom prst="straightConnector1">
                  <a:avLst/>
                </a:prstGeom>
                <a:noFill/>
                <a:ln cap="flat" cmpd="sng" w="18350">
                  <a:solidFill>
                    <a:srgbClr val="000000"/>
                  </a:solidFill>
                  <a:prstDash val="dashDot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964" name="Google Shape;964;p68"/>
                <p:cNvSpPr txBox="1"/>
                <p:nvPr/>
              </p:nvSpPr>
              <p:spPr>
                <a:xfrm>
                  <a:off x="-10800" y="6891840"/>
                  <a:ext cx="4520160" cy="20952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800" strike="noStrike">
                      <a:latin typeface="Arial"/>
                      <a:ea typeface="Arial"/>
                      <a:cs typeface="Arial"/>
                      <a:sym typeface="Arial"/>
                    </a:rPr>
                    <a:t>Cada nível de poda, um agrupamento</a:t>
                  </a:r>
                  <a:endParaRPr b="0" sz="1800" strike="noStrike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65" name="Google Shape;965;p68"/>
                <p:cNvCxnSpPr/>
                <p:nvPr/>
              </p:nvCxnSpPr>
              <p:spPr>
                <a:xfrm rot="10800000">
                  <a:off x="4041360" y="3973680"/>
                  <a:ext cx="0" cy="2729880"/>
                </a:xfrm>
                <a:prstGeom prst="straightConnector1">
                  <a:avLst/>
                </a:prstGeom>
                <a:noFill/>
                <a:ln cap="flat" cmpd="sng" w="18350">
                  <a:solidFill>
                    <a:srgbClr val="000000"/>
                  </a:solidFill>
                  <a:prstDash val="dashDot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966" name="Google Shape;966;p68"/>
          <p:cNvSpPr txBox="1"/>
          <p:nvPr/>
        </p:nvSpPr>
        <p:spPr>
          <a:xfrm>
            <a:off x="6708240" y="6922800"/>
            <a:ext cx="1356120" cy="27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Efetividade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69"/>
          <p:cNvSpPr txBox="1"/>
          <p:nvPr/>
        </p:nvSpPr>
        <p:spPr>
          <a:xfrm>
            <a:off x="504000" y="85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Otimização de Propósito Geral</a:t>
            </a: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 Inspirada na Natureza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69"/>
          <p:cNvSpPr txBox="1"/>
          <p:nvPr/>
        </p:nvSpPr>
        <p:spPr>
          <a:xfrm>
            <a:off x="362880" y="3734640"/>
            <a:ext cx="1869120" cy="60228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Características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Extraídas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69"/>
          <p:cNvSpPr txBox="1"/>
          <p:nvPr/>
        </p:nvSpPr>
        <p:spPr>
          <a:xfrm>
            <a:off x="4351680" y="2967840"/>
            <a:ext cx="1680480" cy="2230560"/>
          </a:xfrm>
          <a:prstGeom prst="rect">
            <a:avLst/>
          </a:prstGeom>
          <a:noFill/>
          <a:ln cap="flat" cmpd="sng" w="36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3000" lIns="108000" spcFirstLastPara="1" rIns="108000" wrap="square" tIns="63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Modelo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Probabilístico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69"/>
          <p:cNvSpPr txBox="1"/>
          <p:nvPr/>
        </p:nvSpPr>
        <p:spPr>
          <a:xfrm>
            <a:off x="6285600" y="2967840"/>
            <a:ext cx="1554480" cy="2230560"/>
          </a:xfrm>
          <a:prstGeom prst="rect">
            <a:avLst/>
          </a:prstGeom>
          <a:noFill/>
          <a:ln cap="flat" cmpd="sng" w="36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3000" lIns="108000" spcFirstLastPara="1" rIns="108000" wrap="square" tIns="63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Soluções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Candidatas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69"/>
          <p:cNvSpPr txBox="1"/>
          <p:nvPr/>
        </p:nvSpPr>
        <p:spPr>
          <a:xfrm>
            <a:off x="8111520" y="2967840"/>
            <a:ext cx="1554480" cy="219456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Solução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Escolhida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69"/>
          <p:cNvSpPr txBox="1"/>
          <p:nvPr/>
        </p:nvSpPr>
        <p:spPr>
          <a:xfrm>
            <a:off x="3528000" y="2308320"/>
            <a:ext cx="2989440" cy="60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AED / Ciclos de Otimização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69"/>
          <p:cNvSpPr txBox="1"/>
          <p:nvPr/>
        </p:nvSpPr>
        <p:spPr>
          <a:xfrm>
            <a:off x="362880" y="4522320"/>
            <a:ext cx="1869120" cy="85824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Modelo conhecidos a priori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69"/>
          <p:cNvSpPr txBox="1"/>
          <p:nvPr/>
        </p:nvSpPr>
        <p:spPr>
          <a:xfrm>
            <a:off x="362880" y="2967840"/>
            <a:ext cx="1869120" cy="457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Dados Crus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69"/>
          <p:cNvSpPr txBox="1"/>
          <p:nvPr/>
        </p:nvSpPr>
        <p:spPr>
          <a:xfrm>
            <a:off x="2506320" y="2967840"/>
            <a:ext cx="1554480" cy="2230560"/>
          </a:xfrm>
          <a:prstGeom prst="rect">
            <a:avLst/>
          </a:prstGeom>
          <a:noFill/>
          <a:ln cap="flat" cmpd="sng" w="36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3000" lIns="108000" spcFirstLastPara="1" rIns="108000" wrap="square" tIns="63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DAMICORE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0" name="Google Shape;980;p69"/>
          <p:cNvCxnSpPr/>
          <p:nvPr/>
        </p:nvCxnSpPr>
        <p:spPr>
          <a:xfrm>
            <a:off x="2232000" y="3150720"/>
            <a:ext cx="27432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1" name="Google Shape;981;p69"/>
          <p:cNvCxnSpPr/>
          <p:nvPr/>
        </p:nvCxnSpPr>
        <p:spPr>
          <a:xfrm>
            <a:off x="2232000" y="3990240"/>
            <a:ext cx="27432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2" name="Google Shape;982;p69"/>
          <p:cNvCxnSpPr/>
          <p:nvPr/>
        </p:nvCxnSpPr>
        <p:spPr>
          <a:xfrm>
            <a:off x="2232000" y="4796640"/>
            <a:ext cx="27432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3" name="Google Shape;983;p69"/>
          <p:cNvCxnSpPr/>
          <p:nvPr/>
        </p:nvCxnSpPr>
        <p:spPr>
          <a:xfrm>
            <a:off x="4068000" y="3882240"/>
            <a:ext cx="274320" cy="0"/>
          </a:xfrm>
          <a:prstGeom prst="straightConnector1">
            <a:avLst/>
          </a:prstGeom>
          <a:noFill/>
          <a:ln cap="flat" cmpd="sng" w="36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4" name="Google Shape;984;p69"/>
          <p:cNvCxnSpPr/>
          <p:nvPr/>
        </p:nvCxnSpPr>
        <p:spPr>
          <a:xfrm>
            <a:off x="6048000" y="3882240"/>
            <a:ext cx="274320" cy="0"/>
          </a:xfrm>
          <a:prstGeom prst="straightConnector1">
            <a:avLst/>
          </a:prstGeom>
          <a:noFill/>
          <a:ln cap="flat" cmpd="sng" w="36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5" name="Google Shape;985;p69"/>
          <p:cNvCxnSpPr/>
          <p:nvPr/>
        </p:nvCxnSpPr>
        <p:spPr>
          <a:xfrm>
            <a:off x="7848000" y="3882240"/>
            <a:ext cx="274320" cy="0"/>
          </a:xfrm>
          <a:prstGeom prst="straightConnector1">
            <a:avLst/>
          </a:prstGeom>
          <a:noFill/>
          <a:ln cap="flat" cmpd="sng" w="36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6" name="Google Shape;986;p69"/>
          <p:cNvCxnSpPr/>
          <p:nvPr/>
        </p:nvCxnSpPr>
        <p:spPr>
          <a:xfrm>
            <a:off x="1393920" y="3425040"/>
            <a:ext cx="0" cy="309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7" name="Google Shape;987;p69"/>
          <p:cNvCxnSpPr/>
          <p:nvPr/>
        </p:nvCxnSpPr>
        <p:spPr>
          <a:xfrm>
            <a:off x="16765920" y="11503440"/>
            <a:ext cx="1440" cy="44136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8" name="Google Shape;988;p69"/>
          <p:cNvCxnSpPr/>
          <p:nvPr/>
        </p:nvCxnSpPr>
        <p:spPr>
          <a:xfrm>
            <a:off x="15440400" y="12378240"/>
            <a:ext cx="388800" cy="14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9" name="Google Shape;989;p69"/>
          <p:cNvCxnSpPr/>
          <p:nvPr/>
        </p:nvCxnSpPr>
        <p:spPr>
          <a:xfrm>
            <a:off x="15443641" y="11109600"/>
            <a:ext cx="388800" cy="1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0" name="Google Shape;990;p69"/>
          <p:cNvCxnSpPr/>
          <p:nvPr/>
        </p:nvCxnSpPr>
        <p:spPr>
          <a:xfrm>
            <a:off x="15406920" y="13471920"/>
            <a:ext cx="389160" cy="14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1" name="Google Shape;991;p69"/>
          <p:cNvCxnSpPr/>
          <p:nvPr/>
        </p:nvCxnSpPr>
        <p:spPr>
          <a:xfrm flipH="1" rot="10800000">
            <a:off x="15406920" y="8413920"/>
            <a:ext cx="46080" cy="505908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2" name="Google Shape;992;p69"/>
          <p:cNvCxnSpPr/>
          <p:nvPr/>
        </p:nvCxnSpPr>
        <p:spPr>
          <a:xfrm flipH="1">
            <a:off x="15451200" y="8415720"/>
            <a:ext cx="336600" cy="1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3" name="Google Shape;993;p69"/>
          <p:cNvCxnSpPr/>
          <p:nvPr/>
        </p:nvCxnSpPr>
        <p:spPr>
          <a:xfrm flipH="1" rot="10800000">
            <a:off x="15406920" y="13470119"/>
            <a:ext cx="1800" cy="7952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4" name="Google Shape;994;p69"/>
          <p:cNvCxnSpPr/>
          <p:nvPr/>
        </p:nvCxnSpPr>
        <p:spPr>
          <a:xfrm>
            <a:off x="16765920" y="11503440"/>
            <a:ext cx="1440" cy="44136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5" name="Google Shape;995;p69"/>
          <p:cNvCxnSpPr/>
          <p:nvPr/>
        </p:nvCxnSpPr>
        <p:spPr>
          <a:xfrm>
            <a:off x="15440400" y="12378240"/>
            <a:ext cx="388800" cy="14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6" name="Google Shape;996;p69"/>
          <p:cNvCxnSpPr/>
          <p:nvPr/>
        </p:nvCxnSpPr>
        <p:spPr>
          <a:xfrm>
            <a:off x="15443641" y="11109600"/>
            <a:ext cx="388800" cy="1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7" name="Google Shape;997;p69"/>
          <p:cNvCxnSpPr/>
          <p:nvPr/>
        </p:nvCxnSpPr>
        <p:spPr>
          <a:xfrm>
            <a:off x="15406920" y="13471920"/>
            <a:ext cx="389160" cy="14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8" name="Google Shape;998;p69"/>
          <p:cNvCxnSpPr/>
          <p:nvPr/>
        </p:nvCxnSpPr>
        <p:spPr>
          <a:xfrm flipH="1" rot="10800000">
            <a:off x="15406920" y="8413920"/>
            <a:ext cx="46080" cy="505908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9" name="Google Shape;999;p69"/>
          <p:cNvCxnSpPr/>
          <p:nvPr/>
        </p:nvCxnSpPr>
        <p:spPr>
          <a:xfrm flipH="1">
            <a:off x="15451200" y="8415720"/>
            <a:ext cx="336600" cy="1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0" name="Google Shape;1000;p69"/>
          <p:cNvCxnSpPr/>
          <p:nvPr/>
        </p:nvCxnSpPr>
        <p:spPr>
          <a:xfrm flipH="1" rot="10800000">
            <a:off x="15406920" y="13470119"/>
            <a:ext cx="1800" cy="7952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1" name="Google Shape;1001;p69"/>
          <p:cNvSpPr/>
          <p:nvPr/>
        </p:nvSpPr>
        <p:spPr>
          <a:xfrm>
            <a:off x="15778080" y="11948040"/>
            <a:ext cx="2181240" cy="8604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99999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58675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Extracted Features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69"/>
          <p:cNvSpPr/>
          <p:nvPr/>
        </p:nvSpPr>
        <p:spPr>
          <a:xfrm>
            <a:off x="15778080" y="13078080"/>
            <a:ext cx="2183040" cy="8607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99999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58675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Ab initio</a:t>
            </a:r>
            <a:r>
              <a:rPr b="0" lang="en-US" sz="1800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Models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69"/>
          <p:cNvSpPr/>
          <p:nvPr/>
        </p:nvSpPr>
        <p:spPr>
          <a:xfrm>
            <a:off x="15778080" y="10847880"/>
            <a:ext cx="2183040" cy="6523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58675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Samples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4" name="Google Shape;1004;p69"/>
          <p:cNvCxnSpPr/>
          <p:nvPr/>
        </p:nvCxnSpPr>
        <p:spPr>
          <a:xfrm>
            <a:off x="17962559" y="11109600"/>
            <a:ext cx="388800" cy="1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5" name="Google Shape;1005;p69"/>
          <p:cNvCxnSpPr/>
          <p:nvPr/>
        </p:nvCxnSpPr>
        <p:spPr>
          <a:xfrm>
            <a:off x="17962559" y="13471920"/>
            <a:ext cx="388800" cy="14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6" name="Google Shape;1006;p69"/>
          <p:cNvCxnSpPr/>
          <p:nvPr/>
        </p:nvCxnSpPr>
        <p:spPr>
          <a:xfrm>
            <a:off x="16765559" y="11503440"/>
            <a:ext cx="1440" cy="44136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7" name="Google Shape;1007;p69"/>
          <p:cNvCxnSpPr/>
          <p:nvPr/>
        </p:nvCxnSpPr>
        <p:spPr>
          <a:xfrm>
            <a:off x="15440041" y="12378240"/>
            <a:ext cx="388800" cy="14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8" name="Google Shape;1008;p69"/>
          <p:cNvCxnSpPr/>
          <p:nvPr/>
        </p:nvCxnSpPr>
        <p:spPr>
          <a:xfrm>
            <a:off x="15443280" y="11109600"/>
            <a:ext cx="388800" cy="1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9" name="Google Shape;1009;p69"/>
          <p:cNvCxnSpPr/>
          <p:nvPr/>
        </p:nvCxnSpPr>
        <p:spPr>
          <a:xfrm>
            <a:off x="17959320" y="12378240"/>
            <a:ext cx="389160" cy="14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0" name="Google Shape;1010;p69"/>
          <p:cNvCxnSpPr/>
          <p:nvPr/>
        </p:nvCxnSpPr>
        <p:spPr>
          <a:xfrm>
            <a:off x="15406559" y="13471920"/>
            <a:ext cx="389160" cy="14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1" name="Google Shape;1011;p69"/>
          <p:cNvCxnSpPr/>
          <p:nvPr/>
        </p:nvCxnSpPr>
        <p:spPr>
          <a:xfrm flipH="1" rot="10800000">
            <a:off x="15406559" y="8413920"/>
            <a:ext cx="46080" cy="505908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2" name="Google Shape;1012;p69"/>
          <p:cNvCxnSpPr/>
          <p:nvPr/>
        </p:nvCxnSpPr>
        <p:spPr>
          <a:xfrm flipH="1">
            <a:off x="15450841" y="8415720"/>
            <a:ext cx="336600" cy="1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3" name="Google Shape;1013;p69"/>
          <p:cNvCxnSpPr/>
          <p:nvPr/>
        </p:nvCxnSpPr>
        <p:spPr>
          <a:xfrm flipH="1" rot="10800000">
            <a:off x="15406559" y="13470119"/>
            <a:ext cx="1800" cy="7952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4" name="Google Shape;1014;p69"/>
          <p:cNvCxnSpPr/>
          <p:nvPr/>
        </p:nvCxnSpPr>
        <p:spPr>
          <a:xfrm>
            <a:off x="15440041" y="12378240"/>
            <a:ext cx="388800" cy="14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5" name="Google Shape;1015;p69"/>
          <p:cNvCxnSpPr/>
          <p:nvPr/>
        </p:nvCxnSpPr>
        <p:spPr>
          <a:xfrm>
            <a:off x="15443280" y="11109600"/>
            <a:ext cx="388800" cy="1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6" name="Google Shape;1016;p69"/>
          <p:cNvCxnSpPr/>
          <p:nvPr/>
        </p:nvCxnSpPr>
        <p:spPr>
          <a:xfrm>
            <a:off x="15406559" y="13471920"/>
            <a:ext cx="389160" cy="14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7" name="Google Shape;1017;p69"/>
          <p:cNvCxnSpPr/>
          <p:nvPr/>
        </p:nvCxnSpPr>
        <p:spPr>
          <a:xfrm flipH="1" rot="10800000">
            <a:off x="15406559" y="8413920"/>
            <a:ext cx="46080" cy="505908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8" name="Google Shape;1018;p69"/>
          <p:cNvCxnSpPr/>
          <p:nvPr/>
        </p:nvCxnSpPr>
        <p:spPr>
          <a:xfrm flipH="1">
            <a:off x="15450841" y="8415720"/>
            <a:ext cx="336600" cy="1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9" name="Google Shape;1019;p69"/>
          <p:cNvCxnSpPr/>
          <p:nvPr/>
        </p:nvCxnSpPr>
        <p:spPr>
          <a:xfrm flipH="1" rot="10800000">
            <a:off x="15406559" y="13470119"/>
            <a:ext cx="1800" cy="7952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0" name="Google Shape;1020;p69"/>
          <p:cNvCxnSpPr/>
          <p:nvPr/>
        </p:nvCxnSpPr>
        <p:spPr>
          <a:xfrm>
            <a:off x="3253680" y="2684880"/>
            <a:ext cx="3662640" cy="0"/>
          </a:xfrm>
          <a:prstGeom prst="straightConnector1">
            <a:avLst/>
          </a:prstGeom>
          <a:noFill/>
          <a:ln cap="flat" cmpd="sng" w="36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1" name="Google Shape;1021;p69"/>
          <p:cNvCxnSpPr/>
          <p:nvPr/>
        </p:nvCxnSpPr>
        <p:spPr>
          <a:xfrm>
            <a:off x="3258000" y="2684880"/>
            <a:ext cx="0" cy="293760"/>
          </a:xfrm>
          <a:prstGeom prst="straightConnector1">
            <a:avLst/>
          </a:prstGeom>
          <a:noFill/>
          <a:ln cap="flat" cmpd="sng" w="36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2" name="Google Shape;1022;p69"/>
          <p:cNvCxnSpPr/>
          <p:nvPr/>
        </p:nvCxnSpPr>
        <p:spPr>
          <a:xfrm rot="10800000">
            <a:off x="6916320" y="2684880"/>
            <a:ext cx="0" cy="282960"/>
          </a:xfrm>
          <a:prstGeom prst="straightConnector1">
            <a:avLst/>
          </a:prstGeom>
          <a:noFill/>
          <a:ln cap="flat" cmpd="sng" w="36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3" name="Google Shape;1023;p69"/>
          <p:cNvSpPr txBox="1"/>
          <p:nvPr/>
        </p:nvSpPr>
        <p:spPr>
          <a:xfrm>
            <a:off x="2557440" y="5286960"/>
            <a:ext cx="1463040" cy="889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Soares, A.H.M, Tese de Doutorado, 2015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69"/>
          <p:cNvSpPr txBox="1"/>
          <p:nvPr/>
        </p:nvSpPr>
        <p:spPr>
          <a:xfrm>
            <a:off x="2557440" y="6248520"/>
            <a:ext cx="2380320" cy="2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MI / Dist.  Euclidiana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70"/>
          <p:cNvSpPr txBox="1"/>
          <p:nvPr/>
        </p:nvSpPr>
        <p:spPr>
          <a:xfrm>
            <a:off x="504000" y="85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Algoritmos parciais úteis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0" name="Google Shape;1030;p70"/>
          <p:cNvCxnSpPr/>
          <p:nvPr/>
        </p:nvCxnSpPr>
        <p:spPr>
          <a:xfrm>
            <a:off x="16765920" y="11503440"/>
            <a:ext cx="1440" cy="44136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1" name="Google Shape;1031;p70"/>
          <p:cNvCxnSpPr/>
          <p:nvPr/>
        </p:nvCxnSpPr>
        <p:spPr>
          <a:xfrm>
            <a:off x="15440400" y="12378240"/>
            <a:ext cx="388800" cy="14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2" name="Google Shape;1032;p70"/>
          <p:cNvCxnSpPr/>
          <p:nvPr/>
        </p:nvCxnSpPr>
        <p:spPr>
          <a:xfrm>
            <a:off x="15443641" y="11109600"/>
            <a:ext cx="388800" cy="1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3" name="Google Shape;1033;p70"/>
          <p:cNvCxnSpPr/>
          <p:nvPr/>
        </p:nvCxnSpPr>
        <p:spPr>
          <a:xfrm>
            <a:off x="15406920" y="13471920"/>
            <a:ext cx="389160" cy="14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4" name="Google Shape;1034;p70"/>
          <p:cNvCxnSpPr/>
          <p:nvPr/>
        </p:nvCxnSpPr>
        <p:spPr>
          <a:xfrm flipH="1" rot="10800000">
            <a:off x="15406920" y="8413920"/>
            <a:ext cx="46080" cy="505908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5" name="Google Shape;1035;p70"/>
          <p:cNvCxnSpPr/>
          <p:nvPr/>
        </p:nvCxnSpPr>
        <p:spPr>
          <a:xfrm flipH="1">
            <a:off x="15451200" y="8415720"/>
            <a:ext cx="336600" cy="1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6" name="Google Shape;1036;p70"/>
          <p:cNvCxnSpPr/>
          <p:nvPr/>
        </p:nvCxnSpPr>
        <p:spPr>
          <a:xfrm flipH="1" rot="10800000">
            <a:off x="15406920" y="13470119"/>
            <a:ext cx="1800" cy="7952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7" name="Google Shape;1037;p70"/>
          <p:cNvCxnSpPr/>
          <p:nvPr/>
        </p:nvCxnSpPr>
        <p:spPr>
          <a:xfrm>
            <a:off x="16765920" y="11503440"/>
            <a:ext cx="1440" cy="44136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8" name="Google Shape;1038;p70"/>
          <p:cNvCxnSpPr/>
          <p:nvPr/>
        </p:nvCxnSpPr>
        <p:spPr>
          <a:xfrm>
            <a:off x="15440400" y="12378240"/>
            <a:ext cx="388800" cy="14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9" name="Google Shape;1039;p70"/>
          <p:cNvCxnSpPr/>
          <p:nvPr/>
        </p:nvCxnSpPr>
        <p:spPr>
          <a:xfrm>
            <a:off x="15443641" y="11109600"/>
            <a:ext cx="388800" cy="1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0" name="Google Shape;1040;p70"/>
          <p:cNvCxnSpPr/>
          <p:nvPr/>
        </p:nvCxnSpPr>
        <p:spPr>
          <a:xfrm>
            <a:off x="15406920" y="13471920"/>
            <a:ext cx="389160" cy="14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1" name="Google Shape;1041;p70"/>
          <p:cNvCxnSpPr/>
          <p:nvPr/>
        </p:nvCxnSpPr>
        <p:spPr>
          <a:xfrm flipH="1" rot="10800000">
            <a:off x="15406920" y="8413920"/>
            <a:ext cx="46080" cy="505908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2" name="Google Shape;1042;p70"/>
          <p:cNvCxnSpPr/>
          <p:nvPr/>
        </p:nvCxnSpPr>
        <p:spPr>
          <a:xfrm flipH="1">
            <a:off x="15451200" y="8415720"/>
            <a:ext cx="336600" cy="1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3" name="Google Shape;1043;p70"/>
          <p:cNvCxnSpPr/>
          <p:nvPr/>
        </p:nvCxnSpPr>
        <p:spPr>
          <a:xfrm flipH="1" rot="10800000">
            <a:off x="15406920" y="13470119"/>
            <a:ext cx="1800" cy="7952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4" name="Google Shape;1044;p70"/>
          <p:cNvSpPr/>
          <p:nvPr/>
        </p:nvSpPr>
        <p:spPr>
          <a:xfrm>
            <a:off x="15778080" y="11948040"/>
            <a:ext cx="2181240" cy="8604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99999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58675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Extracted Features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70"/>
          <p:cNvSpPr/>
          <p:nvPr/>
        </p:nvSpPr>
        <p:spPr>
          <a:xfrm>
            <a:off x="15778080" y="13078080"/>
            <a:ext cx="2183040" cy="86076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99999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58675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Ab initio</a:t>
            </a:r>
            <a:r>
              <a:rPr b="0" lang="en-US" sz="1800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Models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70"/>
          <p:cNvSpPr/>
          <p:nvPr/>
        </p:nvSpPr>
        <p:spPr>
          <a:xfrm>
            <a:off x="15778080" y="10847880"/>
            <a:ext cx="2183040" cy="6523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58675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Samples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7" name="Google Shape;1047;p70"/>
          <p:cNvCxnSpPr/>
          <p:nvPr/>
        </p:nvCxnSpPr>
        <p:spPr>
          <a:xfrm>
            <a:off x="17962559" y="11109600"/>
            <a:ext cx="388800" cy="1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8" name="Google Shape;1048;p70"/>
          <p:cNvCxnSpPr/>
          <p:nvPr/>
        </p:nvCxnSpPr>
        <p:spPr>
          <a:xfrm>
            <a:off x="17962559" y="13471920"/>
            <a:ext cx="388800" cy="14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9" name="Google Shape;1049;p70"/>
          <p:cNvCxnSpPr/>
          <p:nvPr/>
        </p:nvCxnSpPr>
        <p:spPr>
          <a:xfrm>
            <a:off x="16765559" y="11503440"/>
            <a:ext cx="1440" cy="44136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0" name="Google Shape;1050;p70"/>
          <p:cNvCxnSpPr/>
          <p:nvPr/>
        </p:nvCxnSpPr>
        <p:spPr>
          <a:xfrm>
            <a:off x="15440041" y="12378240"/>
            <a:ext cx="388800" cy="14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1" name="Google Shape;1051;p70"/>
          <p:cNvCxnSpPr/>
          <p:nvPr/>
        </p:nvCxnSpPr>
        <p:spPr>
          <a:xfrm>
            <a:off x="15443280" y="11109600"/>
            <a:ext cx="388800" cy="1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2" name="Google Shape;1052;p70"/>
          <p:cNvCxnSpPr/>
          <p:nvPr/>
        </p:nvCxnSpPr>
        <p:spPr>
          <a:xfrm>
            <a:off x="17959320" y="12378240"/>
            <a:ext cx="389160" cy="14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3" name="Google Shape;1053;p70"/>
          <p:cNvCxnSpPr/>
          <p:nvPr/>
        </p:nvCxnSpPr>
        <p:spPr>
          <a:xfrm>
            <a:off x="15406559" y="13471920"/>
            <a:ext cx="389160" cy="14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4" name="Google Shape;1054;p70"/>
          <p:cNvCxnSpPr/>
          <p:nvPr/>
        </p:nvCxnSpPr>
        <p:spPr>
          <a:xfrm flipH="1" rot="10800000">
            <a:off x="15406559" y="8413920"/>
            <a:ext cx="46080" cy="505908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5" name="Google Shape;1055;p70"/>
          <p:cNvCxnSpPr/>
          <p:nvPr/>
        </p:nvCxnSpPr>
        <p:spPr>
          <a:xfrm flipH="1">
            <a:off x="15450841" y="8415720"/>
            <a:ext cx="336600" cy="1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6" name="Google Shape;1056;p70"/>
          <p:cNvCxnSpPr/>
          <p:nvPr/>
        </p:nvCxnSpPr>
        <p:spPr>
          <a:xfrm flipH="1" rot="10800000">
            <a:off x="15406559" y="13470119"/>
            <a:ext cx="1800" cy="7952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7" name="Google Shape;1057;p70"/>
          <p:cNvCxnSpPr/>
          <p:nvPr/>
        </p:nvCxnSpPr>
        <p:spPr>
          <a:xfrm>
            <a:off x="15440041" y="12378240"/>
            <a:ext cx="388800" cy="14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8" name="Google Shape;1058;p70"/>
          <p:cNvCxnSpPr/>
          <p:nvPr/>
        </p:nvCxnSpPr>
        <p:spPr>
          <a:xfrm>
            <a:off x="15443280" y="11109600"/>
            <a:ext cx="388800" cy="1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9" name="Google Shape;1059;p70"/>
          <p:cNvCxnSpPr/>
          <p:nvPr/>
        </p:nvCxnSpPr>
        <p:spPr>
          <a:xfrm>
            <a:off x="15406559" y="13471920"/>
            <a:ext cx="389160" cy="14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0" name="Google Shape;1060;p70"/>
          <p:cNvCxnSpPr/>
          <p:nvPr/>
        </p:nvCxnSpPr>
        <p:spPr>
          <a:xfrm flipH="1" rot="10800000">
            <a:off x="15406559" y="8413920"/>
            <a:ext cx="46080" cy="505908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1" name="Google Shape;1061;p70"/>
          <p:cNvCxnSpPr/>
          <p:nvPr/>
        </p:nvCxnSpPr>
        <p:spPr>
          <a:xfrm flipH="1">
            <a:off x="15450841" y="8415720"/>
            <a:ext cx="336600" cy="1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2" name="Google Shape;1062;p70"/>
          <p:cNvCxnSpPr/>
          <p:nvPr/>
        </p:nvCxnSpPr>
        <p:spPr>
          <a:xfrm flipH="1" rot="10800000">
            <a:off x="15406559" y="13470119"/>
            <a:ext cx="1800" cy="79524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3" name="Google Shape;1063;p70"/>
          <p:cNvSpPr/>
          <p:nvPr/>
        </p:nvSpPr>
        <p:spPr>
          <a:xfrm>
            <a:off x="673200" y="6309360"/>
            <a:ext cx="8961120" cy="614880"/>
          </a:xfrm>
          <a:custGeom>
            <a:rect b="b" l="l" r="r" t="t"/>
            <a:pathLst>
              <a:path extrusionOk="0" h="1710" w="24894">
                <a:moveTo>
                  <a:pt x="0" y="611"/>
                </a:moveTo>
                <a:lnTo>
                  <a:pt x="22123" y="611"/>
                </a:lnTo>
                <a:lnTo>
                  <a:pt x="22123" y="0"/>
                </a:lnTo>
                <a:lnTo>
                  <a:pt x="24893" y="854"/>
                </a:lnTo>
                <a:lnTo>
                  <a:pt x="22123" y="1709"/>
                </a:lnTo>
                <a:lnTo>
                  <a:pt x="22123" y="1097"/>
                </a:lnTo>
                <a:lnTo>
                  <a:pt x="0" y="1097"/>
                </a:lnTo>
                <a:lnTo>
                  <a:pt x="0" y="611"/>
                </a:lnTo>
              </a:path>
            </a:pathLst>
          </a:custGeom>
          <a:solidFill>
            <a:srgbClr val="CFE7F5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4" name="Google Shape;1064;p70"/>
          <p:cNvSpPr txBox="1"/>
          <p:nvPr/>
        </p:nvSpPr>
        <p:spPr>
          <a:xfrm>
            <a:off x="648000" y="6708240"/>
            <a:ext cx="9022320" cy="60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Em direção à construção de um processo de otimização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		podem ser obtidos algoritmos e resultados parciais úteis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70"/>
          <p:cNvSpPr/>
          <p:nvPr/>
        </p:nvSpPr>
        <p:spPr>
          <a:xfrm>
            <a:off x="3089520" y="4514400"/>
            <a:ext cx="457200" cy="581760"/>
          </a:xfrm>
          <a:custGeom>
            <a:rect b="b" l="l" r="r" t="t"/>
            <a:pathLst>
              <a:path extrusionOk="0" h="1618" w="1272">
                <a:moveTo>
                  <a:pt x="317" y="0"/>
                </a:moveTo>
                <a:lnTo>
                  <a:pt x="317" y="1212"/>
                </a:lnTo>
                <a:lnTo>
                  <a:pt x="0" y="1212"/>
                </a:lnTo>
                <a:lnTo>
                  <a:pt x="635" y="1617"/>
                </a:lnTo>
                <a:lnTo>
                  <a:pt x="1271" y="1212"/>
                </a:lnTo>
                <a:lnTo>
                  <a:pt x="953" y="1212"/>
                </a:lnTo>
                <a:lnTo>
                  <a:pt x="953" y="0"/>
                </a:lnTo>
                <a:lnTo>
                  <a:pt x="317" y="0"/>
                </a:lnTo>
              </a:path>
            </a:pathLst>
          </a:custGeom>
          <a:solidFill>
            <a:srgbClr val="CFE7F5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6" name="Google Shape;1066;p70"/>
          <p:cNvSpPr/>
          <p:nvPr/>
        </p:nvSpPr>
        <p:spPr>
          <a:xfrm>
            <a:off x="4997880" y="4514760"/>
            <a:ext cx="457200" cy="581760"/>
          </a:xfrm>
          <a:custGeom>
            <a:rect b="b" l="l" r="r" t="t"/>
            <a:pathLst>
              <a:path extrusionOk="0" h="1618" w="1272">
                <a:moveTo>
                  <a:pt x="317" y="0"/>
                </a:moveTo>
                <a:lnTo>
                  <a:pt x="317" y="1212"/>
                </a:lnTo>
                <a:lnTo>
                  <a:pt x="0" y="1212"/>
                </a:lnTo>
                <a:lnTo>
                  <a:pt x="635" y="1617"/>
                </a:lnTo>
                <a:lnTo>
                  <a:pt x="1271" y="1212"/>
                </a:lnTo>
                <a:lnTo>
                  <a:pt x="953" y="1212"/>
                </a:lnTo>
                <a:lnTo>
                  <a:pt x="953" y="0"/>
                </a:lnTo>
                <a:lnTo>
                  <a:pt x="317" y="0"/>
                </a:lnTo>
              </a:path>
            </a:pathLst>
          </a:custGeom>
          <a:solidFill>
            <a:srgbClr val="CFE7F5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7" name="Google Shape;1067;p70"/>
          <p:cNvSpPr/>
          <p:nvPr/>
        </p:nvSpPr>
        <p:spPr>
          <a:xfrm>
            <a:off x="6870240" y="4515120"/>
            <a:ext cx="457200" cy="581760"/>
          </a:xfrm>
          <a:custGeom>
            <a:rect b="b" l="l" r="r" t="t"/>
            <a:pathLst>
              <a:path extrusionOk="0" h="1618" w="1272">
                <a:moveTo>
                  <a:pt x="317" y="0"/>
                </a:moveTo>
                <a:lnTo>
                  <a:pt x="317" y="1212"/>
                </a:lnTo>
                <a:lnTo>
                  <a:pt x="0" y="1212"/>
                </a:lnTo>
                <a:lnTo>
                  <a:pt x="635" y="1617"/>
                </a:lnTo>
                <a:lnTo>
                  <a:pt x="1271" y="1212"/>
                </a:lnTo>
                <a:lnTo>
                  <a:pt x="953" y="1212"/>
                </a:lnTo>
                <a:lnTo>
                  <a:pt x="953" y="0"/>
                </a:lnTo>
                <a:lnTo>
                  <a:pt x="317" y="0"/>
                </a:lnTo>
              </a:path>
            </a:pathLst>
          </a:custGeom>
          <a:solidFill>
            <a:srgbClr val="CFE7F5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8" name="Google Shape;1068;p70"/>
          <p:cNvSpPr txBox="1"/>
          <p:nvPr/>
        </p:nvSpPr>
        <p:spPr>
          <a:xfrm>
            <a:off x="2482560" y="5060160"/>
            <a:ext cx="1645920" cy="85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Dados Crus  melhor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estruturados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70"/>
          <p:cNvSpPr txBox="1"/>
          <p:nvPr/>
        </p:nvSpPr>
        <p:spPr>
          <a:xfrm>
            <a:off x="4426560" y="5060160"/>
            <a:ext cx="1645920" cy="85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Melhor entendimento do problema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70"/>
          <p:cNvSpPr txBox="1"/>
          <p:nvPr/>
        </p:nvSpPr>
        <p:spPr>
          <a:xfrm>
            <a:off x="6036480" y="5060160"/>
            <a:ext cx="2159280" cy="137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Soluções úteis para diferentes propósitos: custo, robustez, qualidade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70"/>
          <p:cNvSpPr txBox="1"/>
          <p:nvPr/>
        </p:nvSpPr>
        <p:spPr>
          <a:xfrm>
            <a:off x="398880" y="2979000"/>
            <a:ext cx="1869120" cy="60228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Características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Extraídas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70"/>
          <p:cNvSpPr txBox="1"/>
          <p:nvPr/>
        </p:nvSpPr>
        <p:spPr>
          <a:xfrm>
            <a:off x="4387680" y="2212200"/>
            <a:ext cx="1680480" cy="2230560"/>
          </a:xfrm>
          <a:prstGeom prst="rect">
            <a:avLst/>
          </a:prstGeom>
          <a:noFill/>
          <a:ln cap="flat" cmpd="sng" w="36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3000" lIns="108000" spcFirstLastPara="1" rIns="108000" wrap="square" tIns="63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Modelo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Probabilístico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70"/>
          <p:cNvSpPr txBox="1"/>
          <p:nvPr/>
        </p:nvSpPr>
        <p:spPr>
          <a:xfrm>
            <a:off x="6321600" y="2212200"/>
            <a:ext cx="1554480" cy="2230560"/>
          </a:xfrm>
          <a:prstGeom prst="rect">
            <a:avLst/>
          </a:prstGeom>
          <a:noFill/>
          <a:ln cap="flat" cmpd="sng" w="36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3000" lIns="108000" spcFirstLastPara="1" rIns="108000" wrap="square" tIns="63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Soluções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Candidatas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70"/>
          <p:cNvSpPr txBox="1"/>
          <p:nvPr/>
        </p:nvSpPr>
        <p:spPr>
          <a:xfrm>
            <a:off x="8147520" y="2212200"/>
            <a:ext cx="1554480" cy="219456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Solução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Escolhida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70"/>
          <p:cNvSpPr txBox="1"/>
          <p:nvPr/>
        </p:nvSpPr>
        <p:spPr>
          <a:xfrm>
            <a:off x="3564000" y="1552680"/>
            <a:ext cx="2989440" cy="60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AED / Ciclos de Otimização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70"/>
          <p:cNvSpPr txBox="1"/>
          <p:nvPr/>
        </p:nvSpPr>
        <p:spPr>
          <a:xfrm>
            <a:off x="398880" y="3766680"/>
            <a:ext cx="1869120" cy="85824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Modelo conhecidos a priori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70"/>
          <p:cNvSpPr txBox="1"/>
          <p:nvPr/>
        </p:nvSpPr>
        <p:spPr>
          <a:xfrm>
            <a:off x="398880" y="2212200"/>
            <a:ext cx="1869120" cy="457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Dados Crus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70"/>
          <p:cNvSpPr txBox="1"/>
          <p:nvPr/>
        </p:nvSpPr>
        <p:spPr>
          <a:xfrm>
            <a:off x="2542320" y="2212200"/>
            <a:ext cx="1554480" cy="2230560"/>
          </a:xfrm>
          <a:prstGeom prst="rect">
            <a:avLst/>
          </a:prstGeom>
          <a:noFill/>
          <a:ln cap="flat" cmpd="sng" w="36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3000" lIns="108000" spcFirstLastPara="1" rIns="108000" wrap="square" tIns="63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DAMICORE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9" name="Google Shape;1079;p70"/>
          <p:cNvCxnSpPr/>
          <p:nvPr/>
        </p:nvCxnSpPr>
        <p:spPr>
          <a:xfrm>
            <a:off x="2268000" y="2395080"/>
            <a:ext cx="27432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0" name="Google Shape;1080;p70"/>
          <p:cNvCxnSpPr/>
          <p:nvPr/>
        </p:nvCxnSpPr>
        <p:spPr>
          <a:xfrm>
            <a:off x="2268000" y="3234600"/>
            <a:ext cx="27432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1" name="Google Shape;1081;p70"/>
          <p:cNvCxnSpPr/>
          <p:nvPr/>
        </p:nvCxnSpPr>
        <p:spPr>
          <a:xfrm>
            <a:off x="2268000" y="4041000"/>
            <a:ext cx="27432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2" name="Google Shape;1082;p70"/>
          <p:cNvCxnSpPr/>
          <p:nvPr/>
        </p:nvCxnSpPr>
        <p:spPr>
          <a:xfrm>
            <a:off x="4104000" y="3126600"/>
            <a:ext cx="274320" cy="0"/>
          </a:xfrm>
          <a:prstGeom prst="straightConnector1">
            <a:avLst/>
          </a:prstGeom>
          <a:noFill/>
          <a:ln cap="flat" cmpd="sng" w="36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3" name="Google Shape;1083;p70"/>
          <p:cNvCxnSpPr/>
          <p:nvPr/>
        </p:nvCxnSpPr>
        <p:spPr>
          <a:xfrm>
            <a:off x="6084000" y="3126600"/>
            <a:ext cx="274320" cy="0"/>
          </a:xfrm>
          <a:prstGeom prst="straightConnector1">
            <a:avLst/>
          </a:prstGeom>
          <a:noFill/>
          <a:ln cap="flat" cmpd="sng" w="36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4" name="Google Shape;1084;p70"/>
          <p:cNvCxnSpPr/>
          <p:nvPr/>
        </p:nvCxnSpPr>
        <p:spPr>
          <a:xfrm>
            <a:off x="7884000" y="3126600"/>
            <a:ext cx="274320" cy="0"/>
          </a:xfrm>
          <a:prstGeom prst="straightConnector1">
            <a:avLst/>
          </a:prstGeom>
          <a:noFill/>
          <a:ln cap="flat" cmpd="sng" w="36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5" name="Google Shape;1085;p70"/>
          <p:cNvCxnSpPr/>
          <p:nvPr/>
        </p:nvCxnSpPr>
        <p:spPr>
          <a:xfrm>
            <a:off x="1429920" y="2669400"/>
            <a:ext cx="0" cy="309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6" name="Google Shape;1086;p70"/>
          <p:cNvCxnSpPr/>
          <p:nvPr/>
        </p:nvCxnSpPr>
        <p:spPr>
          <a:xfrm>
            <a:off x="3289680" y="1929240"/>
            <a:ext cx="3662640" cy="0"/>
          </a:xfrm>
          <a:prstGeom prst="straightConnector1">
            <a:avLst/>
          </a:prstGeom>
          <a:noFill/>
          <a:ln cap="flat" cmpd="sng" w="36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7" name="Google Shape;1087;p70"/>
          <p:cNvCxnSpPr/>
          <p:nvPr/>
        </p:nvCxnSpPr>
        <p:spPr>
          <a:xfrm>
            <a:off x="3294000" y="1929240"/>
            <a:ext cx="0" cy="293760"/>
          </a:xfrm>
          <a:prstGeom prst="straightConnector1">
            <a:avLst/>
          </a:prstGeom>
          <a:noFill/>
          <a:ln cap="flat" cmpd="sng" w="36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8" name="Google Shape;1088;p70"/>
          <p:cNvCxnSpPr/>
          <p:nvPr/>
        </p:nvCxnSpPr>
        <p:spPr>
          <a:xfrm rot="10800000">
            <a:off x="6952320" y="1929240"/>
            <a:ext cx="0" cy="282960"/>
          </a:xfrm>
          <a:prstGeom prst="straightConnector1">
            <a:avLst/>
          </a:prstGeom>
          <a:noFill/>
          <a:ln cap="flat" cmpd="sng" w="36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89" name="Google Shape;1089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1200" y="3017520"/>
            <a:ext cx="1005840" cy="1357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71"/>
          <p:cNvSpPr txBox="1"/>
          <p:nvPr/>
        </p:nvSpPr>
        <p:spPr>
          <a:xfrm>
            <a:off x="529560" y="18216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400" strike="noStrike">
                <a:latin typeface="Arial"/>
                <a:ea typeface="Arial"/>
                <a:cs typeface="Arial"/>
                <a:sym typeface="Arial"/>
              </a:rPr>
              <a:t>Benchmarks</a:t>
            </a:r>
            <a:br>
              <a:rPr lang="en-US" sz="1800"/>
            </a:b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Otimização baseada em Análise de Filogramas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71"/>
          <p:cNvSpPr txBox="1"/>
          <p:nvPr/>
        </p:nvSpPr>
        <p:spPr>
          <a:xfrm>
            <a:off x="36000" y="1877040"/>
            <a:ext cx="4543560" cy="527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225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"/>
              <a:buFont typeface="Noto Sans Symbols"/>
              <a:buChar char="●"/>
            </a:pPr>
            <a:r>
              <a:rPr b="0" lang="en-US" sz="2700" strike="noStrike">
                <a:latin typeface="Arial"/>
                <a:ea typeface="Arial"/>
                <a:cs typeface="Arial"/>
                <a:sym typeface="Arial"/>
              </a:rPr>
              <a:t>Problemas combinatórios</a:t>
            </a:r>
            <a:endParaRPr b="0" sz="2700" strike="noStrike">
              <a:latin typeface="Arial"/>
              <a:ea typeface="Arial"/>
              <a:cs typeface="Arial"/>
              <a:sym typeface="Arial"/>
            </a:endParaRPr>
          </a:p>
          <a:p>
            <a:pPr indent="-29225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−"/>
            </a:pPr>
            <a:r>
              <a:rPr b="0" i="0" lang="en-US" sz="2300" u="none" cap="none" strike="noStrike">
                <a:latin typeface="Arial"/>
                <a:ea typeface="Arial"/>
                <a:cs typeface="Arial"/>
                <a:sym typeface="Arial"/>
              </a:rPr>
              <a:t>NK-landscapes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56250" lvl="2" marL="1296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580"/>
              <a:buFont typeface="Noto Sans Symbols"/>
              <a:buChar char="●"/>
            </a:pPr>
            <a:r>
              <a:rPr b="0" i="0" lang="en-US" sz="1900" u="none" cap="none" strike="noStrike">
                <a:latin typeface="Arial"/>
                <a:ea typeface="Arial"/>
                <a:cs typeface="Arial"/>
                <a:sym typeface="Arial"/>
              </a:rPr>
              <a:t>Problemas decompostos de forma hierárquica</a:t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56250" lvl="2" marL="1296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580"/>
              <a:buFont typeface="Noto Sans Symbols"/>
              <a:buChar char="●"/>
            </a:pPr>
            <a:r>
              <a:rPr b="0" i="0" lang="en-US" sz="1900" u="none" cap="none" strike="noStrike">
                <a:latin typeface="Arial"/>
                <a:ea typeface="Arial"/>
                <a:cs typeface="Arial"/>
                <a:sym typeface="Arial"/>
              </a:rPr>
              <a:t>Outros</a:t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47420" lvl="4" marL="2160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92250" lvl="0" marL="432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40"/>
              <a:buFont typeface="Noto Sans Symbols"/>
              <a:buChar char="●"/>
            </a:pPr>
            <a:r>
              <a:rPr b="0" lang="en-US" sz="2700" strike="noStrike">
                <a:latin typeface="Arial"/>
                <a:ea typeface="Arial"/>
                <a:cs typeface="Arial"/>
                <a:sym typeface="Arial"/>
              </a:rPr>
              <a:t>Experimentos</a:t>
            </a:r>
            <a:endParaRPr b="0" sz="2700" strike="noStrike">
              <a:latin typeface="Arial"/>
              <a:ea typeface="Arial"/>
              <a:cs typeface="Arial"/>
              <a:sym typeface="Arial"/>
            </a:endParaRPr>
          </a:p>
          <a:p>
            <a:pPr indent="-29225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−"/>
            </a:pPr>
            <a:r>
              <a:rPr b="0" i="0" lang="en-US" sz="2300" u="none" cap="none" strike="noStrike">
                <a:latin typeface="Arial"/>
                <a:ea typeface="Arial"/>
                <a:cs typeface="Arial"/>
                <a:sym typeface="Arial"/>
              </a:rPr>
              <a:t>Mostram escalabilidade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9225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−"/>
            </a:pPr>
            <a:r>
              <a:rPr b="0" i="0" lang="en-US" sz="2300" u="none" cap="none" strike="noStrike">
                <a:latin typeface="Arial"/>
                <a:ea typeface="Arial"/>
                <a:cs typeface="Arial"/>
                <a:sym typeface="Arial"/>
              </a:rPr>
              <a:t>Há suporte teórico para esses resultados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56250" lvl="2" marL="1296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75"/>
              <a:buFont typeface="Noto Sans Symbols"/>
              <a:buChar char="●"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(Martins, J.P., Swarm and Evolutionary Computation, 2015)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56250" lvl="2" marL="1296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75"/>
              <a:buFont typeface="Noto Sans Symbols"/>
              <a:buChar char="●"/>
            </a:pPr>
            <a:r>
              <a:rPr b="0" i="0" lang="en-US" sz="10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(Soares, A.H.M., Expert Systems with Applications, 2017)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6" name="Google Shape;1096;p71"/>
          <p:cNvCxnSpPr/>
          <p:nvPr/>
        </p:nvCxnSpPr>
        <p:spPr>
          <a:xfrm rot="10800000">
            <a:off x="4114800" y="6583680"/>
            <a:ext cx="329760" cy="421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097" name="Google Shape;1097;p71"/>
          <p:cNvGrpSpPr/>
          <p:nvPr/>
        </p:nvGrpSpPr>
        <p:grpSpPr>
          <a:xfrm>
            <a:off x="4569120" y="1884240"/>
            <a:ext cx="5608440" cy="5630400"/>
            <a:chOff x="4569120" y="1884240"/>
            <a:chExt cx="5608440" cy="5630400"/>
          </a:xfrm>
        </p:grpSpPr>
        <p:sp>
          <p:nvSpPr>
            <p:cNvPr id="1098" name="Google Shape;1098;p71"/>
            <p:cNvSpPr txBox="1"/>
            <p:nvPr/>
          </p:nvSpPr>
          <p:spPr>
            <a:xfrm rot="-5400000">
              <a:off x="4301280" y="3868920"/>
              <a:ext cx="921240" cy="2746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 strike="noStrike">
                  <a:latin typeface="Arial"/>
                  <a:ea typeface="Arial"/>
                  <a:cs typeface="Arial"/>
                  <a:sym typeface="Arial"/>
                </a:rPr>
                <a:t>NA (x 10³)</a:t>
              </a:r>
              <a:endParaRPr b="0" sz="13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99" name="Google Shape;1099;p71"/>
            <p:cNvGrpSpPr/>
            <p:nvPr/>
          </p:nvGrpSpPr>
          <p:grpSpPr>
            <a:xfrm>
              <a:off x="4569120" y="1884240"/>
              <a:ext cx="5608440" cy="5630400"/>
              <a:chOff x="4569120" y="1884240"/>
              <a:chExt cx="5608440" cy="5630400"/>
            </a:xfrm>
          </p:grpSpPr>
          <p:grpSp>
            <p:nvGrpSpPr>
              <p:cNvPr id="1100" name="Google Shape;1100;p71"/>
              <p:cNvGrpSpPr/>
              <p:nvPr/>
            </p:nvGrpSpPr>
            <p:grpSpPr>
              <a:xfrm>
                <a:off x="4569120" y="1884240"/>
                <a:ext cx="5608440" cy="5630400"/>
                <a:chOff x="4569120" y="1884240"/>
                <a:chExt cx="5608440" cy="5630400"/>
              </a:xfrm>
            </p:grpSpPr>
            <p:grpSp>
              <p:nvGrpSpPr>
                <p:cNvPr id="1101" name="Google Shape;1101;p71"/>
                <p:cNvGrpSpPr/>
                <p:nvPr/>
              </p:nvGrpSpPr>
              <p:grpSpPr>
                <a:xfrm>
                  <a:off x="4569120" y="1884240"/>
                  <a:ext cx="5495400" cy="5533560"/>
                  <a:chOff x="4569120" y="1884240"/>
                  <a:chExt cx="5495400" cy="5533560"/>
                </a:xfrm>
              </p:grpSpPr>
              <p:pic>
                <p:nvPicPr>
                  <p:cNvPr id="1102" name="Google Shape;1102;p7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4569120" y="1884240"/>
                    <a:ext cx="5495400" cy="553356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103" name="Google Shape;1103;p71"/>
                  <p:cNvSpPr/>
                  <p:nvPr/>
                </p:nvSpPr>
                <p:spPr>
                  <a:xfrm>
                    <a:off x="4569120" y="7040880"/>
                    <a:ext cx="723960" cy="18288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104" name="Google Shape;1104;p71"/>
                <p:cNvSpPr/>
                <p:nvPr/>
              </p:nvSpPr>
              <p:spPr>
                <a:xfrm>
                  <a:off x="4677120" y="6783120"/>
                  <a:ext cx="5500440" cy="73152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05" name="Google Shape;1105;p71"/>
              <p:cNvGrpSpPr/>
              <p:nvPr/>
            </p:nvGrpSpPr>
            <p:grpSpPr>
              <a:xfrm>
                <a:off x="5886720" y="2221200"/>
                <a:ext cx="3192480" cy="724320"/>
                <a:chOff x="5886720" y="2221200"/>
                <a:chExt cx="3192480" cy="724320"/>
              </a:xfrm>
            </p:grpSpPr>
            <p:sp>
              <p:nvSpPr>
                <p:cNvPr id="1106" name="Google Shape;1106;p71"/>
                <p:cNvSpPr txBox="1"/>
                <p:nvPr/>
              </p:nvSpPr>
              <p:spPr>
                <a:xfrm>
                  <a:off x="5886720" y="2760840"/>
                  <a:ext cx="3191400" cy="18468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300" strike="noStrike">
                      <a:latin typeface="Arial"/>
                      <a:ea typeface="Arial"/>
                      <a:cs typeface="Arial"/>
                      <a:sym typeface="Arial"/>
                    </a:rPr>
                    <a:t>Otimização B. em Análises de Filogramas</a:t>
                  </a:r>
                  <a:endParaRPr b="0" sz="1300" strike="noStrike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7" name="Google Shape;1107;p71"/>
                <p:cNvSpPr txBox="1"/>
                <p:nvPr/>
              </p:nvSpPr>
              <p:spPr>
                <a:xfrm>
                  <a:off x="5887080" y="2221200"/>
                  <a:ext cx="3191400" cy="18468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300" strike="noStrike">
                      <a:latin typeface="Arial"/>
                      <a:ea typeface="Arial"/>
                      <a:cs typeface="Arial"/>
                      <a:sym typeface="Arial"/>
                    </a:rPr>
                    <a:t>BOA</a:t>
                  </a:r>
                  <a:endParaRPr b="0" sz="1300" strike="noStrike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8" name="Google Shape;1108;p71"/>
                <p:cNvSpPr txBox="1"/>
                <p:nvPr/>
              </p:nvSpPr>
              <p:spPr>
                <a:xfrm>
                  <a:off x="5887440" y="2401560"/>
                  <a:ext cx="3191400" cy="18468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300" strike="noStrike">
                      <a:latin typeface="Arial"/>
                      <a:ea typeface="Arial"/>
                      <a:cs typeface="Arial"/>
                      <a:sym typeface="Arial"/>
                    </a:rPr>
                    <a:t>CD-BOA</a:t>
                  </a:r>
                  <a:endParaRPr b="0" sz="1300" strike="noStrike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9" name="Google Shape;1109;p71"/>
                <p:cNvSpPr txBox="1"/>
                <p:nvPr/>
              </p:nvSpPr>
              <p:spPr>
                <a:xfrm>
                  <a:off x="5887800" y="2581920"/>
                  <a:ext cx="3191400" cy="18468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300" strike="noStrike">
                      <a:latin typeface="Arial"/>
                      <a:ea typeface="Arial"/>
                      <a:cs typeface="Arial"/>
                      <a:sym typeface="Arial"/>
                    </a:rPr>
                    <a:t>StrOp+REDA</a:t>
                  </a:r>
                  <a:endParaRPr b="0" sz="1300" strike="noStrike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pic>
          <p:nvPicPr>
            <p:cNvPr id="1110" name="Google Shape;1110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15200" y="6583680"/>
              <a:ext cx="294840" cy="247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1" name="Google Shape;1111;p71"/>
            <p:cNvSpPr/>
            <p:nvPr/>
          </p:nvSpPr>
          <p:spPr>
            <a:xfrm>
              <a:off x="7387200" y="6286320"/>
              <a:ext cx="200520" cy="313200"/>
            </a:xfrm>
            <a:custGeom>
              <a:rect b="b" l="l" r="r" t="t"/>
              <a:pathLst>
                <a:path extrusionOk="0" h="870" w="557">
                  <a:moveTo>
                    <a:pt x="0" y="792"/>
                  </a:moveTo>
                  <a:cubicBezTo>
                    <a:pt x="175" y="869"/>
                    <a:pt x="556" y="452"/>
                    <a:pt x="503" y="282"/>
                  </a:cubicBezTo>
                  <a:cubicBezTo>
                    <a:pt x="415" y="0"/>
                    <a:pt x="79" y="743"/>
                    <a:pt x="252" y="784"/>
                  </a:cubicBezTo>
                  <a:lnTo>
                    <a:pt x="216" y="82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2" name="Google Shape;1112;p71"/>
          <p:cNvSpPr txBox="1"/>
          <p:nvPr/>
        </p:nvSpPr>
        <p:spPr>
          <a:xfrm>
            <a:off x="3868560" y="7004880"/>
            <a:ext cx="2047680" cy="2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Fisher, 1930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7" name="Google Shape;111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0" y="3291840"/>
            <a:ext cx="3238560" cy="4101840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72"/>
          <p:cNvSpPr txBox="1"/>
          <p:nvPr/>
        </p:nvSpPr>
        <p:spPr>
          <a:xfrm>
            <a:off x="504000" y="13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Conclusões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72"/>
          <p:cNvSpPr txBox="1"/>
          <p:nvPr/>
        </p:nvSpPr>
        <p:spPr>
          <a:xfrm>
            <a:off x="8640" y="1321920"/>
            <a:ext cx="8861040" cy="59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9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"/>
              <a:buFont typeface="Noto Sans Symbols"/>
              <a:buChar char="●"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Há diversas formas de se inspirar na Natureza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  <a:p>
            <a:pPr indent="-2859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40"/>
              <a:buFont typeface="Noto Sans Symbols"/>
              <a:buChar char="●"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É preciso ser criterioso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  <a:p>
            <a:pPr indent="-249900" lvl="2" marL="1296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480"/>
              <a:buFont typeface="Noto Sans Symbols"/>
              <a:buChar char="●"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Não gastar energia gerando algoritmos pouco promissores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900" lvl="0" marL="432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40"/>
              <a:buFont typeface="Noto Sans Symbols"/>
              <a:buChar char="●"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Uma forma possível para sistematizar esse processo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  <a:p>
            <a:pPr indent="-249900" lvl="2" marL="1296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480"/>
              <a:buFont typeface="Noto Sans Symbols"/>
              <a:buChar char="●"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Gerar modelos probabilísticos pelo DAMICORE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77900" lvl="3" marL="1728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−"/>
            </a:pPr>
            <a:r>
              <a:rPr b="0" i="0" lang="en-US" u="none" cap="none" strike="noStrike">
                <a:latin typeface="Arial"/>
                <a:ea typeface="Arial"/>
                <a:cs typeface="Arial"/>
                <a:sym typeface="Arial"/>
              </a:rPr>
              <a:t>Independe de tipo de dado</a:t>
            </a:r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77900" lvl="4" marL="21600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300"/>
              <a:buFont typeface="Noto Sans Symbols"/>
              <a:buChar char="●"/>
            </a:pPr>
            <a:r>
              <a:rPr b="0" i="0" lang="en-US" u="none" cap="none" strike="noStrike">
                <a:latin typeface="Arial"/>
                <a:ea typeface="Arial"/>
                <a:cs typeface="Arial"/>
                <a:sym typeface="Arial"/>
              </a:rPr>
              <a:t>De conhecimento a priori</a:t>
            </a:r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77900" lvl="3" marL="1728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−"/>
            </a:pPr>
            <a:r>
              <a:rPr b="0" i="0" lang="en-US" u="none" cap="none" strike="noStrike">
                <a:latin typeface="Arial"/>
                <a:ea typeface="Arial"/>
                <a:cs typeface="Arial"/>
                <a:sym typeface="Arial"/>
              </a:rPr>
              <a:t>É escalável</a:t>
            </a:r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49900" lvl="2" marL="12960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480"/>
              <a:buFont typeface="Noto Sans Symbols"/>
              <a:buChar char="●"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800"/>
              <a:t>partir</a:t>
            </a: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 do Modelo pode-se desenvolver AEDs 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49900" lvl="2" marL="1296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480"/>
              <a:buFont typeface="Noto Sans Symbols"/>
              <a:buChar char="●"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para diversos contextos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900" lvl="0" marL="432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40"/>
              <a:buFont typeface="Noto Sans Symbols"/>
              <a:buChar char="●"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Os algoritmos parciais do AED de 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  <a:p>
            <a:pPr indent="-2859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40"/>
              <a:buFont typeface="Noto Sans Symbols"/>
              <a:buChar char="●"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Propósito Geral podem ser úteis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  <a:p>
            <a:pPr indent="-249900" lvl="2" marL="1296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480"/>
              <a:buFont typeface="Noto Sans Symbols"/>
              <a:buChar char="●"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Organização de dados crus, etc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0" name="Google Shape;1120;p72"/>
          <p:cNvCxnSpPr/>
          <p:nvPr/>
        </p:nvCxnSpPr>
        <p:spPr>
          <a:xfrm flipH="1" rot="10800000">
            <a:off x="5245200" y="6697440"/>
            <a:ext cx="274320" cy="11088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73"/>
          <p:cNvSpPr txBox="1"/>
          <p:nvPr/>
        </p:nvSpPr>
        <p:spPr>
          <a:xfrm>
            <a:off x="504000" y="13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Conclusões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73"/>
          <p:cNvSpPr txBox="1"/>
          <p:nvPr/>
        </p:nvSpPr>
        <p:spPr>
          <a:xfrm>
            <a:off x="161280" y="1218240"/>
            <a:ext cx="9531360" cy="634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32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Noto Sans Symbols"/>
              <a:buChar char="●"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A imensidão da Natureza nos encanta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-2732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oto Sans Symbols"/>
              <a:buChar char="−"/>
            </a:pP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Mas pode nos levar a exploração sem rumo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37200" lvl="2" marL="1296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80"/>
              <a:buFont typeface="Noto Sans Symbols"/>
              <a:buChar char="●"/>
            </a:pPr>
            <a:r>
              <a:rPr b="0" i="0" lang="en-US" sz="1600" u="none" cap="none" strike="noStrike">
                <a:latin typeface="Arial"/>
                <a:ea typeface="Arial"/>
                <a:cs typeface="Arial"/>
                <a:sym typeface="Arial"/>
              </a:rPr>
              <a:t>Por campos infrutíferos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37200" lvl="2" marL="1296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80"/>
              <a:buFont typeface="Noto Sans Symbols"/>
              <a:buChar char="●"/>
            </a:pPr>
            <a:r>
              <a:rPr b="0" i="0" lang="en-US" sz="1600" u="none" cap="none" strike="noStrike">
                <a:latin typeface="Arial"/>
                <a:ea typeface="Arial"/>
                <a:cs typeface="Arial"/>
                <a:sym typeface="Arial"/>
              </a:rPr>
              <a:t>Navegando à deriva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47420" lvl="4" marL="21600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73200" lvl="0" marL="432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640"/>
              <a:buFont typeface="Noto Sans Symbols"/>
              <a:buChar char="●"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Mas a própria Natureza pode nos inspirar com dicas de como caminhar de forma segura e promissora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-2732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oto Sans Symbols"/>
              <a:buChar char="−"/>
            </a:pP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e colher os melhores frutos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732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oto Sans Symbols"/>
              <a:buChar char="−"/>
            </a:pP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ajudando a construir avanços significativos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73200" lvl="0" marL="432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640"/>
              <a:buFont typeface="Noto Sans Symbols"/>
              <a:buChar char="●"/>
            </a:pPr>
            <a:r>
              <a:rPr b="1" lang="en-US" sz="2400" strike="noStrike">
                <a:latin typeface="Arial"/>
                <a:ea typeface="Arial"/>
                <a:cs typeface="Arial"/>
                <a:sym typeface="Arial"/>
              </a:rPr>
              <a:t>A exploração sistematizada mostra-se fundamental para isso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-2732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oto Sans Symbols"/>
              <a:buChar char="−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Lembre-se de Lineu, Darwin, Fisher . . .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73200" lvl="0" marL="431999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640"/>
              <a:buFont typeface="Noto Sans Symbols"/>
              <a:buChar char="●"/>
            </a:pP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Espera-se que a sistematização no EDA de Propósito Geral ajude nesse processo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-1716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7" name="Google Shape;1127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03360" y="5976720"/>
            <a:ext cx="1274400" cy="1404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74"/>
          <p:cNvSpPr txBox="1"/>
          <p:nvPr/>
        </p:nvSpPr>
        <p:spPr>
          <a:xfrm>
            <a:off x="504000" y="13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Agradecimentos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74"/>
          <p:cNvSpPr txBox="1"/>
          <p:nvPr/>
        </p:nvSpPr>
        <p:spPr>
          <a:xfrm>
            <a:off x="504000" y="1769040"/>
            <a:ext cx="9576000" cy="481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CAPES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CNPq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FAPESP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FCT - PT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USP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Todos os colegas e estudantes que têm se motivado e contribuído por meio de seus trabalhos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75"/>
          <p:cNvSpPr txBox="1"/>
          <p:nvPr/>
        </p:nvSpPr>
        <p:spPr>
          <a:xfrm>
            <a:off x="504000" y="13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latin typeface="Arial"/>
                <a:ea typeface="Arial"/>
                <a:cs typeface="Arial"/>
                <a:sym typeface="Arial"/>
              </a:rPr>
              <a:t>Referências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75"/>
          <p:cNvSpPr txBox="1"/>
          <p:nvPr/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CV Lattes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4000"/>
              </a:lnSpc>
              <a:spcBef>
                <a:spcPts val="1417"/>
              </a:spcBef>
              <a:spcAft>
                <a:spcPts val="0"/>
              </a:spcAft>
              <a:buNone/>
            </a:pPr>
            <a:r>
              <a:rPr b="0" lang="en-US" sz="2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http://lattes.cnpq.br/1201079310363734 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